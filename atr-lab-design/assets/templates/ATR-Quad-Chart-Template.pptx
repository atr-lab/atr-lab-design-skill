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Illustrative data</c:v>
                </c:pt>
              </c:strCache>
            </c:strRef>
          </c:tx>
          <c:spPr>
            <a:solidFill>
              <a:srgbClr val="003976"/>
            </a:solidFill>
            <a:effectLst/>
          </c:spPr>
          <c:invertIfNegative val="0"/>
          <c:dLbls>
            <c:numFmt formatCode="0&quot;%&quot;"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976"/>
              </a:solidFill>
              <a:effectLst/>
            </c:spPr>
          </c:dPt>
          <c:dPt>
            <c:idx val="1"/>
            <c:invertIfNegative val="0"/>
            <c:bubble3D val="0"/>
            <c:spPr>
              <a:solidFill>
                <a:srgbClr val="003976"/>
              </a:solidFill>
              <a:effectLst/>
            </c:spPr>
          </c:dPt>
          <c:dPt>
            <c:idx val="2"/>
            <c:invertIfNegative val="0"/>
            <c:bubble3D val="0"/>
            <c:spPr>
              <a:solidFill>
                <a:srgbClr val="EFAB00"/>
              </a:solidFill>
              <a:effectLst/>
            </c:spPr>
          </c:dPt>
          <c:cat>
            <c:multiLvlStrRef>
              <c:f>Sheet1!$A$2:$A$4</c:f>
              <c:multiLvlStrCache>
                <c:ptCount val="3"/>
                <c:lvl>
                  <c:pt idx="0">
                    <c:v>0.5 s delay</c:v>
                  </c:pt>
                  <c:pt idx="1">
                    <c:v>1 s delay</c:v>
                  </c:pt>
                  <c:pt idx="2">
                    <c:v>2 s delay</c:v>
                  </c:pt>
                </c:lvl>
              </c:multiLvlStrCache>
            </c:multiLvlStrRef>
          </c:cat>
          <c:val>
            <c:numRef>
              <c:f>Sheet1!$B$2:$B$4</c:f>
              <c:numCache>
                <c:formatCode>General</c:formatCode>
                <c:ptCount val="3"/>
                <c:pt idx="0">
                  <c:v>35</c:v>
                </c:pt>
                <c:pt idx="1">
                  <c:v>48</c:v>
                </c:pt>
                <c:pt idx="2">
                  <c:v>55</c:v>
                </c:pt>
              </c:numCache>
            </c:numRef>
          </c:val>
        </c:ser>
        <c:dLbls>
          <c:numFmt formatCode="0&quot;%&quot;"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NASA Research Quad. Follows NASA GSFC "Guidance for the Creation of Quad Charts" (cce-signin.gsfc.nasa.gov/online_help_docs/quadchart_help.html).
HOW TO START: duplicate this slide (right-click the thumbnail &gt; Duplicate Slide) and replace the bracketed text. Do not build a NASA quad with New Slide from the layout: placeholder prompts, including the acknowledgement sentence, do not print, and the printed quad would show "5 Acknowledgements" with no sentence.
If your NASA program (e.g. CMS, ABoVE, OBB) supplies its own template, use that template instead; pour this content into it.
Report only publications that result from your NASA funding.
Rules built into this layout: headings Background or Science Question / Analysis / Results / Significance / Acknowledgements; Arial at least 14 pt for ALL text (this overrides the brand fonts); main text navy, figure text black; the acknowledgement sentence is NASA's exact wording, replace only [xxxx] and [NASA program name]. The sentence block holds three lines, enough for a real grant number and a full program name; if a fourth line appears, use the program acronym (e.g. "the CMS program").
Title: make it grab attention; it need not be the full paper title. Two lines maximum, top anchored: if a third line appears it runs into the header rule, so shorten it; never go below 20 pt. The short-form citation and the DOI go on the one-line box under it (about 94 characters).
Header right: the lab signature "ATR Lab · Kent State University" is fixed on the layout; under it, PI on line 1, NASA program and date on line 2.
Content: 1 to 3 significant elements; accomplishments and what was learned, not what the investigators did; one result per slide; no jargon; do not overload the slide. Background and Analysis hold five lines each, Significance six.
Analysis: name the NASA resources employed (satellites, ground-based networks, datasets, models).
Results: 1 to 2 figures with axes labeled, units of measurement and color bars. The mist frames on this slide are the picture slots themselves: delete figure 2 if you use one figure, or stretch figure 1 over both slots (4.375 in wide); in PowerPoint and Google Slides nothing is left behind. Picture slots crop an inserted picture to fill the slot. After inserting, use Picture Format &gt; Crop &gt; Fit (or export the figure at the slot aspect, listed in assets/templates/quad-layouts.json) so axes, units and color bars stay visible.
Bullet levels: Tab indents (levels 1 to 5 keep the type size and use triangle and dash bullets); the master body style is the brand style too, so a reset placeholder stays on the type scale.
Use this notes area for details: how the research was conducted, acronym definitions, extra references.
Do not add the NASA insignia, logotype or seal (14 CFR 1221); support is shown by the acknowledgement sentence.
Kent State logo: the quad layouts carry no Kent State University wordmark. Kent State asks for its logo at 1 in or more with UNIVERSITY at least 1 in long, which makes the Stacked file 1.05 in wide (1.0 in tall) plus a clear space of one K height on every side; neither the 0.78 in header nor the 0.26 in footer holds that, and the rule is to leave the logo off rather than shrink it, so Kent State University is named in text instead (the fixed lab signature on NASA quads, the footer on the other layouts). If a sponsor or program requires the university logo, use the official Kent State Horizontal logo from https://www.kent.edu/brand/logos at 1 in wide or more, with its registered mark, on a plain area as a separate signature from the ATR mark (never sharing a rule with it). The file in assets/logos/ksu/ (ksu-wordmark-color.png, 1022 x 976 px) is a working copy of the old template raster with its colors corrected to #003976 and #EFAB00, for drafts and on-screen internal decks only: for anything printed or public, replace it with the official file, and never recolor or shrink it.
Character budgets are in assets/templates/quad-layouts.json (measured from the fonts). If text overflows, cut words; never go below 14 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Project Status Quad (internal or sponsor program review). Header: title (two lines maximum, top anchored; shorten rather than shrink), PI and POC, sponsor and award, period of performance. Footer marking: one line. In PowerPoint the box does not wrap (a long marking runs left past the box); Google Slides and LibreOffice wrap it, so keep it within the budget (25 characters). If a new slide shows no slide number, use Insert &gt; Header &amp; Footer &gt; Slide number &gt; Apply to All.
Sponsor-logo slot: this slide has none and its meta block runs to the right margin. A slide made with New Slide from the layout has a 0.70 in picture slot at the top right (x 8.80..9.50): NSF-funded products must carry the NSF full-color logo there (unaltered, at least 0.625 in, from the NSF portal). For other sponsors delete the slot and stretch the meta block to x 9.50 as on this slide. Never the NASA insignia or DoD/DARPA marks: acknowledge those sponsors in text.
Quadrant 1 Objective and Description with a picture slot on a mist frame (real photo, render or diagram; never AI imagery as evidence). Picture slots crop an inserted picture to fill the slot. After inserting, use Picture Format &gt; Crop &gt; Fit (or export the figure at the slot aspect, listed in assets/templates/quad-layouts.json) so axes, units and color bars stay visible.
Quadrant 2 Technical Approach. Quadrant 3 Milestones and Schedule: on a new slide it is a list placeholder (milestone · month · status per line); this slide shows the preferred form, a native table with status markers: duplicate this slide and add or delete rows in the table, the marker travels with its row. Quadrant 4 Impact and Deliverables, with transition or next steps as the last line (or Accomplishments / Next steps).
Milestone status = shape + label + color, never color alone. The marker is a character typed in the status cell, so it is text and needs 4.5:1 on white (references/color.md §6): Complete = filled triangle U+25B2 in navy (003976); On track = filled circle U+25CF in ink (1B2533); At risk = filled diamond U+25C6 in dark amber (915109); Late = filled square U+25A0 in red (A21921); Not started = hollow triangle U+25B3 in gray-600 (616F7E). Never type a marker in green 269143, amber FD9E3C or gray-500 7C8795: those are the fills of DRAWN markers (PowerPoint shapes, atr_plot.milestone), where a 3:1 outline carries the contrast. The written label beside the symbol carries the meaning either way. Copy a marker from the row that has it and retype the label.
Kent State logo: the quad layouts carry no Kent State University wordmark. Kent State asks for its logo at 1 in or more with UNIVERSITY at least 1 in long, which makes the Stacked file 1.05 in wide (1.0 in tall) plus a clear space of one K height on every side; neither the 0.78 in header nor the 0.26 in footer holds that, and the rule is to leave the logo off rather than shrink it, so Kent State University is named in text instead (the fixed lab signature on NASA quads, the footer on the other layouts). If a sponsor or program requires the university logo, use the official Kent State Horizontal logo from https://www.kent.edu/brand/logos at 1 in wide or more, with its registered mark, on a plain area as a separate signature from the ATR mark (never sharing a rule with it). The file in assets/logos/ksu/ (ksu-wordmark-color.png, 1022 x 976 px) is a working copy of the old template raster with its colors corrected to #003976 and #EFAB00, for drafts and on-screen internal decks only: for anything printed or public, replace it with the official file, and never recolor or shrink it.
Bullet levels: Tab indents (levels 1 to 5 keep the type size and use triangle and dash bullets); the master body style is the brand style too, so a reset placeholder stays on the type scale.
Body 16 pt, table 14 pt (the floor). Character budgets in assets/templates/quad-layouts.json. When you pour this into a sponsor template (NASA, DARPA, AFRL, DoD), keep the sponsor's own headings, markings and font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Weekly Summary (replaces the old "Summary" slide). Accomplishments = outcomes, not activities. Path forward = next steps with dates and the decisions you need. Risks and needs = blockers and asks. Notes = reading, ideas, questions.
Media of the week: line 1 is the title of the video or photo; line 2 is a short link label. Select the label, Insert &gt; Link, and paste the URL as the hyperlink target. Never paste a long URL as visible text: a 43-character YouTube URL does not fit on one 16 pt line in this panel.
Keep every section inside its budget (assets/templates/quad-layouts.json). Add a second weekly slide rather than shrinking type below 16 pt body / 14 pt footer. Title: two lines maximum, top anchored; shorten rather than shrink.
Footer marking: one line. In PowerPoint the box does not wrap (a long marking runs left past the box); Google Slides and LibreOffice wrap it, so keep it within the budget (25 characters). The slide number is a native field. If a new slide shows no slide number, use Insert &gt; Header &amp; Footer &gt; Slide number &gt; Apply to All. Weekly summaries are internal, so there is no sponsor-logo slot; use the Project Status layout for anything a sponsor sees.
Kent State logo: the quad layouts carry no Kent State University wordmark. Kent State asks for its logo at 1 in or more with UNIVERSITY at least 1 in long, which makes the Stacked file 1.05 in wide (1.0 in tall) plus a clear space of one K height on every side; neither the 0.78 in header nor the 0.26 in footer holds that, and the rule is to leave the logo off rather than shrink it, so Kent State University is named in text instead (the fixed lab signature on NASA quads, the footer on the other layouts). If a sponsor or program requires the university logo, use the official Kent State Horizontal logo from https://www.kent.edu/brand/logos at 1 in wide or more, with its registered mark, on a plain area as a separate signature from the ATR mark (never sharing a rule with it). The file in assets/logos/ksu/ (ksu-wordmark-color.png, 1022 x 976 px) is a working copy of the old template raster with its colors corrected to #003976 and #EFAB00, for drafts and on-screen internal decks only: for anything printed or public, replace it with the official file, and never recolor or shrink it.
Bullet levels: Tab indents (levels 1 to 5 keep the type size and use triangle and dash bullets); the master body style is the brand style too, so a reset placeholder stays on the type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illustrative content. Every number, name, citation and DOI on this slide is invented to show the layout. It is not a result of the Advanced Telerobotics Research Lab and must not be cited. Delete this slide from any real submission.
The chart is native (Chart Data in PowerPoint): one navy series with the one bar the story is about in gold, and direct value labels with the unit (%) on every bar because gold is 2.0:1 on white. Category labels carry the unit (s); the caption names the quantity, unit and n.
The sample tag chip sits on the meta block's first line on this slide only; on a real quad use the two-line meta block from slide 1 (PI, then program and date) under the fixed lab signature. The chart sits where the two picture slots are on the layout (they are removed on this slide).
To start a real NASA quad, duplicate slide 1 (placeholder prompts do not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R - NASA Research Qua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28016"/>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74529" y="240030"/>
            <a:ext cx="332270" cy="342900"/>
          </a:xfrm>
          <a:prstGeom prst="rect">
            <a:avLst/>
          </a:prstGeom>
        </p:spPr>
      </p:pic>
      <p:sp>
        <p:nvSpPr>
          <p:cNvPr id="4" name="Shape 1"/>
          <p:cNvSpPr/>
          <p:nvPr/>
        </p:nvSpPr>
        <p:spPr>
          <a:xfrm>
            <a:off x="457200" y="914400"/>
            <a:ext cx="8229600" cy="0"/>
          </a:xfrm>
          <a:prstGeom prst="line">
            <a:avLst/>
          </a:prstGeom>
          <a:noFill/>
          <a:ln w="9525">
            <a:solidFill>
              <a:srgbClr val="D6DEE8"/>
            </a:solidFill>
            <a:prstDash val="solid"/>
          </a:ln>
        </p:spPr>
      </p:sp>
      <p:sp>
        <p:nvSpPr>
          <p:cNvPr id="5" name="ph:title"/>
          <p:cNvSpPr>
            <a:spLocks noGrp="1"/>
          </p:cNvSpPr>
          <p:nvPr>
            <p:ph idx="103" type="title" hasCustomPrompt="1"/>
          </p:nvPr>
        </p:nvSpPr>
        <p:spPr>
          <a:xfrm>
            <a:off x="1207008" y="109728"/>
            <a:ext cx="4507992" cy="585216"/>
          </a:xfrm>
          <a:prstGeom prst="rect">
            <a:avLst/>
          </a:prstGeom>
          <a:noFill/>
          <a:ln/>
        </p:spPr>
        <p:txBody>
          <a:bodyPr wrap="square" rtlCol="0" lIns="0" tIns="0" rIns="0" bIns="0" anchor="t"/>
          <a:lstStyle>
            <a:lvl1pPr marL="0" indent="0" algn="l">
              <a:lnSpc>
                <a:spcPts val="2300"/>
              </a:lnSpc>
              <a:spcBef>
                <a:spcPts val="0"/>
              </a:spcBef>
              <a:spcAft>
                <a:spcPts val="0"/>
              </a:spcAft>
              <a:buNone/>
              <a:defRPr sz="2000" b="1">
                <a:solidFill>
                  <a:srgbClr val="003976"/>
                </a:solidFill>
                <a:latin typeface="Arial"/>
                <a:ea typeface="Arial"/>
                <a:cs typeface="Arial"/>
              </a:defRPr>
            </a:lvl1pPr>
            <a:lvl2pPr marL="0" indent="0" algn="l">
              <a:lnSpc>
                <a:spcPts val="2300"/>
              </a:lnSpc>
              <a:spcBef>
                <a:spcPts val="0"/>
              </a:spcBef>
              <a:spcAft>
                <a:spcPts val="0"/>
              </a:spcAft>
              <a:buNone/>
              <a:defRPr sz="2000" b="1">
                <a:solidFill>
                  <a:srgbClr val="003976"/>
                </a:solidFill>
                <a:latin typeface="Arial"/>
                <a:ea typeface="Arial"/>
                <a:cs typeface="Arial"/>
              </a:defRPr>
            </a:lvl2pPr>
            <a:lvl3pPr marL="0" indent="0" algn="l">
              <a:lnSpc>
                <a:spcPts val="2300"/>
              </a:lnSpc>
              <a:spcBef>
                <a:spcPts val="0"/>
              </a:spcBef>
              <a:spcAft>
                <a:spcPts val="0"/>
              </a:spcAft>
              <a:buNone/>
              <a:defRPr sz="2000" b="1">
                <a:solidFill>
                  <a:srgbClr val="003976"/>
                </a:solidFill>
                <a:latin typeface="Arial"/>
                <a:ea typeface="Arial"/>
                <a:cs typeface="Arial"/>
              </a:defRPr>
            </a:lvl3pPr>
            <a:lvl4pPr marL="0" indent="0" algn="l">
              <a:lnSpc>
                <a:spcPts val="2300"/>
              </a:lnSpc>
              <a:spcBef>
                <a:spcPts val="0"/>
              </a:spcBef>
              <a:spcAft>
                <a:spcPts val="0"/>
              </a:spcAft>
              <a:buNone/>
              <a:defRPr sz="2000" b="1">
                <a:solidFill>
                  <a:srgbClr val="003976"/>
                </a:solidFill>
                <a:latin typeface="Arial"/>
                <a:ea typeface="Arial"/>
                <a:cs typeface="Arial"/>
              </a:defRPr>
            </a:lvl4pPr>
            <a:lvl5pPr marL="0" indent="0" algn="l">
              <a:lnSpc>
                <a:spcPts val="2300"/>
              </a:lnSpc>
              <a:spcBef>
                <a:spcPts val="0"/>
              </a:spcBef>
              <a:spcAft>
                <a:spcPts val="0"/>
              </a:spcAft>
              <a:buNone/>
              <a:defRPr sz="2000" b="1">
                <a:solidFill>
                  <a:srgbClr val="003976"/>
                </a:solidFill>
                <a:latin typeface="Arial"/>
                <a:ea typeface="Arial"/>
                <a:cs typeface="Arial"/>
              </a:defRPr>
            </a:lvl5pPr>
          </a:lstStyle>
          <a:p>
            <a:pPr algn="l" indent="0" marL="0">
              <a:lnSpc>
                <a:spcPts val="2300"/>
              </a:lnSpc>
              <a:buNone/>
            </a:pPr>
            <a:r>
              <a:rPr lang="en-US" sz="2000" b="1" dirty="0">
                <a:solidFill>
                  <a:srgbClr val="003976"/>
                </a:solidFill>
                <a:latin typeface="Arial" pitchFamily="34" charset="0"/>
                <a:ea typeface="Arial" pitchFamily="34" charset="-122"/>
                <a:cs typeface="Arial" pitchFamily="34" charset="-120"/>
              </a:rPr>
              <a:t>[Attention-grabbing title: the finding, not the paper title]</a:t>
            </a:r>
            <a:endParaRPr lang="en-US" sz="2000" dirty="0"/>
          </a:p>
        </p:txBody>
      </p:sp>
      <p:sp>
        <p:nvSpPr>
          <p:cNvPr id="6" name="Text 2"/>
          <p:cNvSpPr txBox="1"/>
          <p:nvPr/>
        </p:nvSpPr>
        <p:spPr>
          <a:xfrm>
            <a:off x="5897880" y="82296"/>
            <a:ext cx="2788920" cy="210312"/>
          </a:xfrm>
          <a:prstGeom prst="rect">
            <a:avLst/>
          </a:prstGeom>
          <a:noFill/>
          <a:ln/>
        </p:spPr>
        <p:txBody>
          <a:bodyPr wrap="square" lIns="0" tIns="0" rIns="0" bIns="0" rtlCol="0" anchor="t"/>
          <a:lstStyle/>
          <a:p>
            <a:pPr algn="r" indent="0" marL="0">
              <a:lnSpc>
                <a:spcPts val="1600"/>
              </a:lnSpc>
              <a:buNone/>
            </a:pPr>
            <a:r>
              <a:rPr lang="en-US" sz="1400" dirty="0">
                <a:solidFill>
                  <a:srgbClr val="003976"/>
                </a:solidFill>
                <a:latin typeface="Arial" pitchFamily="34" charset="0"/>
                <a:ea typeface="Arial" pitchFamily="34" charset="-122"/>
                <a:cs typeface="Arial" pitchFamily="34" charset="-120"/>
              </a:rPr>
              <a:t>ATR Lab  ·  Kent State University</a:t>
            </a:r>
            <a:endParaRPr lang="en-US" sz="1400" dirty="0"/>
          </a:p>
        </p:txBody>
      </p:sp>
      <p:sp>
        <p:nvSpPr>
          <p:cNvPr id="7" name="ph:meta"/>
          <p:cNvSpPr>
            <a:spLocks noGrp="1"/>
          </p:cNvSpPr>
          <p:nvPr>
            <p:ph idx="105" type="body" hasCustomPrompt="1"/>
          </p:nvPr>
        </p:nvSpPr>
        <p:spPr>
          <a:xfrm>
            <a:off x="5897880" y="292608"/>
            <a:ext cx="2788920" cy="411480"/>
          </a:xfrm>
          <a:prstGeom prst="rect">
            <a:avLst/>
          </a:prstGeom>
          <a:noFill/>
          <a:ln/>
        </p:spPr>
        <p:txBody>
          <a:bodyPr wrap="square" rtlCol="0" lIns="0" tIns="0" rIns="0" bIns="0" anchor="t"/>
          <a:lstStyle>
            <a:lvl1pPr marL="0" indent="0" algn="r">
              <a:lnSpc>
                <a:spcPts val="1600"/>
              </a:lnSpc>
              <a:spcBef>
                <a:spcPts val="0"/>
              </a:spcBef>
              <a:spcAft>
                <a:spcPts val="0"/>
              </a:spcAft>
              <a:buNone/>
              <a:defRPr sz="1400" b="0">
                <a:solidFill>
                  <a:srgbClr val="003976"/>
                </a:solidFill>
                <a:latin typeface="Arial"/>
                <a:ea typeface="Arial"/>
                <a:cs typeface="Arial"/>
              </a:defRPr>
            </a:lvl1pPr>
            <a:lvl2pPr marL="0" indent="0" algn="r">
              <a:lnSpc>
                <a:spcPts val="1600"/>
              </a:lnSpc>
              <a:spcBef>
                <a:spcPts val="0"/>
              </a:spcBef>
              <a:spcAft>
                <a:spcPts val="0"/>
              </a:spcAft>
              <a:buNone/>
              <a:defRPr sz="1400" b="0">
                <a:solidFill>
                  <a:srgbClr val="003976"/>
                </a:solidFill>
                <a:latin typeface="Arial"/>
                <a:ea typeface="Arial"/>
                <a:cs typeface="Arial"/>
              </a:defRPr>
            </a:lvl2pPr>
            <a:lvl3pPr marL="0" indent="0" algn="r">
              <a:lnSpc>
                <a:spcPts val="1600"/>
              </a:lnSpc>
              <a:spcBef>
                <a:spcPts val="0"/>
              </a:spcBef>
              <a:spcAft>
                <a:spcPts val="0"/>
              </a:spcAft>
              <a:buNone/>
              <a:defRPr sz="1400" b="0">
                <a:solidFill>
                  <a:srgbClr val="003976"/>
                </a:solidFill>
                <a:latin typeface="Arial"/>
                <a:ea typeface="Arial"/>
                <a:cs typeface="Arial"/>
              </a:defRPr>
            </a:lvl3pPr>
            <a:lvl4pPr marL="0" indent="0" algn="r">
              <a:lnSpc>
                <a:spcPts val="1600"/>
              </a:lnSpc>
              <a:spcBef>
                <a:spcPts val="0"/>
              </a:spcBef>
              <a:spcAft>
                <a:spcPts val="0"/>
              </a:spcAft>
              <a:buNone/>
              <a:defRPr sz="1400" b="0">
                <a:solidFill>
                  <a:srgbClr val="003976"/>
                </a:solidFill>
                <a:latin typeface="Arial"/>
                <a:ea typeface="Arial"/>
                <a:cs typeface="Arial"/>
              </a:defRPr>
            </a:lvl4pPr>
            <a:lvl5pPr marL="0" indent="0" algn="r">
              <a:lnSpc>
                <a:spcPts val="1600"/>
              </a:lnSpc>
              <a:spcBef>
                <a:spcPts val="0"/>
              </a:spcBef>
              <a:spcAft>
                <a:spcPts val="0"/>
              </a:spcAft>
              <a:buNone/>
              <a:defRPr sz="1400" b="0">
                <a:solidFill>
                  <a:srgbClr val="003976"/>
                </a:solidFill>
                <a:latin typeface="Arial"/>
                <a:ea typeface="Arial"/>
                <a:cs typeface="Arial"/>
              </a:defRPr>
            </a:lvl5pPr>
          </a:lstStyle>
          <a:p>
            <a:pPr algn="r" indent="0" marL="0">
              <a:lnSpc>
                <a:spcPts val="1600"/>
              </a:lnSpc>
              <a:buNone/>
            </a:pPr>
            <a:r>
              <a:rPr lang="en-US" sz="1400" dirty="0">
                <a:solidFill>
                  <a:srgbClr val="003976"/>
                </a:solidFill>
                <a:latin typeface="Arial" pitchFamily="34" charset="0"/>
                <a:ea typeface="Arial" pitchFamily="34" charset="-122"/>
                <a:cs typeface="Arial" pitchFamily="34" charset="-120"/>
              </a:rPr>
              <a:t>[PI Name]</a:t>
            </a:r>
            <a:endParaRPr lang="en-US" sz="1400" dirty="0"/>
          </a:p>
          <a:p>
            <a:pPr algn="r" indent="0" marL="0">
              <a:lnSpc>
                <a:spcPts val="1600"/>
              </a:lnSpc>
              <a:buNone/>
            </a:pPr>
            <a:r>
              <a:rPr lang="en-US" sz="1400" dirty="0">
                <a:solidFill>
                  <a:srgbClr val="003976"/>
                </a:solidFill>
                <a:latin typeface="Arial" pitchFamily="34" charset="0"/>
                <a:ea typeface="Arial" pitchFamily="34" charset="-122"/>
                <a:cs typeface="Arial" pitchFamily="34" charset="-120"/>
              </a:rPr>
              <a:t>[NASA program]  ·  [Month YYYY]</a:t>
            </a:r>
            <a:endParaRPr lang="en-US" sz="1400" dirty="0"/>
          </a:p>
        </p:txBody>
      </p:sp>
      <p:sp>
        <p:nvSpPr>
          <p:cNvPr id="8" name="ph:citation"/>
          <p:cNvSpPr>
            <a:spLocks noGrp="1"/>
          </p:cNvSpPr>
          <p:nvPr>
            <p:ph idx="106" type="body" hasCustomPrompt="1"/>
          </p:nvPr>
        </p:nvSpPr>
        <p:spPr>
          <a:xfrm>
            <a:off x="1207008" y="704088"/>
            <a:ext cx="7479792" cy="210312"/>
          </a:xfrm>
          <a:prstGeom prst="rect">
            <a:avLst/>
          </a:prstGeom>
          <a:noFill/>
          <a:ln/>
        </p:spPr>
        <p:txBody>
          <a:bodyPr wrap="square" rtlCol="0" lIns="0" tIns="0" rIns="0" bIns="0" anchor="t"/>
          <a:lstStyle>
            <a:lvl1pPr marL="0" indent="0" algn="l">
              <a:lnSpc>
                <a:spcPts val="1600"/>
              </a:lnSpc>
              <a:spcBef>
                <a:spcPts val="0"/>
              </a:spcBef>
              <a:spcAft>
                <a:spcPts val="0"/>
              </a:spcAft>
              <a:buNone/>
              <a:defRPr sz="1400" b="0">
                <a:solidFill>
                  <a:srgbClr val="003976"/>
                </a:solidFill>
                <a:latin typeface="Arial"/>
                <a:ea typeface="Arial"/>
                <a:cs typeface="Arial"/>
              </a:defRPr>
            </a:lvl1pPr>
            <a:lvl2pPr marL="0" indent="0" algn="l">
              <a:lnSpc>
                <a:spcPts val="1600"/>
              </a:lnSpc>
              <a:spcBef>
                <a:spcPts val="0"/>
              </a:spcBef>
              <a:spcAft>
                <a:spcPts val="0"/>
              </a:spcAft>
              <a:buNone/>
              <a:defRPr sz="1400" b="0">
                <a:solidFill>
                  <a:srgbClr val="003976"/>
                </a:solidFill>
                <a:latin typeface="Arial"/>
                <a:ea typeface="Arial"/>
                <a:cs typeface="Arial"/>
              </a:defRPr>
            </a:lvl2pPr>
            <a:lvl3pPr marL="0" indent="0" algn="l">
              <a:lnSpc>
                <a:spcPts val="1600"/>
              </a:lnSpc>
              <a:spcBef>
                <a:spcPts val="0"/>
              </a:spcBef>
              <a:spcAft>
                <a:spcPts val="0"/>
              </a:spcAft>
              <a:buNone/>
              <a:defRPr sz="1400" b="0">
                <a:solidFill>
                  <a:srgbClr val="003976"/>
                </a:solidFill>
                <a:latin typeface="Arial"/>
                <a:ea typeface="Arial"/>
                <a:cs typeface="Arial"/>
              </a:defRPr>
            </a:lvl3pPr>
            <a:lvl4pPr marL="0" indent="0" algn="l">
              <a:lnSpc>
                <a:spcPts val="1600"/>
              </a:lnSpc>
              <a:spcBef>
                <a:spcPts val="0"/>
              </a:spcBef>
              <a:spcAft>
                <a:spcPts val="0"/>
              </a:spcAft>
              <a:buNone/>
              <a:defRPr sz="1400" b="0">
                <a:solidFill>
                  <a:srgbClr val="003976"/>
                </a:solidFill>
                <a:latin typeface="Arial"/>
                <a:ea typeface="Arial"/>
                <a:cs typeface="Arial"/>
              </a:defRPr>
            </a:lvl4pPr>
            <a:lvl5pPr marL="0" indent="0" algn="l">
              <a:lnSpc>
                <a:spcPts val="1600"/>
              </a:lnSpc>
              <a:spcBef>
                <a:spcPts val="0"/>
              </a:spcBef>
              <a:spcAft>
                <a:spcPts val="0"/>
              </a:spcAft>
              <a:buNone/>
              <a:defRPr sz="1400" b="0">
                <a:solidFill>
                  <a:srgbClr val="003976"/>
                </a:solidFill>
                <a:latin typeface="Arial"/>
                <a:ea typeface="Arial"/>
                <a:cs typeface="Arial"/>
              </a:defRPr>
            </a:lvl5pPr>
          </a:lstStyle>
          <a:p>
            <a:pPr algn="l" indent="0" marL="0">
              <a:lnSpc>
                <a:spcPts val="1600"/>
              </a:lnSpc>
              <a:buNone/>
            </a:pPr>
            <a:r>
              <a:rPr lang="en-US" sz="1400" dirty="0">
                <a:solidFill>
                  <a:srgbClr val="003976"/>
                </a:solidFill>
                <a:latin typeface="Arial" pitchFamily="34" charset="0"/>
                <a:ea typeface="Arial" pitchFamily="34" charset="-122"/>
                <a:cs typeface="Arial" pitchFamily="34" charset="-120"/>
              </a:rPr>
              <a:t>[Author] et al. (Year), [Journal], doi:10.xxxx/xxxxx</a:t>
            </a:r>
            <a:endParaRPr lang="en-US" sz="1400" dirty="0"/>
          </a:p>
        </p:txBody>
      </p:sp>
      <p:sp>
        <p:nvSpPr>
          <p:cNvPr id="9" name="Shape 3"/>
          <p:cNvSpPr/>
          <p:nvPr/>
        </p:nvSpPr>
        <p:spPr>
          <a:xfrm>
            <a:off x="4572000" y="1024128"/>
            <a:ext cx="0" cy="3218688"/>
          </a:xfrm>
          <a:prstGeom prst="line">
            <a:avLst/>
          </a:prstGeom>
          <a:noFill/>
          <a:ln w="9525">
            <a:solidFill>
              <a:srgbClr val="D6DEE8"/>
            </a:solidFill>
            <a:prstDash val="solid"/>
          </a:ln>
        </p:spPr>
      </p:sp>
      <p:sp>
        <p:nvSpPr>
          <p:cNvPr id="10" name="Shape 4"/>
          <p:cNvSpPr/>
          <p:nvPr/>
        </p:nvSpPr>
        <p:spPr>
          <a:xfrm>
            <a:off x="457200" y="2496312"/>
            <a:ext cx="8229600" cy="0"/>
          </a:xfrm>
          <a:prstGeom prst="line">
            <a:avLst/>
          </a:prstGeom>
          <a:noFill/>
          <a:ln w="9525">
            <a:solidFill>
              <a:srgbClr val="D6DEE8"/>
            </a:solidFill>
            <a:prstDash val="solid"/>
          </a:ln>
        </p:spPr>
      </p:sp>
      <p:sp>
        <p:nvSpPr>
          <p:cNvPr id="11" name="Shape 5"/>
          <p:cNvSpPr/>
          <p:nvPr/>
        </p:nvSpPr>
        <p:spPr>
          <a:xfrm>
            <a:off x="457200" y="1024128"/>
            <a:ext cx="329184" cy="329184"/>
          </a:xfrm>
          <a:prstGeom prst="rect">
            <a:avLst/>
          </a:prstGeom>
          <a:solidFill>
            <a:srgbClr val="003976"/>
          </a:solidFill>
          <a:ln w="12700">
            <a:solidFill>
              <a:srgbClr val="003976"/>
            </a:solidFill>
            <a:prstDash val="solid"/>
          </a:ln>
        </p:spPr>
      </p:sp>
      <p:sp>
        <p:nvSpPr>
          <p:cNvPr id="12" name="Text 6"/>
          <p:cNvSpPr txBox="1"/>
          <p:nvPr/>
        </p:nvSpPr>
        <p:spPr>
          <a:xfrm>
            <a:off x="457200" y="1024128"/>
            <a:ext cx="329184" cy="329184"/>
          </a:xfrm>
          <a:prstGeom prst="rect">
            <a:avLst/>
          </a:prstGeom>
          <a:noFill/>
          <a:ln/>
        </p:spPr>
        <p:txBody>
          <a:bodyPr wrap="square" lIns="0" tIns="0" rIns="0" bIns="0" rtlCol="0" anchor="ctr"/>
          <a:lstStyle/>
          <a:p>
            <a:pPr algn="ctr" indent="0" marL="0">
              <a:buNone/>
            </a:pPr>
            <a:r>
              <a:rPr lang="en-US" sz="1400" b="1" dirty="0">
                <a:solidFill>
                  <a:srgbClr val="EFAB00"/>
                </a:solidFill>
                <a:latin typeface="Arial" pitchFamily="34" charset="0"/>
                <a:ea typeface="Arial" pitchFamily="34" charset="-122"/>
                <a:cs typeface="Arial" pitchFamily="34" charset="-120"/>
              </a:rPr>
              <a:t>1</a:t>
            </a:r>
            <a:endParaRPr lang="en-US" sz="1400" dirty="0"/>
          </a:p>
        </p:txBody>
      </p:sp>
      <p:sp>
        <p:nvSpPr>
          <p:cNvPr id="13" name="Text 7"/>
          <p:cNvSpPr txBox="1"/>
          <p:nvPr/>
        </p:nvSpPr>
        <p:spPr>
          <a:xfrm>
            <a:off x="877824" y="1024128"/>
            <a:ext cx="3579876" cy="329184"/>
          </a:xfrm>
          <a:prstGeom prst="rect">
            <a:avLst/>
          </a:prstGeom>
          <a:noFill/>
          <a:ln/>
        </p:spPr>
        <p:txBody>
          <a:bodyPr wrap="square" lIns="0" tIns="0" rIns="0" bIns="0" rtlCol="0" anchor="ctr"/>
          <a:lstStyle/>
          <a:p>
            <a:pPr algn="l" indent="0" marL="0">
              <a:buNone/>
            </a:pPr>
            <a:r>
              <a:rPr lang="en-US" sz="1400" b="1" spc="50" kern="0" dirty="0">
                <a:solidFill>
                  <a:srgbClr val="003976"/>
                </a:solidFill>
                <a:latin typeface="Arial" pitchFamily="34" charset="0"/>
                <a:ea typeface="Arial" pitchFamily="34" charset="-122"/>
                <a:cs typeface="Arial" pitchFamily="34" charset="-120"/>
              </a:rPr>
              <a:t>Background or Science Question</a:t>
            </a:r>
            <a:endParaRPr lang="en-US" sz="1400" dirty="0"/>
          </a:p>
        </p:txBody>
      </p:sp>
      <p:sp>
        <p:nvSpPr>
          <p:cNvPr id="14" name="ph:q1"/>
          <p:cNvSpPr>
            <a:spLocks noGrp="1"/>
          </p:cNvSpPr>
          <p:nvPr>
            <p:ph idx="112" type="body" hasCustomPrompt="1"/>
          </p:nvPr>
        </p:nvSpPr>
        <p:spPr>
          <a:xfrm>
            <a:off x="457200" y="1408176"/>
            <a:ext cx="4000500" cy="1024128"/>
          </a:xfrm>
          <a:prstGeom prst="rect">
            <a:avLst/>
          </a:prstGeom>
          <a:noFill/>
          <a:ln/>
        </p:spPr>
        <p:txBody>
          <a:bodyPr wrap="square" rtlCol="0" lIns="0" tIns="0" rIns="0" bIns="0" anchor="t"/>
          <a:lstStyle>
            <a:lvl1pPr marL="1778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1pPr>
            <a:lvl2pPr marL="3556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2pPr>
            <a:lvl3pPr marL="5334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3pPr>
            <a:lvl4pPr marL="7112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4pPr>
            <a:lvl5pPr marL="8890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5pPr>
          </a:lstStyle>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[The question answered and why it matters]</a:t>
            </a:r>
            <a:endParaRPr lang="en-US" sz="1400" dirty="0"/>
          </a:p>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[Plain language, no jargon, up to 3 bullets]</a:t>
            </a:r>
            <a:endParaRPr lang="en-US" sz="1400" dirty="0"/>
          </a:p>
        </p:txBody>
      </p:sp>
      <p:sp>
        <p:nvSpPr>
          <p:cNvPr id="15" name="Shape 8"/>
          <p:cNvSpPr/>
          <p:nvPr/>
        </p:nvSpPr>
        <p:spPr>
          <a:xfrm>
            <a:off x="4686300" y="1024128"/>
            <a:ext cx="329184" cy="329184"/>
          </a:xfrm>
          <a:prstGeom prst="rect">
            <a:avLst/>
          </a:prstGeom>
          <a:solidFill>
            <a:srgbClr val="003976"/>
          </a:solidFill>
          <a:ln w="12700">
            <a:solidFill>
              <a:srgbClr val="003976"/>
            </a:solidFill>
            <a:prstDash val="solid"/>
          </a:ln>
        </p:spPr>
      </p:sp>
      <p:sp>
        <p:nvSpPr>
          <p:cNvPr id="16" name="Text 9"/>
          <p:cNvSpPr txBox="1"/>
          <p:nvPr/>
        </p:nvSpPr>
        <p:spPr>
          <a:xfrm>
            <a:off x="4686300" y="1024128"/>
            <a:ext cx="329184" cy="329184"/>
          </a:xfrm>
          <a:prstGeom prst="rect">
            <a:avLst/>
          </a:prstGeom>
          <a:noFill/>
          <a:ln/>
        </p:spPr>
        <p:txBody>
          <a:bodyPr wrap="square" lIns="0" tIns="0" rIns="0" bIns="0" rtlCol="0" anchor="ctr"/>
          <a:lstStyle/>
          <a:p>
            <a:pPr algn="ctr" indent="0" marL="0">
              <a:buNone/>
            </a:pPr>
            <a:r>
              <a:rPr lang="en-US" sz="1400" b="1" dirty="0">
                <a:solidFill>
                  <a:srgbClr val="EFAB00"/>
                </a:solidFill>
                <a:latin typeface="Arial" pitchFamily="34" charset="0"/>
                <a:ea typeface="Arial" pitchFamily="34" charset="-122"/>
                <a:cs typeface="Arial" pitchFamily="34" charset="-120"/>
              </a:rPr>
              <a:t>2</a:t>
            </a:r>
            <a:endParaRPr lang="en-US" sz="1400" dirty="0"/>
          </a:p>
        </p:txBody>
      </p:sp>
      <p:sp>
        <p:nvSpPr>
          <p:cNvPr id="17" name="Text 10"/>
          <p:cNvSpPr txBox="1"/>
          <p:nvPr/>
        </p:nvSpPr>
        <p:spPr>
          <a:xfrm>
            <a:off x="5106924" y="1024128"/>
            <a:ext cx="3579876" cy="329184"/>
          </a:xfrm>
          <a:prstGeom prst="rect">
            <a:avLst/>
          </a:prstGeom>
          <a:noFill/>
          <a:ln/>
        </p:spPr>
        <p:txBody>
          <a:bodyPr wrap="square" lIns="0" tIns="0" rIns="0" bIns="0" rtlCol="0" anchor="ctr"/>
          <a:lstStyle/>
          <a:p>
            <a:pPr algn="l" indent="0" marL="0">
              <a:buNone/>
            </a:pPr>
            <a:r>
              <a:rPr lang="en-US" sz="1400" b="1" spc="50" kern="0" dirty="0">
                <a:solidFill>
                  <a:srgbClr val="003976"/>
                </a:solidFill>
                <a:latin typeface="Arial" pitchFamily="34" charset="0"/>
                <a:ea typeface="Arial" pitchFamily="34" charset="-122"/>
                <a:cs typeface="Arial" pitchFamily="34" charset="-120"/>
              </a:rPr>
              <a:t>Analysis</a:t>
            </a:r>
            <a:endParaRPr lang="en-US" sz="1400" dirty="0"/>
          </a:p>
        </p:txBody>
      </p:sp>
      <p:sp>
        <p:nvSpPr>
          <p:cNvPr id="18" name="ph:q2"/>
          <p:cNvSpPr>
            <a:spLocks noGrp="1"/>
          </p:cNvSpPr>
          <p:nvPr>
            <p:ph idx="116" type="body" hasCustomPrompt="1"/>
          </p:nvPr>
        </p:nvSpPr>
        <p:spPr>
          <a:xfrm>
            <a:off x="4686300" y="1408176"/>
            <a:ext cx="4000500" cy="1024128"/>
          </a:xfrm>
          <a:prstGeom prst="rect">
            <a:avLst/>
          </a:prstGeom>
          <a:noFill/>
          <a:ln/>
        </p:spPr>
        <p:txBody>
          <a:bodyPr wrap="square" rtlCol="0" lIns="0" tIns="0" rIns="0" bIns="0" anchor="t"/>
          <a:lstStyle>
            <a:lvl1pPr marL="1778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1pPr>
            <a:lvl2pPr marL="3556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2pPr>
            <a:lvl3pPr marL="5334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3pPr>
            <a:lvl4pPr marL="7112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4pPr>
            <a:lvl5pPr marL="8890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5pPr>
          </a:lstStyle>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[What was done and learned: data, methods]</a:t>
            </a:r>
            <a:endParaRPr lang="en-US" sz="1400" dirty="0"/>
          </a:p>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NASA resources used: [satellites, datasets]</a:t>
            </a:r>
            <a:endParaRPr lang="en-US" sz="1400" dirty="0"/>
          </a:p>
        </p:txBody>
      </p:sp>
      <p:sp>
        <p:nvSpPr>
          <p:cNvPr id="19" name="Shape 11"/>
          <p:cNvSpPr/>
          <p:nvPr/>
        </p:nvSpPr>
        <p:spPr>
          <a:xfrm>
            <a:off x="457200" y="2560320"/>
            <a:ext cx="329184" cy="329184"/>
          </a:xfrm>
          <a:prstGeom prst="rect">
            <a:avLst/>
          </a:prstGeom>
          <a:solidFill>
            <a:srgbClr val="003976"/>
          </a:solidFill>
          <a:ln w="12700">
            <a:solidFill>
              <a:srgbClr val="003976"/>
            </a:solidFill>
            <a:prstDash val="solid"/>
          </a:ln>
        </p:spPr>
      </p:sp>
      <p:sp>
        <p:nvSpPr>
          <p:cNvPr id="20" name="Text 12"/>
          <p:cNvSpPr txBox="1"/>
          <p:nvPr/>
        </p:nvSpPr>
        <p:spPr>
          <a:xfrm>
            <a:off x="457200" y="2560320"/>
            <a:ext cx="329184" cy="329184"/>
          </a:xfrm>
          <a:prstGeom prst="rect">
            <a:avLst/>
          </a:prstGeom>
          <a:noFill/>
          <a:ln/>
        </p:spPr>
        <p:txBody>
          <a:bodyPr wrap="square" lIns="0" tIns="0" rIns="0" bIns="0" rtlCol="0" anchor="ctr"/>
          <a:lstStyle/>
          <a:p>
            <a:pPr algn="ctr" indent="0" marL="0">
              <a:buNone/>
            </a:pPr>
            <a:r>
              <a:rPr lang="en-US" sz="1400" b="1" dirty="0">
                <a:solidFill>
                  <a:srgbClr val="EFAB00"/>
                </a:solidFill>
                <a:latin typeface="Arial" pitchFamily="34" charset="0"/>
                <a:ea typeface="Arial" pitchFamily="34" charset="-122"/>
                <a:cs typeface="Arial" pitchFamily="34" charset="-120"/>
              </a:rPr>
              <a:t>3</a:t>
            </a:r>
            <a:endParaRPr lang="en-US" sz="1400" dirty="0"/>
          </a:p>
        </p:txBody>
      </p:sp>
      <p:sp>
        <p:nvSpPr>
          <p:cNvPr id="21" name="Text 13"/>
          <p:cNvSpPr txBox="1"/>
          <p:nvPr/>
        </p:nvSpPr>
        <p:spPr>
          <a:xfrm>
            <a:off x="877824" y="2560320"/>
            <a:ext cx="3579876" cy="329184"/>
          </a:xfrm>
          <a:prstGeom prst="rect">
            <a:avLst/>
          </a:prstGeom>
          <a:noFill/>
          <a:ln/>
        </p:spPr>
        <p:txBody>
          <a:bodyPr wrap="square" lIns="0" tIns="0" rIns="0" bIns="0" rtlCol="0" anchor="ctr"/>
          <a:lstStyle/>
          <a:p>
            <a:pPr algn="l" indent="0" marL="0">
              <a:buNone/>
            </a:pPr>
            <a:r>
              <a:rPr lang="en-US" sz="1400" b="1" spc="50" kern="0" dirty="0">
                <a:solidFill>
                  <a:srgbClr val="003976"/>
                </a:solidFill>
                <a:latin typeface="Arial" pitchFamily="34" charset="0"/>
                <a:ea typeface="Arial" pitchFamily="34" charset="-122"/>
                <a:cs typeface="Arial" pitchFamily="34" charset="-120"/>
              </a:rPr>
              <a:t>Results</a:t>
            </a:r>
            <a:endParaRPr lang="en-US" sz="1400" dirty="0"/>
          </a:p>
        </p:txBody>
      </p:sp>
      <p:sp>
        <p:nvSpPr>
          <p:cNvPr id="22" name="ph:q3fig1"/>
          <p:cNvSpPr>
            <a:spLocks noGrp="1"/>
          </p:cNvSpPr>
          <p:nvPr>
            <p:ph idx="120" type="pic"/>
          </p:nvPr>
        </p:nvSpPr>
        <p:spPr>
          <a:xfrm>
            <a:off x="457200" y="2944368"/>
            <a:ext cx="1920240" cy="1060704"/>
          </a:xfrm>
          <a:prstGeom prst="rect">
            <a:avLst/>
          </a:prstGeom>
          <a:noFill/>
          <a:ln/>
        </p:spPr>
        <p:txBody>
          <a:bodyPr wrap="square" rtlCol="0" lIns="0" tIns="0" rIns="0" bIns="0" anchor="t"/>
          <a:lstStyle/>
          <a:p>
            <a:endParaRPr lang="en-US"/>
          </a:p>
        </p:txBody>
      </p:sp>
      <p:sp>
        <p:nvSpPr>
          <p:cNvPr id="23" name="ph:q3fig2"/>
          <p:cNvSpPr>
            <a:spLocks noGrp="1"/>
          </p:cNvSpPr>
          <p:nvPr>
            <p:ph idx="121" type="pic"/>
          </p:nvPr>
        </p:nvSpPr>
        <p:spPr>
          <a:xfrm>
            <a:off x="2537460" y="2944368"/>
            <a:ext cx="1920240" cy="1060704"/>
          </a:xfrm>
          <a:prstGeom prst="rect">
            <a:avLst/>
          </a:prstGeom>
          <a:noFill/>
          <a:ln/>
        </p:spPr>
        <p:txBody>
          <a:bodyPr wrap="square" rtlCol="0" lIns="0" tIns="0" rIns="0" bIns="0" anchor="t"/>
          <a:lstStyle/>
          <a:p>
            <a:endParaRPr lang="en-US"/>
          </a:p>
        </p:txBody>
      </p:sp>
      <p:sp>
        <p:nvSpPr>
          <p:cNvPr id="24" name="ph:q3cap"/>
          <p:cNvSpPr>
            <a:spLocks noGrp="1"/>
          </p:cNvSpPr>
          <p:nvPr>
            <p:ph idx="122" type="body" hasCustomPrompt="1"/>
          </p:nvPr>
        </p:nvSpPr>
        <p:spPr>
          <a:xfrm>
            <a:off x="457200" y="4032504"/>
            <a:ext cx="4000500" cy="210312"/>
          </a:xfrm>
          <a:prstGeom prst="rect">
            <a:avLst/>
          </a:prstGeom>
          <a:noFill/>
          <a:ln/>
        </p:spPr>
        <p:txBody>
          <a:bodyPr wrap="square" rtlCol="0" lIns="0" tIns="0" rIns="0" bIns="0" anchor="t"/>
          <a:lstStyle>
            <a:lvl1pPr marL="0" indent="0" algn="l">
              <a:lnSpc>
                <a:spcPts val="1600"/>
              </a:lnSpc>
              <a:spcBef>
                <a:spcPts val="0"/>
              </a:spcBef>
              <a:spcAft>
                <a:spcPts val="0"/>
              </a:spcAft>
              <a:buNone/>
              <a:defRPr sz="1400" b="0">
                <a:solidFill>
                  <a:srgbClr val="000000"/>
                </a:solidFill>
                <a:latin typeface="Arial"/>
                <a:ea typeface="Arial"/>
                <a:cs typeface="Arial"/>
              </a:defRPr>
            </a:lvl1pPr>
            <a:lvl2pPr marL="0" indent="0" algn="l">
              <a:lnSpc>
                <a:spcPts val="1600"/>
              </a:lnSpc>
              <a:spcBef>
                <a:spcPts val="0"/>
              </a:spcBef>
              <a:spcAft>
                <a:spcPts val="0"/>
              </a:spcAft>
              <a:buNone/>
              <a:defRPr sz="1400" b="0">
                <a:solidFill>
                  <a:srgbClr val="000000"/>
                </a:solidFill>
                <a:latin typeface="Arial"/>
                <a:ea typeface="Arial"/>
                <a:cs typeface="Arial"/>
              </a:defRPr>
            </a:lvl2pPr>
            <a:lvl3pPr marL="0" indent="0" algn="l">
              <a:lnSpc>
                <a:spcPts val="1600"/>
              </a:lnSpc>
              <a:spcBef>
                <a:spcPts val="0"/>
              </a:spcBef>
              <a:spcAft>
                <a:spcPts val="0"/>
              </a:spcAft>
              <a:buNone/>
              <a:defRPr sz="1400" b="0">
                <a:solidFill>
                  <a:srgbClr val="000000"/>
                </a:solidFill>
                <a:latin typeface="Arial"/>
                <a:ea typeface="Arial"/>
                <a:cs typeface="Arial"/>
              </a:defRPr>
            </a:lvl3pPr>
            <a:lvl4pPr marL="0" indent="0" algn="l">
              <a:lnSpc>
                <a:spcPts val="1600"/>
              </a:lnSpc>
              <a:spcBef>
                <a:spcPts val="0"/>
              </a:spcBef>
              <a:spcAft>
                <a:spcPts val="0"/>
              </a:spcAft>
              <a:buNone/>
              <a:defRPr sz="1400" b="0">
                <a:solidFill>
                  <a:srgbClr val="000000"/>
                </a:solidFill>
                <a:latin typeface="Arial"/>
                <a:ea typeface="Arial"/>
                <a:cs typeface="Arial"/>
              </a:defRPr>
            </a:lvl4pPr>
            <a:lvl5pPr marL="0" indent="0" algn="l">
              <a:lnSpc>
                <a:spcPts val="1600"/>
              </a:lnSpc>
              <a:spcBef>
                <a:spcPts val="0"/>
              </a:spcBef>
              <a:spcAft>
                <a:spcPts val="0"/>
              </a:spcAft>
              <a:buNone/>
              <a:defRPr sz="1400" b="0">
                <a:solidFill>
                  <a:srgbClr val="000000"/>
                </a:solidFill>
                <a:latin typeface="Arial"/>
                <a:ea typeface="Arial"/>
                <a:cs typeface="Arial"/>
              </a:defRPr>
            </a:lvl5pPr>
          </a:lstStyle>
          <a:p>
            <a:pPr algn="l" indent="0" marL="0">
              <a:lnSpc>
                <a:spcPts val="1600"/>
              </a:lnSpc>
              <a:buNone/>
            </a:pPr>
            <a:r>
              <a:rPr lang="en-US" sz="1400" dirty="0">
                <a:solidFill>
                  <a:srgbClr val="000000"/>
                </a:solidFill>
                <a:latin typeface="Arial" pitchFamily="34" charset="0"/>
                <a:ea typeface="Arial" pitchFamily="34" charset="-122"/>
                <a:cs typeface="Arial" pitchFamily="34" charset="-120"/>
              </a:rPr>
              <a:t>Fig. 1: [caption; axes labeled, units, color bar]</a:t>
            </a:r>
            <a:endParaRPr lang="en-US" sz="1400" dirty="0"/>
          </a:p>
        </p:txBody>
      </p:sp>
      <p:sp>
        <p:nvSpPr>
          <p:cNvPr id="25" name="Shape 14"/>
          <p:cNvSpPr/>
          <p:nvPr/>
        </p:nvSpPr>
        <p:spPr>
          <a:xfrm>
            <a:off x="4686300" y="2560320"/>
            <a:ext cx="329184" cy="329184"/>
          </a:xfrm>
          <a:prstGeom prst="rect">
            <a:avLst/>
          </a:prstGeom>
          <a:solidFill>
            <a:srgbClr val="003976"/>
          </a:solidFill>
          <a:ln w="12700">
            <a:solidFill>
              <a:srgbClr val="003976"/>
            </a:solidFill>
            <a:prstDash val="solid"/>
          </a:ln>
        </p:spPr>
      </p:sp>
      <p:sp>
        <p:nvSpPr>
          <p:cNvPr id="26" name="Text 15"/>
          <p:cNvSpPr txBox="1"/>
          <p:nvPr/>
        </p:nvSpPr>
        <p:spPr>
          <a:xfrm>
            <a:off x="4686300" y="2560320"/>
            <a:ext cx="329184" cy="329184"/>
          </a:xfrm>
          <a:prstGeom prst="rect">
            <a:avLst/>
          </a:prstGeom>
          <a:noFill/>
          <a:ln/>
        </p:spPr>
        <p:txBody>
          <a:bodyPr wrap="square" lIns="0" tIns="0" rIns="0" bIns="0" rtlCol="0" anchor="ctr"/>
          <a:lstStyle/>
          <a:p>
            <a:pPr algn="ctr" indent="0" marL="0">
              <a:buNone/>
            </a:pPr>
            <a:r>
              <a:rPr lang="en-US" sz="1400" b="1" dirty="0">
                <a:solidFill>
                  <a:srgbClr val="EFAB00"/>
                </a:solidFill>
                <a:latin typeface="Arial" pitchFamily="34" charset="0"/>
                <a:ea typeface="Arial" pitchFamily="34" charset="-122"/>
                <a:cs typeface="Arial" pitchFamily="34" charset="-120"/>
              </a:rPr>
              <a:t>4</a:t>
            </a:r>
            <a:endParaRPr lang="en-US" sz="1400" dirty="0"/>
          </a:p>
        </p:txBody>
      </p:sp>
      <p:sp>
        <p:nvSpPr>
          <p:cNvPr id="27" name="Text 16"/>
          <p:cNvSpPr txBox="1"/>
          <p:nvPr/>
        </p:nvSpPr>
        <p:spPr>
          <a:xfrm>
            <a:off x="5106924" y="2560320"/>
            <a:ext cx="3579876" cy="329184"/>
          </a:xfrm>
          <a:prstGeom prst="rect">
            <a:avLst/>
          </a:prstGeom>
          <a:noFill/>
          <a:ln/>
        </p:spPr>
        <p:txBody>
          <a:bodyPr wrap="square" lIns="0" tIns="0" rIns="0" bIns="0" rtlCol="0" anchor="ctr"/>
          <a:lstStyle/>
          <a:p>
            <a:pPr algn="l" indent="0" marL="0">
              <a:buNone/>
            </a:pPr>
            <a:r>
              <a:rPr lang="en-US" sz="1400" b="1" spc="50" kern="0" dirty="0">
                <a:solidFill>
                  <a:srgbClr val="003976"/>
                </a:solidFill>
                <a:latin typeface="Arial" pitchFamily="34" charset="0"/>
                <a:ea typeface="Arial" pitchFamily="34" charset="-122"/>
                <a:cs typeface="Arial" pitchFamily="34" charset="-120"/>
              </a:rPr>
              <a:t>Significance</a:t>
            </a:r>
            <a:endParaRPr lang="en-US" sz="1400" dirty="0"/>
          </a:p>
        </p:txBody>
      </p:sp>
      <p:sp>
        <p:nvSpPr>
          <p:cNvPr id="28" name="ph:q4"/>
          <p:cNvSpPr>
            <a:spLocks noGrp="1"/>
          </p:cNvSpPr>
          <p:nvPr>
            <p:ph idx="126" type="body" hasCustomPrompt="1"/>
          </p:nvPr>
        </p:nvSpPr>
        <p:spPr>
          <a:xfrm>
            <a:off x="4686300" y="2944368"/>
            <a:ext cx="4000500" cy="1298448"/>
          </a:xfrm>
          <a:prstGeom prst="rect">
            <a:avLst/>
          </a:prstGeom>
          <a:noFill/>
          <a:ln/>
        </p:spPr>
        <p:txBody>
          <a:bodyPr wrap="square" rtlCol="0" lIns="0" tIns="0" rIns="0" bIns="0" anchor="t"/>
          <a:lstStyle>
            <a:lvl1pPr marL="1778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1pPr>
            <a:lvl2pPr marL="3556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2pPr>
            <a:lvl3pPr marL="5334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3pPr>
            <a:lvl4pPr marL="7112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4pPr>
            <a:lvl5pPr marL="889000" indent="-177800" algn="l">
              <a:lnSpc>
                <a:spcPts val="1600"/>
              </a:lnSpc>
              <a:spcBef>
                <a:spcPts val="0"/>
              </a:spcBef>
              <a:spcAft>
                <a:spcPts val="0"/>
              </a:spcAft>
              <a:buClr>
                <a:srgbClr val="003976"/>
              </a:buClr>
              <a:buSzPct val="100000"/>
              <a:buFont typeface="Arial"/>
              <a:buChar char="▸"/>
              <a:defRPr sz="1400" b="0">
                <a:solidFill>
                  <a:srgbClr val="003976"/>
                </a:solidFill>
                <a:latin typeface="Arial"/>
                <a:ea typeface="Arial"/>
                <a:cs typeface="Arial"/>
              </a:defRPr>
            </a:lvl5pPr>
          </a:lstStyle>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[1 to 3 most significant results and how they contribute to society or Earth system science]</a:t>
            </a:r>
            <a:endParaRPr lang="en-US" sz="1400" dirty="0"/>
          </a:p>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[Accomplishments, not activities]</a:t>
            </a:r>
            <a:endParaRPr lang="en-US" sz="1400" dirty="0"/>
          </a:p>
        </p:txBody>
      </p:sp>
      <p:sp>
        <p:nvSpPr>
          <p:cNvPr id="29" name="Shape 17"/>
          <p:cNvSpPr/>
          <p:nvPr/>
        </p:nvSpPr>
        <p:spPr>
          <a:xfrm>
            <a:off x="457200" y="4325112"/>
            <a:ext cx="329184" cy="329184"/>
          </a:xfrm>
          <a:prstGeom prst="rect">
            <a:avLst/>
          </a:prstGeom>
          <a:solidFill>
            <a:srgbClr val="003976"/>
          </a:solidFill>
          <a:ln w="12700">
            <a:solidFill>
              <a:srgbClr val="003976"/>
            </a:solidFill>
            <a:prstDash val="solid"/>
          </a:ln>
        </p:spPr>
      </p:sp>
      <p:sp>
        <p:nvSpPr>
          <p:cNvPr id="30" name="Text 18"/>
          <p:cNvSpPr txBox="1"/>
          <p:nvPr/>
        </p:nvSpPr>
        <p:spPr>
          <a:xfrm>
            <a:off x="457200" y="4325112"/>
            <a:ext cx="329184" cy="329184"/>
          </a:xfrm>
          <a:prstGeom prst="rect">
            <a:avLst/>
          </a:prstGeom>
          <a:noFill/>
          <a:ln/>
        </p:spPr>
        <p:txBody>
          <a:bodyPr wrap="square" lIns="0" tIns="0" rIns="0" bIns="0" rtlCol="0" anchor="ctr"/>
          <a:lstStyle/>
          <a:p>
            <a:pPr algn="ctr" indent="0" marL="0">
              <a:buNone/>
            </a:pPr>
            <a:r>
              <a:rPr lang="en-US" sz="1400" b="1" dirty="0">
                <a:solidFill>
                  <a:srgbClr val="EFAB00"/>
                </a:solidFill>
                <a:latin typeface="Arial" pitchFamily="34" charset="0"/>
                <a:ea typeface="Arial" pitchFamily="34" charset="-122"/>
                <a:cs typeface="Arial" pitchFamily="34" charset="-120"/>
              </a:rPr>
              <a:t>5</a:t>
            </a:r>
            <a:endParaRPr lang="en-US" sz="1400" dirty="0"/>
          </a:p>
        </p:txBody>
      </p:sp>
      <p:sp>
        <p:nvSpPr>
          <p:cNvPr id="31" name="Text 19"/>
          <p:cNvSpPr txBox="1"/>
          <p:nvPr/>
        </p:nvSpPr>
        <p:spPr>
          <a:xfrm>
            <a:off x="877824" y="4325112"/>
            <a:ext cx="1911096" cy="329184"/>
          </a:xfrm>
          <a:prstGeom prst="rect">
            <a:avLst/>
          </a:prstGeom>
          <a:noFill/>
          <a:ln/>
        </p:spPr>
        <p:txBody>
          <a:bodyPr wrap="square" lIns="0" tIns="0" rIns="0" bIns="0" rtlCol="0" anchor="ctr"/>
          <a:lstStyle/>
          <a:p>
            <a:pPr algn="l" indent="0" marL="0">
              <a:buNone/>
            </a:pPr>
            <a:r>
              <a:rPr lang="en-US" sz="1400" b="1" spc="50" kern="0" dirty="0">
                <a:solidFill>
                  <a:srgbClr val="003976"/>
                </a:solidFill>
                <a:latin typeface="Arial" pitchFamily="34" charset="0"/>
                <a:ea typeface="Arial" pitchFamily="34" charset="-122"/>
                <a:cs typeface="Arial" pitchFamily="34" charset="-120"/>
              </a:rPr>
              <a:t>Acknowledgements</a:t>
            </a:r>
            <a:endParaRPr lang="en-US" sz="1400" dirty="0"/>
          </a:p>
        </p:txBody>
      </p:sp>
      <p:sp>
        <p:nvSpPr>
          <p:cNvPr id="32" name="ph:ack"/>
          <p:cNvSpPr>
            <a:spLocks noGrp="1"/>
          </p:cNvSpPr>
          <p:nvPr>
            <p:ph idx="130" type="body" hasCustomPrompt="1"/>
          </p:nvPr>
        </p:nvSpPr>
        <p:spPr>
          <a:xfrm>
            <a:off x="2834640" y="4325112"/>
            <a:ext cx="5852160" cy="612648"/>
          </a:xfrm>
          <a:prstGeom prst="rect">
            <a:avLst/>
          </a:prstGeom>
          <a:noFill/>
          <a:ln/>
        </p:spPr>
        <p:txBody>
          <a:bodyPr wrap="square" rtlCol="0" lIns="0" tIns="0" rIns="0" bIns="0" anchor="t"/>
          <a:lstStyle>
            <a:lvl1pPr marL="0" indent="0" algn="l">
              <a:lnSpc>
                <a:spcPts val="1600"/>
              </a:lnSpc>
              <a:spcBef>
                <a:spcPts val="0"/>
              </a:spcBef>
              <a:spcAft>
                <a:spcPts val="0"/>
              </a:spcAft>
              <a:buNone/>
              <a:defRPr sz="1400" b="0">
                <a:solidFill>
                  <a:srgbClr val="003976"/>
                </a:solidFill>
                <a:latin typeface="Arial"/>
                <a:ea typeface="Arial"/>
                <a:cs typeface="Arial"/>
              </a:defRPr>
            </a:lvl1pPr>
            <a:lvl2pPr marL="0" indent="0" algn="l">
              <a:lnSpc>
                <a:spcPts val="1600"/>
              </a:lnSpc>
              <a:spcBef>
                <a:spcPts val="0"/>
              </a:spcBef>
              <a:spcAft>
                <a:spcPts val="0"/>
              </a:spcAft>
              <a:buNone/>
              <a:defRPr sz="1400" b="0">
                <a:solidFill>
                  <a:srgbClr val="003976"/>
                </a:solidFill>
                <a:latin typeface="Arial"/>
                <a:ea typeface="Arial"/>
                <a:cs typeface="Arial"/>
              </a:defRPr>
            </a:lvl2pPr>
            <a:lvl3pPr marL="0" indent="0" algn="l">
              <a:lnSpc>
                <a:spcPts val="1600"/>
              </a:lnSpc>
              <a:spcBef>
                <a:spcPts val="0"/>
              </a:spcBef>
              <a:spcAft>
                <a:spcPts val="0"/>
              </a:spcAft>
              <a:buNone/>
              <a:defRPr sz="1400" b="0">
                <a:solidFill>
                  <a:srgbClr val="003976"/>
                </a:solidFill>
                <a:latin typeface="Arial"/>
                <a:ea typeface="Arial"/>
                <a:cs typeface="Arial"/>
              </a:defRPr>
            </a:lvl3pPr>
            <a:lvl4pPr marL="0" indent="0" algn="l">
              <a:lnSpc>
                <a:spcPts val="1600"/>
              </a:lnSpc>
              <a:spcBef>
                <a:spcPts val="0"/>
              </a:spcBef>
              <a:spcAft>
                <a:spcPts val="0"/>
              </a:spcAft>
              <a:buNone/>
              <a:defRPr sz="1400" b="0">
                <a:solidFill>
                  <a:srgbClr val="003976"/>
                </a:solidFill>
                <a:latin typeface="Arial"/>
                <a:ea typeface="Arial"/>
                <a:cs typeface="Arial"/>
              </a:defRPr>
            </a:lvl4pPr>
            <a:lvl5pPr marL="0" indent="0" algn="l">
              <a:lnSpc>
                <a:spcPts val="1600"/>
              </a:lnSpc>
              <a:spcBef>
                <a:spcPts val="0"/>
              </a:spcBef>
              <a:spcAft>
                <a:spcPts val="0"/>
              </a:spcAft>
              <a:buNone/>
              <a:defRPr sz="1400" b="0">
                <a:solidFill>
                  <a:srgbClr val="003976"/>
                </a:solidFill>
                <a:latin typeface="Arial"/>
                <a:ea typeface="Arial"/>
                <a:cs typeface="Arial"/>
              </a:defRPr>
            </a:lvl5pPr>
          </a:lstStyle>
          <a:p>
            <a:pPr algn="l" indent="0" marL="0">
              <a:lnSpc>
                <a:spcPts val="1600"/>
              </a:lnSpc>
              <a:buNone/>
            </a:pPr>
            <a:r>
              <a:rPr lang="en-US" sz="1400" dirty="0">
                <a:solidFill>
                  <a:srgbClr val="003976"/>
                </a:solidFill>
                <a:latin typeface="Arial" pitchFamily="34" charset="0"/>
                <a:ea typeface="Arial" pitchFamily="34" charset="-122"/>
                <a:cs typeface="Arial" pitchFamily="34" charset="-120"/>
              </a:rPr>
              <a:t>This work was supported by the National Aeronautics and Space Administration under Grant/Contract/Agreement No. [xxxx] and was part of the [NASA program name] program.</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R - Project Status Qua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28016"/>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74529" y="240030"/>
            <a:ext cx="332270" cy="342900"/>
          </a:xfrm>
          <a:prstGeom prst="rect">
            <a:avLst/>
          </a:prstGeom>
        </p:spPr>
      </p:pic>
      <p:sp>
        <p:nvSpPr>
          <p:cNvPr id="4" name="Shape 1"/>
          <p:cNvSpPr/>
          <p:nvPr/>
        </p:nvSpPr>
        <p:spPr>
          <a:xfrm>
            <a:off x="457200" y="914400"/>
            <a:ext cx="8229600" cy="0"/>
          </a:xfrm>
          <a:prstGeom prst="line">
            <a:avLst/>
          </a:prstGeom>
          <a:noFill/>
          <a:ln w="9525">
            <a:solidFill>
              <a:srgbClr val="D6DEE8"/>
            </a:solidFill>
            <a:prstDash val="solid"/>
          </a:ln>
        </p:spPr>
      </p:sp>
      <p:sp>
        <p:nvSpPr>
          <p:cNvPr id="5" name="ph:title"/>
          <p:cNvSpPr>
            <a:spLocks noGrp="1"/>
          </p:cNvSpPr>
          <p:nvPr>
            <p:ph idx="103" type="title" hasCustomPrompt="1"/>
          </p:nvPr>
        </p:nvSpPr>
        <p:spPr>
          <a:xfrm>
            <a:off x="1207008" y="128016"/>
            <a:ext cx="4023360" cy="713232"/>
          </a:xfrm>
          <a:prstGeom prst="rect">
            <a:avLst/>
          </a:prstGeom>
          <a:noFill/>
          <a:ln/>
        </p:spPr>
        <p:txBody>
          <a:bodyPr wrap="square" rtlCol="0" lIns="0" tIns="0" rIns="0" bIns="0" anchor="t"/>
          <a:lstStyle>
            <a:lvl1pPr marL="0" indent="0" algn="l">
              <a:lnSpc>
                <a:spcPts val="2800"/>
              </a:lnSpc>
              <a:spcBef>
                <a:spcPts val="0"/>
              </a:spcBef>
              <a:spcAft>
                <a:spcPts val="0"/>
              </a:spcAft>
              <a:buNone/>
              <a:defRPr sz="2400" b="1">
                <a:solidFill>
                  <a:srgbClr val="003976"/>
                </a:solidFill>
                <a:latin typeface="Source Sans 3"/>
                <a:ea typeface="Source Sans 3"/>
                <a:cs typeface="Source Sans 3"/>
              </a:defRPr>
            </a:lvl1pPr>
            <a:lvl2pPr marL="0" indent="0" algn="l">
              <a:lnSpc>
                <a:spcPts val="2800"/>
              </a:lnSpc>
              <a:spcBef>
                <a:spcPts val="0"/>
              </a:spcBef>
              <a:spcAft>
                <a:spcPts val="0"/>
              </a:spcAft>
              <a:buNone/>
              <a:defRPr sz="2400" b="1">
                <a:solidFill>
                  <a:srgbClr val="003976"/>
                </a:solidFill>
                <a:latin typeface="Source Sans 3"/>
                <a:ea typeface="Source Sans 3"/>
                <a:cs typeface="Source Sans 3"/>
              </a:defRPr>
            </a:lvl2pPr>
            <a:lvl3pPr marL="0" indent="0" algn="l">
              <a:lnSpc>
                <a:spcPts val="2800"/>
              </a:lnSpc>
              <a:spcBef>
                <a:spcPts val="0"/>
              </a:spcBef>
              <a:spcAft>
                <a:spcPts val="0"/>
              </a:spcAft>
              <a:buNone/>
              <a:defRPr sz="2400" b="1">
                <a:solidFill>
                  <a:srgbClr val="003976"/>
                </a:solidFill>
                <a:latin typeface="Source Sans 3"/>
                <a:ea typeface="Source Sans 3"/>
                <a:cs typeface="Source Sans 3"/>
              </a:defRPr>
            </a:lvl3pPr>
            <a:lvl4pPr marL="0" indent="0" algn="l">
              <a:lnSpc>
                <a:spcPts val="2800"/>
              </a:lnSpc>
              <a:spcBef>
                <a:spcPts val="0"/>
              </a:spcBef>
              <a:spcAft>
                <a:spcPts val="0"/>
              </a:spcAft>
              <a:buNone/>
              <a:defRPr sz="2400" b="1">
                <a:solidFill>
                  <a:srgbClr val="003976"/>
                </a:solidFill>
                <a:latin typeface="Source Sans 3"/>
                <a:ea typeface="Source Sans 3"/>
                <a:cs typeface="Source Sans 3"/>
              </a:defRPr>
            </a:lvl4pPr>
            <a:lvl5pPr marL="0" indent="0" algn="l">
              <a:lnSpc>
                <a:spcPts val="2800"/>
              </a:lnSpc>
              <a:spcBef>
                <a:spcPts val="0"/>
              </a:spcBef>
              <a:spcAft>
                <a:spcPts val="0"/>
              </a:spcAft>
              <a:buNone/>
              <a:defRPr sz="2400" b="1">
                <a:solidFill>
                  <a:srgbClr val="003976"/>
                </a:solidFill>
                <a:latin typeface="Source Sans 3"/>
                <a:ea typeface="Source Sans 3"/>
                <a:cs typeface="Source Sans 3"/>
              </a:defRPr>
            </a:lvl5pPr>
          </a:lstStyle>
          <a:p>
            <a:pPr algn="l" indent="0" marL="0">
              <a:lnSpc>
                <a:spcPts val="2800"/>
              </a:lnSpc>
              <a:buNone/>
            </a:pPr>
            <a:r>
              <a:rPr lang="en-US" sz="2400" b="1" dirty="0">
                <a:solidFill>
                  <a:srgbClr val="003976"/>
                </a:solidFill>
                <a:latin typeface="Source Sans 3" pitchFamily="34" charset="0"/>
                <a:ea typeface="Source Sans 3" pitchFamily="34" charset="-122"/>
                <a:cs typeface="Source Sans 3" pitchFamily="34" charset="-120"/>
              </a:rPr>
              <a:t>[Project title: a goal, not a paper title]</a:t>
            </a:r>
            <a:endParaRPr lang="en-US" sz="2400" dirty="0"/>
          </a:p>
        </p:txBody>
      </p:sp>
      <p:sp>
        <p:nvSpPr>
          <p:cNvPr id="6" name="ph:meta"/>
          <p:cNvSpPr>
            <a:spLocks noGrp="1"/>
          </p:cNvSpPr>
          <p:nvPr>
            <p:ph idx="104" type="body" hasCustomPrompt="1"/>
          </p:nvPr>
        </p:nvSpPr>
        <p:spPr>
          <a:xfrm>
            <a:off x="5440680" y="128016"/>
            <a:ext cx="2468880" cy="685800"/>
          </a:xfrm>
          <a:prstGeom prst="rect">
            <a:avLst/>
          </a:prstGeom>
          <a:noFill/>
          <a:ln/>
        </p:spPr>
        <p:txBody>
          <a:bodyPr wrap="square" rtlCol="0" lIns="0" tIns="0" rIns="0" bIns="0" anchor="t"/>
          <a:lstStyle>
            <a:lvl1pPr marL="0" indent="0" algn="r">
              <a:lnSpc>
                <a:spcPts val="1800"/>
              </a:lnSpc>
              <a:spcBef>
                <a:spcPts val="0"/>
              </a:spcBef>
              <a:spcAft>
                <a:spcPts val="0"/>
              </a:spcAft>
              <a:buNone/>
              <a:defRPr sz="1400" b="0">
                <a:solidFill>
                  <a:srgbClr val="4A5868"/>
                </a:solidFill>
                <a:latin typeface="Source Sans 3"/>
                <a:ea typeface="Source Sans 3"/>
                <a:cs typeface="Source Sans 3"/>
              </a:defRPr>
            </a:lvl1pPr>
            <a:lvl2pPr marL="0" indent="0" algn="r">
              <a:lnSpc>
                <a:spcPts val="1800"/>
              </a:lnSpc>
              <a:spcBef>
                <a:spcPts val="0"/>
              </a:spcBef>
              <a:spcAft>
                <a:spcPts val="0"/>
              </a:spcAft>
              <a:buNone/>
              <a:defRPr sz="1400" b="0">
                <a:solidFill>
                  <a:srgbClr val="4A5868"/>
                </a:solidFill>
                <a:latin typeface="Source Sans 3"/>
                <a:ea typeface="Source Sans 3"/>
                <a:cs typeface="Source Sans 3"/>
              </a:defRPr>
            </a:lvl2pPr>
            <a:lvl3pPr marL="0" indent="0" algn="r">
              <a:lnSpc>
                <a:spcPts val="1800"/>
              </a:lnSpc>
              <a:spcBef>
                <a:spcPts val="0"/>
              </a:spcBef>
              <a:spcAft>
                <a:spcPts val="0"/>
              </a:spcAft>
              <a:buNone/>
              <a:defRPr sz="1400" b="0">
                <a:solidFill>
                  <a:srgbClr val="4A5868"/>
                </a:solidFill>
                <a:latin typeface="Source Sans 3"/>
                <a:ea typeface="Source Sans 3"/>
                <a:cs typeface="Source Sans 3"/>
              </a:defRPr>
            </a:lvl3pPr>
            <a:lvl4pPr marL="0" indent="0" algn="r">
              <a:lnSpc>
                <a:spcPts val="1800"/>
              </a:lnSpc>
              <a:spcBef>
                <a:spcPts val="0"/>
              </a:spcBef>
              <a:spcAft>
                <a:spcPts val="0"/>
              </a:spcAft>
              <a:buNone/>
              <a:defRPr sz="1400" b="0">
                <a:solidFill>
                  <a:srgbClr val="4A5868"/>
                </a:solidFill>
                <a:latin typeface="Source Sans 3"/>
                <a:ea typeface="Source Sans 3"/>
                <a:cs typeface="Source Sans 3"/>
              </a:defRPr>
            </a:lvl4pPr>
            <a:lvl5pPr marL="0" indent="0" algn="r">
              <a:lnSpc>
                <a:spcPts val="1800"/>
              </a:lnSpc>
              <a:spcBef>
                <a:spcPts val="0"/>
              </a:spcBef>
              <a:spcAft>
                <a:spcPts val="0"/>
              </a:spcAft>
              <a:buNone/>
              <a:defRPr sz="1400" b="0">
                <a:solidFill>
                  <a:srgbClr val="4A5868"/>
                </a:solidFill>
                <a:latin typeface="Source Sans 3"/>
                <a:ea typeface="Source Sans 3"/>
                <a:cs typeface="Source Sans 3"/>
              </a:defRPr>
            </a:lvl5pPr>
          </a:lstStyle>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PI: [PI Name]  ·  POC: [email]</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[Sponsor]  ·  Award [No.]</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[Mon YYYY] to [Mon YYYY]</a:t>
            </a:r>
            <a:endParaRPr lang="en-US" sz="1400" dirty="0"/>
          </a:p>
        </p:txBody>
      </p:sp>
      <p:sp>
        <p:nvSpPr>
          <p:cNvPr id="7" name="ph:sponsor"/>
          <p:cNvSpPr>
            <a:spLocks noGrp="1"/>
          </p:cNvSpPr>
          <p:nvPr>
            <p:ph idx="105" type="pic"/>
          </p:nvPr>
        </p:nvSpPr>
        <p:spPr>
          <a:xfrm>
            <a:off x="8046720" y="128016"/>
            <a:ext cx="640080" cy="640080"/>
          </a:xfrm>
          <a:prstGeom prst="rect">
            <a:avLst/>
          </a:prstGeom>
          <a:noFill/>
          <a:ln/>
        </p:spPr>
        <p:txBody>
          <a:bodyPr wrap="square" rtlCol="0" lIns="0" tIns="0" rIns="0" bIns="0" anchor="t"/>
          <a:lstStyle/>
          <a:p>
            <a:endParaRPr lang="en-US"/>
          </a:p>
        </p:txBody>
      </p:sp>
      <p:sp>
        <p:nvSpPr>
          <p:cNvPr id="8" name="Shape 2"/>
          <p:cNvSpPr/>
          <p:nvPr/>
        </p:nvSpPr>
        <p:spPr>
          <a:xfrm>
            <a:off x="4572000" y="1024128"/>
            <a:ext cx="0" cy="3511296"/>
          </a:xfrm>
          <a:prstGeom prst="line">
            <a:avLst/>
          </a:prstGeom>
          <a:noFill/>
          <a:ln w="9525">
            <a:solidFill>
              <a:srgbClr val="D6DEE8"/>
            </a:solidFill>
            <a:prstDash val="solid"/>
          </a:ln>
        </p:spPr>
      </p:sp>
      <p:sp>
        <p:nvSpPr>
          <p:cNvPr id="9" name="Shape 3"/>
          <p:cNvSpPr/>
          <p:nvPr/>
        </p:nvSpPr>
        <p:spPr>
          <a:xfrm>
            <a:off x="457200" y="2779776"/>
            <a:ext cx="8229600" cy="0"/>
          </a:xfrm>
          <a:prstGeom prst="line">
            <a:avLst/>
          </a:prstGeom>
          <a:noFill/>
          <a:ln w="9525">
            <a:solidFill>
              <a:srgbClr val="D6DEE8"/>
            </a:solidFill>
            <a:prstDash val="solid"/>
          </a:ln>
        </p:spPr>
      </p:sp>
      <p:sp>
        <p:nvSpPr>
          <p:cNvPr id="10" name="Shape 4"/>
          <p:cNvSpPr/>
          <p:nvPr/>
        </p:nvSpPr>
        <p:spPr>
          <a:xfrm>
            <a:off x="457200" y="1024128"/>
            <a:ext cx="329184" cy="329184"/>
          </a:xfrm>
          <a:prstGeom prst="rect">
            <a:avLst/>
          </a:prstGeom>
          <a:solidFill>
            <a:srgbClr val="003976"/>
          </a:solidFill>
          <a:ln w="12700">
            <a:solidFill>
              <a:srgbClr val="003976"/>
            </a:solidFill>
            <a:prstDash val="solid"/>
          </a:ln>
        </p:spPr>
      </p:sp>
      <p:sp>
        <p:nvSpPr>
          <p:cNvPr id="11" name="Text 5"/>
          <p:cNvSpPr txBox="1"/>
          <p:nvPr/>
        </p:nvSpPr>
        <p:spPr>
          <a:xfrm>
            <a:off x="457200" y="1024128"/>
            <a:ext cx="329184" cy="329184"/>
          </a:xfrm>
          <a:prstGeom prst="rect">
            <a:avLst/>
          </a:prstGeom>
          <a:no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1</a:t>
            </a:r>
            <a:endParaRPr lang="en-US" sz="1600" dirty="0"/>
          </a:p>
        </p:txBody>
      </p:sp>
      <p:sp>
        <p:nvSpPr>
          <p:cNvPr id="12" name="Text 6"/>
          <p:cNvSpPr txBox="1"/>
          <p:nvPr/>
        </p:nvSpPr>
        <p:spPr>
          <a:xfrm>
            <a:off x="877824" y="1024128"/>
            <a:ext cx="3579876" cy="329184"/>
          </a:xfrm>
          <a:prstGeom prst="rect">
            <a:avLst/>
          </a:prstGeom>
          <a:noFill/>
          <a:ln/>
        </p:spPr>
        <p:txBody>
          <a:bodyPr wrap="square" lIns="0" tIns="0" rIns="0" bIns="0" rtlCol="0" anchor="ctr"/>
          <a:lstStyle/>
          <a:p>
            <a:pPr algn="l" indent="0" marL="0">
              <a:buNone/>
            </a:pPr>
            <a:r>
              <a:rPr lang="en-US" sz="1400" b="1" spc="200" kern="0" dirty="0">
                <a:solidFill>
                  <a:srgbClr val="8A6100"/>
                </a:solidFill>
                <a:latin typeface="Source Sans 3" pitchFamily="34" charset="0"/>
                <a:ea typeface="Source Sans 3" pitchFamily="34" charset="-122"/>
                <a:cs typeface="Source Sans 3" pitchFamily="34" charset="-120"/>
              </a:rPr>
              <a:t>OBJECTIVE AND DESCRIPTION</a:t>
            </a:r>
            <a:endParaRPr lang="en-US" sz="1400" dirty="0"/>
          </a:p>
        </p:txBody>
      </p:sp>
      <p:sp>
        <p:nvSpPr>
          <p:cNvPr id="13" name="ph:q1"/>
          <p:cNvSpPr>
            <a:spLocks noGrp="1"/>
          </p:cNvSpPr>
          <p:nvPr>
            <p:ph idx="111" type="body" hasCustomPrompt="1"/>
          </p:nvPr>
        </p:nvSpPr>
        <p:spPr>
          <a:xfrm>
            <a:off x="457200" y="1408176"/>
            <a:ext cx="2377440" cy="1289304"/>
          </a:xfrm>
          <a:prstGeom prst="rect">
            <a:avLst/>
          </a:prstGeom>
          <a:noFill/>
          <a:ln/>
        </p:spPr>
        <p:txBody>
          <a:bodyPr wrap="square" rtlCol="0" lIns="0" tIns="0" rIns="0" bIns="0" anchor="t"/>
          <a:lst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[Objective: the need and the goal in one sentence]</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[Description: what the system or study is]</a:t>
            </a:r>
            <a:endParaRPr lang="en-US" sz="1600" dirty="0"/>
          </a:p>
        </p:txBody>
      </p:sp>
      <p:sp>
        <p:nvSpPr>
          <p:cNvPr id="14" name="ph:q1img"/>
          <p:cNvSpPr>
            <a:spLocks noGrp="1"/>
          </p:cNvSpPr>
          <p:nvPr>
            <p:ph idx="112" type="pic"/>
          </p:nvPr>
        </p:nvSpPr>
        <p:spPr>
          <a:xfrm>
            <a:off x="3040380" y="1408176"/>
            <a:ext cx="1417320" cy="1060704"/>
          </a:xfrm>
          <a:prstGeom prst="rect">
            <a:avLst/>
          </a:prstGeom>
          <a:noFill/>
          <a:ln/>
        </p:spPr>
        <p:txBody>
          <a:bodyPr wrap="square" rtlCol="0" lIns="0" tIns="0" rIns="0" bIns="0" anchor="t"/>
          <a:lstStyle/>
          <a:p>
            <a:endParaRPr lang="en-US"/>
          </a:p>
        </p:txBody>
      </p:sp>
      <p:sp>
        <p:nvSpPr>
          <p:cNvPr id="15" name="Shape 7"/>
          <p:cNvSpPr/>
          <p:nvPr/>
        </p:nvSpPr>
        <p:spPr>
          <a:xfrm>
            <a:off x="4686300" y="1024128"/>
            <a:ext cx="329184" cy="329184"/>
          </a:xfrm>
          <a:prstGeom prst="rect">
            <a:avLst/>
          </a:prstGeom>
          <a:solidFill>
            <a:srgbClr val="003976"/>
          </a:solidFill>
          <a:ln w="12700">
            <a:solidFill>
              <a:srgbClr val="003976"/>
            </a:solidFill>
            <a:prstDash val="solid"/>
          </a:ln>
        </p:spPr>
      </p:sp>
      <p:sp>
        <p:nvSpPr>
          <p:cNvPr id="16" name="Text 8"/>
          <p:cNvSpPr txBox="1"/>
          <p:nvPr/>
        </p:nvSpPr>
        <p:spPr>
          <a:xfrm>
            <a:off x="4686300" y="1024128"/>
            <a:ext cx="329184" cy="329184"/>
          </a:xfrm>
          <a:prstGeom prst="rect">
            <a:avLst/>
          </a:prstGeom>
          <a:no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2</a:t>
            </a:r>
            <a:endParaRPr lang="en-US" sz="1600" dirty="0"/>
          </a:p>
        </p:txBody>
      </p:sp>
      <p:sp>
        <p:nvSpPr>
          <p:cNvPr id="17" name="Text 9"/>
          <p:cNvSpPr txBox="1"/>
          <p:nvPr/>
        </p:nvSpPr>
        <p:spPr>
          <a:xfrm>
            <a:off x="5106924" y="1024128"/>
            <a:ext cx="3579876" cy="329184"/>
          </a:xfrm>
          <a:prstGeom prst="rect">
            <a:avLst/>
          </a:prstGeom>
          <a:noFill/>
          <a:ln/>
        </p:spPr>
        <p:txBody>
          <a:bodyPr wrap="square" lIns="0" tIns="0" rIns="0" bIns="0" rtlCol="0" anchor="ctr"/>
          <a:lstStyle/>
          <a:p>
            <a:pPr algn="l" indent="0" marL="0">
              <a:buNone/>
            </a:pPr>
            <a:r>
              <a:rPr lang="en-US" sz="1400" b="1" spc="200" kern="0" dirty="0">
                <a:solidFill>
                  <a:srgbClr val="8A6100"/>
                </a:solidFill>
                <a:latin typeface="Source Sans 3" pitchFamily="34" charset="0"/>
                <a:ea typeface="Source Sans 3" pitchFamily="34" charset="-122"/>
                <a:cs typeface="Source Sans 3" pitchFamily="34" charset="-120"/>
              </a:rPr>
              <a:t>TECHNICAL APPROACH</a:t>
            </a:r>
            <a:endParaRPr lang="en-US" sz="1400" dirty="0"/>
          </a:p>
        </p:txBody>
      </p:sp>
      <p:sp>
        <p:nvSpPr>
          <p:cNvPr id="18" name="ph:q2"/>
          <p:cNvSpPr>
            <a:spLocks noGrp="1"/>
          </p:cNvSpPr>
          <p:nvPr>
            <p:ph idx="116" type="body" hasCustomPrompt="1"/>
          </p:nvPr>
        </p:nvSpPr>
        <p:spPr>
          <a:xfrm>
            <a:off x="4686300" y="1408176"/>
            <a:ext cx="4000500" cy="1289304"/>
          </a:xfrm>
          <a:prstGeom prst="rect">
            <a:avLst/>
          </a:prstGeom>
          <a:noFill/>
          <a:ln/>
        </p:spPr>
        <p:txBody>
          <a:bodyPr wrap="square" rtlCol="0" lIns="0" tIns="0" rIns="0" bIns="0" anchor="t"/>
          <a:lst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[How the technology achieves the objective]</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[Key challenge and how it is addressed]</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[Work to date, in findings not activities]</a:t>
            </a:r>
            <a:endParaRPr lang="en-US" sz="1600" dirty="0"/>
          </a:p>
        </p:txBody>
      </p:sp>
      <p:sp>
        <p:nvSpPr>
          <p:cNvPr id="19" name="Shape 10"/>
          <p:cNvSpPr/>
          <p:nvPr/>
        </p:nvSpPr>
        <p:spPr>
          <a:xfrm>
            <a:off x="457200" y="2862072"/>
            <a:ext cx="329184" cy="329184"/>
          </a:xfrm>
          <a:prstGeom prst="rect">
            <a:avLst/>
          </a:prstGeom>
          <a:solidFill>
            <a:srgbClr val="003976"/>
          </a:solidFill>
          <a:ln w="12700">
            <a:solidFill>
              <a:srgbClr val="003976"/>
            </a:solidFill>
            <a:prstDash val="solid"/>
          </a:ln>
        </p:spPr>
      </p:sp>
      <p:sp>
        <p:nvSpPr>
          <p:cNvPr id="20" name="Text 11"/>
          <p:cNvSpPr txBox="1"/>
          <p:nvPr/>
        </p:nvSpPr>
        <p:spPr>
          <a:xfrm>
            <a:off x="457200" y="2862072"/>
            <a:ext cx="329184" cy="329184"/>
          </a:xfrm>
          <a:prstGeom prst="rect">
            <a:avLst/>
          </a:prstGeom>
          <a:no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3</a:t>
            </a:r>
            <a:endParaRPr lang="en-US" sz="1600" dirty="0"/>
          </a:p>
        </p:txBody>
      </p:sp>
      <p:sp>
        <p:nvSpPr>
          <p:cNvPr id="21" name="Text 12"/>
          <p:cNvSpPr txBox="1"/>
          <p:nvPr/>
        </p:nvSpPr>
        <p:spPr>
          <a:xfrm>
            <a:off x="877824" y="2862072"/>
            <a:ext cx="3579876" cy="329184"/>
          </a:xfrm>
          <a:prstGeom prst="rect">
            <a:avLst/>
          </a:prstGeom>
          <a:noFill/>
          <a:ln/>
        </p:spPr>
        <p:txBody>
          <a:bodyPr wrap="square" lIns="0" tIns="0" rIns="0" bIns="0" rtlCol="0" anchor="ctr"/>
          <a:lstStyle/>
          <a:p>
            <a:pPr algn="l" indent="0" marL="0">
              <a:buNone/>
            </a:pPr>
            <a:r>
              <a:rPr lang="en-US" sz="1400" b="1" spc="200" kern="0" dirty="0">
                <a:solidFill>
                  <a:srgbClr val="8A6100"/>
                </a:solidFill>
                <a:latin typeface="Source Sans 3" pitchFamily="34" charset="0"/>
                <a:ea typeface="Source Sans 3" pitchFamily="34" charset="-122"/>
                <a:cs typeface="Source Sans 3" pitchFamily="34" charset="-120"/>
              </a:rPr>
              <a:t>MILESTONES AND SCHEDULE</a:t>
            </a:r>
            <a:endParaRPr lang="en-US" sz="1400" dirty="0"/>
          </a:p>
        </p:txBody>
      </p:sp>
      <p:sp>
        <p:nvSpPr>
          <p:cNvPr id="22" name="ph:q3"/>
          <p:cNvSpPr>
            <a:spLocks noGrp="1"/>
          </p:cNvSpPr>
          <p:nvPr>
            <p:ph idx="120" type="body" hasCustomPrompt="1"/>
          </p:nvPr>
        </p:nvSpPr>
        <p:spPr>
          <a:xfrm>
            <a:off x="457200" y="3246120"/>
            <a:ext cx="4000500" cy="1289304"/>
          </a:xfrm>
          <a:prstGeom prst="rect">
            <a:avLst/>
          </a:prstGeom>
          <a:noFill/>
          <a:ln/>
        </p:spPr>
        <p:txBody>
          <a:bodyPr wrap="square" rtlCol="0" lIns="0" tIns="0" rIns="0" bIns="0" anchor="t"/>
          <a:lst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[Milestone]  ·  [Mon YY]  ·  [Status]</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[Or duplicate slide 2 for the table with status markers]</a:t>
            </a:r>
            <a:endParaRPr lang="en-US" sz="1600" dirty="0"/>
          </a:p>
        </p:txBody>
      </p:sp>
      <p:sp>
        <p:nvSpPr>
          <p:cNvPr id="23" name="Shape 13"/>
          <p:cNvSpPr/>
          <p:nvPr/>
        </p:nvSpPr>
        <p:spPr>
          <a:xfrm>
            <a:off x="4686300" y="2862072"/>
            <a:ext cx="329184" cy="329184"/>
          </a:xfrm>
          <a:prstGeom prst="rect">
            <a:avLst/>
          </a:prstGeom>
          <a:solidFill>
            <a:srgbClr val="003976"/>
          </a:solidFill>
          <a:ln w="12700">
            <a:solidFill>
              <a:srgbClr val="003976"/>
            </a:solidFill>
            <a:prstDash val="solid"/>
          </a:ln>
        </p:spPr>
      </p:sp>
      <p:sp>
        <p:nvSpPr>
          <p:cNvPr id="24" name="Text 14"/>
          <p:cNvSpPr txBox="1"/>
          <p:nvPr/>
        </p:nvSpPr>
        <p:spPr>
          <a:xfrm>
            <a:off x="4686300" y="2862072"/>
            <a:ext cx="329184" cy="329184"/>
          </a:xfrm>
          <a:prstGeom prst="rect">
            <a:avLst/>
          </a:prstGeom>
          <a:no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4</a:t>
            </a:r>
            <a:endParaRPr lang="en-US" sz="1600" dirty="0"/>
          </a:p>
        </p:txBody>
      </p:sp>
      <p:sp>
        <p:nvSpPr>
          <p:cNvPr id="25" name="Text 15"/>
          <p:cNvSpPr txBox="1"/>
          <p:nvPr/>
        </p:nvSpPr>
        <p:spPr>
          <a:xfrm>
            <a:off x="5106924" y="2862072"/>
            <a:ext cx="3579876" cy="329184"/>
          </a:xfrm>
          <a:prstGeom prst="rect">
            <a:avLst/>
          </a:prstGeom>
          <a:noFill/>
          <a:ln/>
        </p:spPr>
        <p:txBody>
          <a:bodyPr wrap="square" lIns="0" tIns="0" rIns="0" bIns="0" rtlCol="0" anchor="ctr"/>
          <a:lstStyle/>
          <a:p>
            <a:pPr algn="l" indent="0" marL="0">
              <a:buNone/>
            </a:pPr>
            <a:r>
              <a:rPr lang="en-US" sz="1400" b="1" spc="200" kern="0" dirty="0">
                <a:solidFill>
                  <a:srgbClr val="8A6100"/>
                </a:solidFill>
                <a:latin typeface="Source Sans 3" pitchFamily="34" charset="0"/>
                <a:ea typeface="Source Sans 3" pitchFamily="34" charset="-122"/>
                <a:cs typeface="Source Sans 3" pitchFamily="34" charset="-120"/>
              </a:rPr>
              <a:t>IMPACT AND DELIVERABLES</a:t>
            </a:r>
            <a:endParaRPr lang="en-US" sz="1400" dirty="0"/>
          </a:p>
        </p:txBody>
      </p:sp>
      <p:sp>
        <p:nvSpPr>
          <p:cNvPr id="26" name="ph:q4"/>
          <p:cNvSpPr>
            <a:spLocks noGrp="1"/>
          </p:cNvSpPr>
          <p:nvPr>
            <p:ph idx="124" type="body" hasCustomPrompt="1"/>
          </p:nvPr>
        </p:nvSpPr>
        <p:spPr>
          <a:xfrm>
            <a:off x="4686300" y="3246120"/>
            <a:ext cx="4000500" cy="1289304"/>
          </a:xfrm>
          <a:prstGeom prst="rect">
            <a:avLst/>
          </a:prstGeom>
          <a:noFill/>
          <a:ln/>
        </p:spPr>
        <p:txBody>
          <a:bodyPr wrap="square" rtlCol="0" lIns="0" tIns="0" rIns="0" bIns="0" anchor="t"/>
          <a:lst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Impact: [who benefits and how]</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Deliverables: [software, data, paper, demo]</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Transition or next steps: [next period]</a:t>
            </a:r>
            <a:endParaRPr lang="en-US" sz="1600" dirty="0"/>
          </a:p>
        </p:txBody>
      </p:sp>
      <p:sp>
        <p:nvSpPr>
          <p:cNvPr id="27" name="Shape 16"/>
          <p:cNvSpPr/>
          <p:nvPr/>
        </p:nvSpPr>
        <p:spPr>
          <a:xfrm>
            <a:off x="457200" y="4663440"/>
            <a:ext cx="8229600" cy="0"/>
          </a:xfrm>
          <a:prstGeom prst="line">
            <a:avLst/>
          </a:prstGeom>
          <a:noFill/>
          <a:ln w="9525">
            <a:solidFill>
              <a:srgbClr val="D6DEE8"/>
            </a:solidFill>
            <a:prstDash val="solid"/>
          </a:ln>
        </p:spPr>
      </p:sp>
      <p:sp>
        <p:nvSpPr>
          <p:cNvPr id="28" name="Text 17"/>
          <p:cNvSpPr txBox="1"/>
          <p:nvPr/>
        </p:nvSpPr>
        <p:spPr>
          <a:xfrm>
            <a:off x="457200" y="4700016"/>
            <a:ext cx="4937760" cy="237744"/>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29" name="ph:footer_right"/>
          <p:cNvSpPr>
            <a:spLocks noGrp="1"/>
          </p:cNvSpPr>
          <p:nvPr>
            <p:ph idx="127" type="body" hasCustomPrompt="1"/>
          </p:nvPr>
        </p:nvSpPr>
        <p:spPr>
          <a:xfrm>
            <a:off x="5486400" y="4700016"/>
            <a:ext cx="2743200" cy="237744"/>
          </a:xfrm>
          <a:prstGeom prst="rect">
            <a:avLst/>
          </a:prstGeom>
          <a:noFill/>
          <a:ln/>
        </p:spPr>
        <p:txBody>
          <a:bodyPr wrap="none" rtlCol="0" lIns="0" tIns="0" rIns="0" bIns="0" anchor="ctr"/>
          <a:lstStyle>
            <a:lvl1pPr marL="0" indent="0" algn="r">
              <a:lnSpc>
                <a:spcPts val="1700"/>
              </a:lnSpc>
              <a:spcBef>
                <a:spcPts val="0"/>
              </a:spcBef>
              <a:spcAft>
                <a:spcPts val="0"/>
              </a:spcAft>
              <a:buNone/>
              <a:defRPr sz="1400" b="0">
                <a:solidFill>
                  <a:srgbClr val="003976"/>
                </a:solidFill>
                <a:latin typeface="Source Code Pro"/>
                <a:ea typeface="Source Code Pro"/>
                <a:cs typeface="Source Code Pro"/>
              </a:defRPr>
            </a:lvl1pPr>
            <a:lvl2pPr marL="0" indent="0" algn="r">
              <a:lnSpc>
                <a:spcPts val="1700"/>
              </a:lnSpc>
              <a:spcBef>
                <a:spcPts val="0"/>
              </a:spcBef>
              <a:spcAft>
                <a:spcPts val="0"/>
              </a:spcAft>
              <a:buNone/>
              <a:defRPr sz="1400" b="0">
                <a:solidFill>
                  <a:srgbClr val="003976"/>
                </a:solidFill>
                <a:latin typeface="Source Code Pro"/>
                <a:ea typeface="Source Code Pro"/>
                <a:cs typeface="Source Code Pro"/>
              </a:defRPr>
            </a:lvl2pPr>
            <a:lvl3pPr marL="0" indent="0" algn="r">
              <a:lnSpc>
                <a:spcPts val="1700"/>
              </a:lnSpc>
              <a:spcBef>
                <a:spcPts val="0"/>
              </a:spcBef>
              <a:spcAft>
                <a:spcPts val="0"/>
              </a:spcAft>
              <a:buNone/>
              <a:defRPr sz="1400" b="0">
                <a:solidFill>
                  <a:srgbClr val="003976"/>
                </a:solidFill>
                <a:latin typeface="Source Code Pro"/>
                <a:ea typeface="Source Code Pro"/>
                <a:cs typeface="Source Code Pro"/>
              </a:defRPr>
            </a:lvl3pPr>
            <a:lvl4pPr marL="0" indent="0" algn="r">
              <a:lnSpc>
                <a:spcPts val="1700"/>
              </a:lnSpc>
              <a:spcBef>
                <a:spcPts val="0"/>
              </a:spcBef>
              <a:spcAft>
                <a:spcPts val="0"/>
              </a:spcAft>
              <a:buNone/>
              <a:defRPr sz="1400" b="0">
                <a:solidFill>
                  <a:srgbClr val="003976"/>
                </a:solidFill>
                <a:latin typeface="Source Code Pro"/>
                <a:ea typeface="Source Code Pro"/>
                <a:cs typeface="Source Code Pro"/>
              </a:defRPr>
            </a:lvl4pPr>
            <a:lvl5pPr marL="0" indent="0" algn="r">
              <a:lnSpc>
                <a:spcPts val="1700"/>
              </a:lnSpc>
              <a:spcBef>
                <a:spcPts val="0"/>
              </a:spcBef>
              <a:spcAft>
                <a:spcPts val="0"/>
              </a:spcAft>
              <a:buNone/>
              <a:defRPr sz="1400" b="0">
                <a:solidFill>
                  <a:srgbClr val="003976"/>
                </a:solidFill>
                <a:latin typeface="Source Code Pro"/>
                <a:ea typeface="Source Code Pro"/>
                <a:cs typeface="Source Code Pro"/>
              </a:defRPr>
            </a:lvl5pPr>
          </a:lstStyle>
          <a:p>
            <a:pPr algn="r" indent="0" marL="0">
              <a:lnSpc>
                <a:spcPts val="1700"/>
              </a:lnSpc>
              <a:buNone/>
            </a:pPr>
            <a:r>
              <a:rPr lang="en-US" sz="1400" dirty="0">
                <a:solidFill>
                  <a:srgbClr val="003976"/>
                </a:solidFill>
                <a:latin typeface="Source Code Pro" pitchFamily="34" charset="0"/>
                <a:ea typeface="Source Code Pro" pitchFamily="34" charset="-122"/>
                <a:cs typeface="Source Code Pro" pitchFamily="34" charset="-120"/>
              </a:rPr>
              <a:t>[Internal] · [YYYY-MM-DD]</a:t>
            </a:r>
            <a:endParaRPr lang="en-US" sz="1400" dirty="0"/>
          </a:p>
        </p:txBody>
      </p:sp>
      <p:sp>
        <p:nvSpPr>
          <p:cNvPr id="25" name="Slide Number Placeholder 0"/>
          <p:cNvSpPr>
            <a:spLocks noGrp="1"/>
          </p:cNvSpPr>
          <p:nvPr>
            <p:ph type="sldNum" sz="quarter" idx="4294967295"/>
          </p:nvPr>
        </p:nvSpPr>
        <p:spPr>
          <a:xfrm>
            <a:off x="8321040" y="4700016"/>
            <a:ext cx="36576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400">
                <a:solidFill>
                  <a:srgbClr val="003976"/>
                </a:solidFill>
                <a:latin typeface="Source Code Pro"/>
                <a:ea typeface="Source Code Pro"/>
                <a:cs typeface="Source Code Pr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R - Weekly Summar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28016"/>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74529" y="240030"/>
            <a:ext cx="332270" cy="342900"/>
          </a:xfrm>
          <a:prstGeom prst="rect">
            <a:avLst/>
          </a:prstGeom>
        </p:spPr>
      </p:pic>
      <p:sp>
        <p:nvSpPr>
          <p:cNvPr id="4" name="Shape 1"/>
          <p:cNvSpPr/>
          <p:nvPr/>
        </p:nvSpPr>
        <p:spPr>
          <a:xfrm>
            <a:off x="457200" y="914400"/>
            <a:ext cx="8229600" cy="0"/>
          </a:xfrm>
          <a:prstGeom prst="line">
            <a:avLst/>
          </a:prstGeom>
          <a:noFill/>
          <a:ln w="9525">
            <a:solidFill>
              <a:srgbClr val="D6DEE8"/>
            </a:solidFill>
            <a:prstDash val="solid"/>
          </a:ln>
        </p:spPr>
      </p:sp>
      <p:sp>
        <p:nvSpPr>
          <p:cNvPr id="5" name="ph:title"/>
          <p:cNvSpPr>
            <a:spLocks noGrp="1"/>
          </p:cNvSpPr>
          <p:nvPr>
            <p:ph idx="103" type="title" hasCustomPrompt="1"/>
          </p:nvPr>
        </p:nvSpPr>
        <p:spPr>
          <a:xfrm>
            <a:off x="1207008" y="128016"/>
            <a:ext cx="4279392" cy="713232"/>
          </a:xfrm>
          <a:prstGeom prst="rect">
            <a:avLst/>
          </a:prstGeom>
          <a:noFill/>
          <a:ln/>
        </p:spPr>
        <p:txBody>
          <a:bodyPr wrap="square" rtlCol="0" lIns="0" tIns="0" rIns="0" bIns="0" anchor="t"/>
          <a:lstStyle>
            <a:lvl1pPr marL="0" indent="0" algn="l">
              <a:lnSpc>
                <a:spcPts val="2800"/>
              </a:lnSpc>
              <a:spcBef>
                <a:spcPts val="0"/>
              </a:spcBef>
              <a:spcAft>
                <a:spcPts val="0"/>
              </a:spcAft>
              <a:buNone/>
              <a:defRPr sz="2400" b="1">
                <a:solidFill>
                  <a:srgbClr val="003976"/>
                </a:solidFill>
                <a:latin typeface="Source Sans 3"/>
                <a:ea typeface="Source Sans 3"/>
                <a:cs typeface="Source Sans 3"/>
              </a:defRPr>
            </a:lvl1pPr>
            <a:lvl2pPr marL="0" indent="0" algn="l">
              <a:lnSpc>
                <a:spcPts val="2800"/>
              </a:lnSpc>
              <a:spcBef>
                <a:spcPts val="0"/>
              </a:spcBef>
              <a:spcAft>
                <a:spcPts val="0"/>
              </a:spcAft>
              <a:buNone/>
              <a:defRPr sz="2400" b="1">
                <a:solidFill>
                  <a:srgbClr val="003976"/>
                </a:solidFill>
                <a:latin typeface="Source Sans 3"/>
                <a:ea typeface="Source Sans 3"/>
                <a:cs typeface="Source Sans 3"/>
              </a:defRPr>
            </a:lvl2pPr>
            <a:lvl3pPr marL="0" indent="0" algn="l">
              <a:lnSpc>
                <a:spcPts val="2800"/>
              </a:lnSpc>
              <a:spcBef>
                <a:spcPts val="0"/>
              </a:spcBef>
              <a:spcAft>
                <a:spcPts val="0"/>
              </a:spcAft>
              <a:buNone/>
              <a:defRPr sz="2400" b="1">
                <a:solidFill>
                  <a:srgbClr val="003976"/>
                </a:solidFill>
                <a:latin typeface="Source Sans 3"/>
                <a:ea typeface="Source Sans 3"/>
                <a:cs typeface="Source Sans 3"/>
              </a:defRPr>
            </a:lvl3pPr>
            <a:lvl4pPr marL="0" indent="0" algn="l">
              <a:lnSpc>
                <a:spcPts val="2800"/>
              </a:lnSpc>
              <a:spcBef>
                <a:spcPts val="0"/>
              </a:spcBef>
              <a:spcAft>
                <a:spcPts val="0"/>
              </a:spcAft>
              <a:buNone/>
              <a:defRPr sz="2400" b="1">
                <a:solidFill>
                  <a:srgbClr val="003976"/>
                </a:solidFill>
                <a:latin typeface="Source Sans 3"/>
                <a:ea typeface="Source Sans 3"/>
                <a:cs typeface="Source Sans 3"/>
              </a:defRPr>
            </a:lvl4pPr>
            <a:lvl5pPr marL="0" indent="0" algn="l">
              <a:lnSpc>
                <a:spcPts val="2800"/>
              </a:lnSpc>
              <a:spcBef>
                <a:spcPts val="0"/>
              </a:spcBef>
              <a:spcAft>
                <a:spcPts val="0"/>
              </a:spcAft>
              <a:buNone/>
              <a:defRPr sz="2400" b="1">
                <a:solidFill>
                  <a:srgbClr val="003976"/>
                </a:solidFill>
                <a:latin typeface="Source Sans 3"/>
                <a:ea typeface="Source Sans 3"/>
                <a:cs typeface="Source Sans 3"/>
              </a:defRPr>
            </a:lvl5pPr>
          </a:lstStyle>
          <a:p>
            <a:pPr algn="l" indent="0" marL="0">
              <a:lnSpc>
                <a:spcPts val="2800"/>
              </a:lnSpc>
              <a:buNone/>
            </a:pPr>
            <a:r>
              <a:rPr lang="en-US" sz="2400" b="1" dirty="0">
                <a:solidFill>
                  <a:srgbClr val="003976"/>
                </a:solidFill>
                <a:latin typeface="Source Sans 3" pitchFamily="34" charset="0"/>
                <a:ea typeface="Source Sans 3" pitchFamily="34" charset="-122"/>
                <a:cs typeface="Source Sans 3" pitchFamily="34" charset="-120"/>
              </a:rPr>
              <a:t>[Project or student]: weekly summary</a:t>
            </a:r>
            <a:endParaRPr lang="en-US" sz="2400" dirty="0"/>
          </a:p>
        </p:txBody>
      </p:sp>
      <p:sp>
        <p:nvSpPr>
          <p:cNvPr id="6" name="ph:meta"/>
          <p:cNvSpPr>
            <a:spLocks noGrp="1"/>
          </p:cNvSpPr>
          <p:nvPr>
            <p:ph idx="104" type="body" hasCustomPrompt="1"/>
          </p:nvPr>
        </p:nvSpPr>
        <p:spPr>
          <a:xfrm>
            <a:off x="5669280" y="128016"/>
            <a:ext cx="3017520" cy="685800"/>
          </a:xfrm>
          <a:prstGeom prst="rect">
            <a:avLst/>
          </a:prstGeom>
          <a:noFill/>
          <a:ln/>
        </p:spPr>
        <p:txBody>
          <a:bodyPr wrap="square" rtlCol="0" lIns="0" tIns="0" rIns="0" bIns="0" anchor="t"/>
          <a:lstStyle>
            <a:lvl1pPr marL="0" indent="0" algn="r">
              <a:lnSpc>
                <a:spcPts val="1800"/>
              </a:lnSpc>
              <a:spcBef>
                <a:spcPts val="0"/>
              </a:spcBef>
              <a:spcAft>
                <a:spcPts val="0"/>
              </a:spcAft>
              <a:buNone/>
              <a:defRPr sz="1400" b="0">
                <a:solidFill>
                  <a:srgbClr val="4A5868"/>
                </a:solidFill>
                <a:latin typeface="Source Sans 3"/>
                <a:ea typeface="Source Sans 3"/>
                <a:cs typeface="Source Sans 3"/>
              </a:defRPr>
            </a:lvl1pPr>
            <a:lvl2pPr marL="0" indent="0" algn="r">
              <a:lnSpc>
                <a:spcPts val="1800"/>
              </a:lnSpc>
              <a:spcBef>
                <a:spcPts val="0"/>
              </a:spcBef>
              <a:spcAft>
                <a:spcPts val="0"/>
              </a:spcAft>
              <a:buNone/>
              <a:defRPr sz="1400" b="0">
                <a:solidFill>
                  <a:srgbClr val="4A5868"/>
                </a:solidFill>
                <a:latin typeface="Source Sans 3"/>
                <a:ea typeface="Source Sans 3"/>
                <a:cs typeface="Source Sans 3"/>
              </a:defRPr>
            </a:lvl2pPr>
            <a:lvl3pPr marL="0" indent="0" algn="r">
              <a:lnSpc>
                <a:spcPts val="1800"/>
              </a:lnSpc>
              <a:spcBef>
                <a:spcPts val="0"/>
              </a:spcBef>
              <a:spcAft>
                <a:spcPts val="0"/>
              </a:spcAft>
              <a:buNone/>
              <a:defRPr sz="1400" b="0">
                <a:solidFill>
                  <a:srgbClr val="4A5868"/>
                </a:solidFill>
                <a:latin typeface="Source Sans 3"/>
                <a:ea typeface="Source Sans 3"/>
                <a:cs typeface="Source Sans 3"/>
              </a:defRPr>
            </a:lvl3pPr>
            <a:lvl4pPr marL="0" indent="0" algn="r">
              <a:lnSpc>
                <a:spcPts val="1800"/>
              </a:lnSpc>
              <a:spcBef>
                <a:spcPts val="0"/>
              </a:spcBef>
              <a:spcAft>
                <a:spcPts val="0"/>
              </a:spcAft>
              <a:buNone/>
              <a:defRPr sz="1400" b="0">
                <a:solidFill>
                  <a:srgbClr val="4A5868"/>
                </a:solidFill>
                <a:latin typeface="Source Sans 3"/>
                <a:ea typeface="Source Sans 3"/>
                <a:cs typeface="Source Sans 3"/>
              </a:defRPr>
            </a:lvl4pPr>
            <a:lvl5pPr marL="0" indent="0" algn="r">
              <a:lnSpc>
                <a:spcPts val="1800"/>
              </a:lnSpc>
              <a:spcBef>
                <a:spcPts val="0"/>
              </a:spcBef>
              <a:spcAft>
                <a:spcPts val="0"/>
              </a:spcAft>
              <a:buNone/>
              <a:defRPr sz="1400" b="0">
                <a:solidFill>
                  <a:srgbClr val="4A5868"/>
                </a:solidFill>
                <a:latin typeface="Source Sans 3"/>
                <a:ea typeface="Source Sans 3"/>
                <a:cs typeface="Source Sans 3"/>
              </a:defRPr>
            </a:lvl5pPr>
          </a:lstStyle>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Week of [Mon. D, YYYY]</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[Student name]  ·  [Advisor]</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ATR Lab  ·  Kent State University</a:t>
            </a:r>
            <a:endParaRPr lang="en-US" sz="1400" dirty="0"/>
          </a:p>
        </p:txBody>
      </p:sp>
      <p:sp>
        <p:nvSpPr>
          <p:cNvPr id="7" name="Shape 2"/>
          <p:cNvSpPr/>
          <p:nvPr/>
        </p:nvSpPr>
        <p:spPr>
          <a:xfrm>
            <a:off x="5349240" y="1024128"/>
            <a:ext cx="0" cy="3511296"/>
          </a:xfrm>
          <a:prstGeom prst="line">
            <a:avLst/>
          </a:prstGeom>
          <a:noFill/>
          <a:ln w="9525">
            <a:solidFill>
              <a:srgbClr val="D6DEE8"/>
            </a:solidFill>
            <a:prstDash val="solid"/>
          </a:ln>
        </p:spPr>
      </p:sp>
      <p:sp>
        <p:nvSpPr>
          <p:cNvPr id="8" name="Shape 3"/>
          <p:cNvSpPr/>
          <p:nvPr/>
        </p:nvSpPr>
        <p:spPr>
          <a:xfrm>
            <a:off x="457200" y="2779776"/>
            <a:ext cx="4754880" cy="0"/>
          </a:xfrm>
          <a:prstGeom prst="line">
            <a:avLst/>
          </a:prstGeom>
          <a:noFill/>
          <a:ln w="9525">
            <a:solidFill>
              <a:srgbClr val="D6DEE8"/>
            </a:solidFill>
            <a:prstDash val="solid"/>
          </a:ln>
        </p:spPr>
      </p:sp>
      <p:sp>
        <p:nvSpPr>
          <p:cNvPr id="9" name="Shape 4"/>
          <p:cNvSpPr/>
          <p:nvPr/>
        </p:nvSpPr>
        <p:spPr>
          <a:xfrm>
            <a:off x="457200" y="1024128"/>
            <a:ext cx="329184" cy="329184"/>
          </a:xfrm>
          <a:prstGeom prst="rect">
            <a:avLst/>
          </a:prstGeom>
          <a:solidFill>
            <a:srgbClr val="003976"/>
          </a:solidFill>
          <a:ln w="12700">
            <a:solidFill>
              <a:srgbClr val="003976"/>
            </a:solidFill>
            <a:prstDash val="solid"/>
          </a:ln>
        </p:spPr>
      </p:sp>
      <p:sp>
        <p:nvSpPr>
          <p:cNvPr id="10" name="Text 5"/>
          <p:cNvSpPr txBox="1"/>
          <p:nvPr/>
        </p:nvSpPr>
        <p:spPr>
          <a:xfrm>
            <a:off x="457200" y="1024128"/>
            <a:ext cx="329184" cy="329184"/>
          </a:xfrm>
          <a:prstGeom prst="rect">
            <a:avLst/>
          </a:prstGeom>
          <a:no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1</a:t>
            </a:r>
            <a:endParaRPr lang="en-US" sz="1600" dirty="0"/>
          </a:p>
        </p:txBody>
      </p:sp>
      <p:sp>
        <p:nvSpPr>
          <p:cNvPr id="11" name="Text 6"/>
          <p:cNvSpPr txBox="1"/>
          <p:nvPr/>
        </p:nvSpPr>
        <p:spPr>
          <a:xfrm>
            <a:off x="877824" y="1024128"/>
            <a:ext cx="4334256" cy="329184"/>
          </a:xfrm>
          <a:prstGeom prst="rect">
            <a:avLst/>
          </a:prstGeom>
          <a:noFill/>
          <a:ln/>
        </p:spPr>
        <p:txBody>
          <a:bodyPr wrap="square" lIns="0" tIns="0" rIns="0" bIns="0" rtlCol="0" anchor="ctr"/>
          <a:lstStyle/>
          <a:p>
            <a:pPr algn="l" indent="0" marL="0">
              <a:buNone/>
            </a:pPr>
            <a:r>
              <a:rPr lang="en-US" sz="1400" b="1" spc="200" kern="0" dirty="0">
                <a:solidFill>
                  <a:srgbClr val="8A6100"/>
                </a:solidFill>
                <a:latin typeface="Source Sans 3" pitchFamily="34" charset="0"/>
                <a:ea typeface="Source Sans 3" pitchFamily="34" charset="-122"/>
                <a:cs typeface="Source Sans 3" pitchFamily="34" charset="-120"/>
              </a:rPr>
              <a:t>ACCOMPLISHMENTS</a:t>
            </a:r>
            <a:endParaRPr lang="en-US" sz="1400" dirty="0"/>
          </a:p>
        </p:txBody>
      </p:sp>
      <p:sp>
        <p:nvSpPr>
          <p:cNvPr id="12" name="ph:acc"/>
          <p:cNvSpPr>
            <a:spLocks noGrp="1"/>
          </p:cNvSpPr>
          <p:nvPr>
            <p:ph idx="110" type="body" hasCustomPrompt="1"/>
          </p:nvPr>
        </p:nvSpPr>
        <p:spPr>
          <a:xfrm>
            <a:off x="457200" y="1408176"/>
            <a:ext cx="4754880" cy="1289304"/>
          </a:xfrm>
          <a:prstGeom prst="rect">
            <a:avLst/>
          </a:prstGeom>
          <a:noFill/>
          <a:ln/>
        </p:spPr>
        <p:txBody>
          <a:bodyPr wrap="square" rtlCol="0" lIns="0" tIns="0" rIns="0" bIns="0" anchor="t"/>
          <a:lst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[Finding or result completed this week]</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[Second accomplishment, stated as an outcome]</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[Third accomplishment]</a:t>
            </a:r>
            <a:endParaRPr lang="en-US" sz="1600" dirty="0"/>
          </a:p>
        </p:txBody>
      </p:sp>
      <p:sp>
        <p:nvSpPr>
          <p:cNvPr id="13" name="Shape 7"/>
          <p:cNvSpPr/>
          <p:nvPr/>
        </p:nvSpPr>
        <p:spPr>
          <a:xfrm>
            <a:off x="457200" y="2862072"/>
            <a:ext cx="329184" cy="329184"/>
          </a:xfrm>
          <a:prstGeom prst="rect">
            <a:avLst/>
          </a:prstGeom>
          <a:solidFill>
            <a:srgbClr val="003976"/>
          </a:solidFill>
          <a:ln w="12700">
            <a:solidFill>
              <a:srgbClr val="003976"/>
            </a:solidFill>
            <a:prstDash val="solid"/>
          </a:ln>
        </p:spPr>
      </p:sp>
      <p:sp>
        <p:nvSpPr>
          <p:cNvPr id="14" name="Text 8"/>
          <p:cNvSpPr txBox="1"/>
          <p:nvPr/>
        </p:nvSpPr>
        <p:spPr>
          <a:xfrm>
            <a:off x="457200" y="2862072"/>
            <a:ext cx="329184" cy="329184"/>
          </a:xfrm>
          <a:prstGeom prst="rect">
            <a:avLst/>
          </a:prstGeom>
          <a:no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2</a:t>
            </a:r>
            <a:endParaRPr lang="en-US" sz="1600" dirty="0"/>
          </a:p>
        </p:txBody>
      </p:sp>
      <p:sp>
        <p:nvSpPr>
          <p:cNvPr id="15" name="Text 9"/>
          <p:cNvSpPr txBox="1"/>
          <p:nvPr/>
        </p:nvSpPr>
        <p:spPr>
          <a:xfrm>
            <a:off x="877824" y="2862072"/>
            <a:ext cx="4334256" cy="329184"/>
          </a:xfrm>
          <a:prstGeom prst="rect">
            <a:avLst/>
          </a:prstGeom>
          <a:noFill/>
          <a:ln/>
        </p:spPr>
        <p:txBody>
          <a:bodyPr wrap="square" lIns="0" tIns="0" rIns="0" bIns="0" rtlCol="0" anchor="ctr"/>
          <a:lstStyle/>
          <a:p>
            <a:pPr algn="l" indent="0" marL="0">
              <a:buNone/>
            </a:pPr>
            <a:r>
              <a:rPr lang="en-US" sz="1400" b="1" spc="200" kern="0" dirty="0">
                <a:solidFill>
                  <a:srgbClr val="8A6100"/>
                </a:solidFill>
                <a:latin typeface="Source Sans 3" pitchFamily="34" charset="0"/>
                <a:ea typeface="Source Sans 3" pitchFamily="34" charset="-122"/>
                <a:cs typeface="Source Sans 3" pitchFamily="34" charset="-120"/>
              </a:rPr>
              <a:t>PATH FORWARD</a:t>
            </a:r>
            <a:endParaRPr lang="en-US" sz="1400" dirty="0"/>
          </a:p>
        </p:txBody>
      </p:sp>
      <p:sp>
        <p:nvSpPr>
          <p:cNvPr id="16" name="ph:path"/>
          <p:cNvSpPr>
            <a:spLocks noGrp="1"/>
          </p:cNvSpPr>
          <p:nvPr>
            <p:ph idx="114" type="body" hasCustomPrompt="1"/>
          </p:nvPr>
        </p:nvSpPr>
        <p:spPr>
          <a:xfrm>
            <a:off x="457200" y="3246120"/>
            <a:ext cx="4754880" cy="1289304"/>
          </a:xfrm>
          <a:prstGeom prst="rect">
            <a:avLst/>
          </a:prstGeom>
          <a:noFill/>
          <a:ln/>
        </p:spPr>
        <p:txBody>
          <a:bodyPr wrap="square" rtlCol="0" lIns="0" tIns="0" rIns="0" bIns="0" anchor="t"/>
          <a:lst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[Next step and its target date]</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[Second next step]</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[Decision or input needed from the advisor]</a:t>
            </a:r>
            <a:endParaRPr lang="en-US" sz="1600" dirty="0"/>
          </a:p>
        </p:txBody>
      </p:sp>
      <p:sp>
        <p:nvSpPr>
          <p:cNvPr id="17" name="Shape 10"/>
          <p:cNvSpPr/>
          <p:nvPr/>
        </p:nvSpPr>
        <p:spPr>
          <a:xfrm>
            <a:off x="5486400" y="1024128"/>
            <a:ext cx="329184" cy="329184"/>
          </a:xfrm>
          <a:prstGeom prst="rect">
            <a:avLst/>
          </a:prstGeom>
          <a:solidFill>
            <a:srgbClr val="003976"/>
          </a:solidFill>
          <a:ln w="12700">
            <a:solidFill>
              <a:srgbClr val="003976"/>
            </a:solidFill>
            <a:prstDash val="solid"/>
          </a:ln>
        </p:spPr>
      </p:sp>
      <p:sp>
        <p:nvSpPr>
          <p:cNvPr id="18" name="Text 11"/>
          <p:cNvSpPr txBox="1"/>
          <p:nvPr/>
        </p:nvSpPr>
        <p:spPr>
          <a:xfrm>
            <a:off x="5486400" y="1024128"/>
            <a:ext cx="329184" cy="329184"/>
          </a:xfrm>
          <a:prstGeom prst="rect">
            <a:avLst/>
          </a:prstGeom>
          <a:no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3</a:t>
            </a:r>
            <a:endParaRPr lang="en-US" sz="1600" dirty="0"/>
          </a:p>
        </p:txBody>
      </p:sp>
      <p:sp>
        <p:nvSpPr>
          <p:cNvPr id="19" name="Text 12"/>
          <p:cNvSpPr txBox="1"/>
          <p:nvPr/>
        </p:nvSpPr>
        <p:spPr>
          <a:xfrm>
            <a:off x="5907024" y="1024128"/>
            <a:ext cx="2779776" cy="329184"/>
          </a:xfrm>
          <a:prstGeom prst="rect">
            <a:avLst/>
          </a:prstGeom>
          <a:noFill/>
          <a:ln/>
        </p:spPr>
        <p:txBody>
          <a:bodyPr wrap="square" lIns="0" tIns="0" rIns="0" bIns="0" rtlCol="0" anchor="ctr"/>
          <a:lstStyle/>
          <a:p>
            <a:pPr algn="l" indent="0" marL="0">
              <a:buNone/>
            </a:pPr>
            <a:r>
              <a:rPr lang="en-US" sz="1400" b="1" spc="200" kern="0" dirty="0">
                <a:solidFill>
                  <a:srgbClr val="8A6100"/>
                </a:solidFill>
                <a:latin typeface="Source Sans 3" pitchFamily="34" charset="0"/>
                <a:ea typeface="Source Sans 3" pitchFamily="34" charset="-122"/>
                <a:cs typeface="Source Sans 3" pitchFamily="34" charset="-120"/>
              </a:rPr>
              <a:t>RISKS AND NEEDS</a:t>
            </a:r>
            <a:endParaRPr lang="en-US" sz="1400" dirty="0"/>
          </a:p>
        </p:txBody>
      </p:sp>
      <p:sp>
        <p:nvSpPr>
          <p:cNvPr id="20" name="ph:risks"/>
          <p:cNvSpPr>
            <a:spLocks noGrp="1"/>
          </p:cNvSpPr>
          <p:nvPr>
            <p:ph idx="118" type="body" hasCustomPrompt="1"/>
          </p:nvPr>
        </p:nvSpPr>
        <p:spPr>
          <a:xfrm>
            <a:off x="5486400" y="1408176"/>
            <a:ext cx="3200400" cy="786384"/>
          </a:xfrm>
          <a:prstGeom prst="rect">
            <a:avLst/>
          </a:prstGeom>
          <a:noFill/>
          <a:ln/>
        </p:spPr>
        <p:txBody>
          <a:bodyPr wrap="square" rtlCol="0" lIns="0" tIns="0" rIns="0" bIns="0" anchor="t"/>
          <a:lst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[Blocker or risk, with the ask]</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[Parts, access or time needed]</a:t>
            </a:r>
            <a:endParaRPr lang="en-US" sz="1600" dirty="0"/>
          </a:p>
        </p:txBody>
      </p:sp>
      <p:sp>
        <p:nvSpPr>
          <p:cNvPr id="21" name="Shape 13"/>
          <p:cNvSpPr/>
          <p:nvPr/>
        </p:nvSpPr>
        <p:spPr>
          <a:xfrm>
            <a:off x="5486400" y="2258568"/>
            <a:ext cx="3200400" cy="0"/>
          </a:xfrm>
          <a:prstGeom prst="line">
            <a:avLst/>
          </a:prstGeom>
          <a:noFill/>
          <a:ln w="9525">
            <a:solidFill>
              <a:srgbClr val="D6DEE8"/>
            </a:solidFill>
            <a:prstDash val="solid"/>
          </a:ln>
        </p:spPr>
      </p:sp>
      <p:sp>
        <p:nvSpPr>
          <p:cNvPr id="22" name="Shape 14"/>
          <p:cNvSpPr/>
          <p:nvPr/>
        </p:nvSpPr>
        <p:spPr>
          <a:xfrm>
            <a:off x="5486400" y="2322576"/>
            <a:ext cx="329184" cy="329184"/>
          </a:xfrm>
          <a:prstGeom prst="rect">
            <a:avLst/>
          </a:prstGeom>
          <a:solidFill>
            <a:srgbClr val="003976"/>
          </a:solidFill>
          <a:ln w="12700">
            <a:solidFill>
              <a:srgbClr val="003976"/>
            </a:solidFill>
            <a:prstDash val="solid"/>
          </a:ln>
        </p:spPr>
      </p:sp>
      <p:sp>
        <p:nvSpPr>
          <p:cNvPr id="23" name="Text 15"/>
          <p:cNvSpPr txBox="1"/>
          <p:nvPr/>
        </p:nvSpPr>
        <p:spPr>
          <a:xfrm>
            <a:off x="5486400" y="2322576"/>
            <a:ext cx="329184" cy="329184"/>
          </a:xfrm>
          <a:prstGeom prst="rect">
            <a:avLst/>
          </a:prstGeom>
          <a:no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4</a:t>
            </a:r>
            <a:endParaRPr lang="en-US" sz="1600" dirty="0"/>
          </a:p>
        </p:txBody>
      </p:sp>
      <p:sp>
        <p:nvSpPr>
          <p:cNvPr id="24" name="Text 16"/>
          <p:cNvSpPr txBox="1"/>
          <p:nvPr/>
        </p:nvSpPr>
        <p:spPr>
          <a:xfrm>
            <a:off x="5907024" y="2322576"/>
            <a:ext cx="2779776" cy="329184"/>
          </a:xfrm>
          <a:prstGeom prst="rect">
            <a:avLst/>
          </a:prstGeom>
          <a:noFill/>
          <a:ln/>
        </p:spPr>
        <p:txBody>
          <a:bodyPr wrap="square" lIns="0" tIns="0" rIns="0" bIns="0" rtlCol="0" anchor="ctr"/>
          <a:lstStyle/>
          <a:p>
            <a:pPr algn="l" indent="0" marL="0">
              <a:buNone/>
            </a:pPr>
            <a:r>
              <a:rPr lang="en-US" sz="1400" b="1" spc="200" kern="0" dirty="0">
                <a:solidFill>
                  <a:srgbClr val="8A6100"/>
                </a:solidFill>
                <a:latin typeface="Source Sans 3" pitchFamily="34" charset="0"/>
                <a:ea typeface="Source Sans 3" pitchFamily="34" charset="-122"/>
                <a:cs typeface="Source Sans 3" pitchFamily="34" charset="-120"/>
              </a:rPr>
              <a:t>NOTES</a:t>
            </a:r>
            <a:endParaRPr lang="en-US" sz="1400" dirty="0"/>
          </a:p>
        </p:txBody>
      </p:sp>
      <p:sp>
        <p:nvSpPr>
          <p:cNvPr id="25" name="ph:notes"/>
          <p:cNvSpPr>
            <a:spLocks noGrp="1"/>
          </p:cNvSpPr>
          <p:nvPr>
            <p:ph idx="123" type="body" hasCustomPrompt="1"/>
          </p:nvPr>
        </p:nvSpPr>
        <p:spPr>
          <a:xfrm>
            <a:off x="5486400" y="2706624"/>
            <a:ext cx="3200400" cy="621792"/>
          </a:xfrm>
          <a:prstGeom prst="rect">
            <a:avLst/>
          </a:prstGeom>
          <a:noFill/>
          <a:ln/>
        </p:spPr>
        <p:txBody>
          <a:bodyPr wrap="square" rtlCol="0" lIns="0" tIns="0" rIns="0" bIns="0" anchor="t"/>
          <a:lst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[Reading, ideas, questions for the group]</a:t>
            </a:r>
            <a:endParaRPr lang="en-US" sz="1600" dirty="0"/>
          </a:p>
        </p:txBody>
      </p:sp>
      <p:sp>
        <p:nvSpPr>
          <p:cNvPr id="26" name="Shape 17"/>
          <p:cNvSpPr/>
          <p:nvPr/>
        </p:nvSpPr>
        <p:spPr>
          <a:xfrm>
            <a:off x="5486400" y="3456432"/>
            <a:ext cx="3200400" cy="1078992"/>
          </a:xfrm>
          <a:prstGeom prst="rect">
            <a:avLst/>
          </a:prstGeom>
          <a:solidFill>
            <a:srgbClr val="F3F6FA"/>
          </a:solidFill>
          <a:ln w="12700">
            <a:solidFill>
              <a:srgbClr val="F3F6FA"/>
            </a:solidFill>
            <a:prstDash val="solid"/>
          </a:ln>
        </p:spPr>
      </p:sp>
      <p:sp>
        <p:nvSpPr>
          <p:cNvPr id="27" name="Shape 18"/>
          <p:cNvSpPr/>
          <p:nvPr/>
        </p:nvSpPr>
        <p:spPr>
          <a:xfrm>
            <a:off x="5486400" y="3456432"/>
            <a:ext cx="329184" cy="329184"/>
          </a:xfrm>
          <a:prstGeom prst="rect">
            <a:avLst/>
          </a:prstGeom>
          <a:solidFill>
            <a:srgbClr val="003976"/>
          </a:solidFill>
          <a:ln w="12700">
            <a:solidFill>
              <a:srgbClr val="003976"/>
            </a:solidFill>
            <a:prstDash val="solid"/>
          </a:ln>
        </p:spPr>
      </p:sp>
      <p:sp>
        <p:nvSpPr>
          <p:cNvPr id="28" name="Text 19"/>
          <p:cNvSpPr txBox="1"/>
          <p:nvPr/>
        </p:nvSpPr>
        <p:spPr>
          <a:xfrm>
            <a:off x="5486400" y="3456432"/>
            <a:ext cx="329184" cy="329184"/>
          </a:xfrm>
          <a:prstGeom prst="rect">
            <a:avLst/>
          </a:prstGeom>
          <a:no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5</a:t>
            </a:r>
            <a:endParaRPr lang="en-US" sz="1600" dirty="0"/>
          </a:p>
        </p:txBody>
      </p:sp>
      <p:sp>
        <p:nvSpPr>
          <p:cNvPr id="29" name="Text 20"/>
          <p:cNvSpPr txBox="1"/>
          <p:nvPr/>
        </p:nvSpPr>
        <p:spPr>
          <a:xfrm>
            <a:off x="5907024" y="3456432"/>
            <a:ext cx="2779776" cy="329184"/>
          </a:xfrm>
          <a:prstGeom prst="rect">
            <a:avLst/>
          </a:prstGeom>
          <a:noFill/>
          <a:ln/>
        </p:spPr>
        <p:txBody>
          <a:bodyPr wrap="square" lIns="0" tIns="0" rIns="0" bIns="0" rtlCol="0" anchor="ctr"/>
          <a:lstStyle/>
          <a:p>
            <a:pPr algn="l" indent="0" marL="0">
              <a:buNone/>
            </a:pPr>
            <a:r>
              <a:rPr lang="en-US" sz="1400" b="1" spc="200" kern="0" dirty="0">
                <a:solidFill>
                  <a:srgbClr val="8A6100"/>
                </a:solidFill>
                <a:latin typeface="Source Sans 3" pitchFamily="34" charset="0"/>
                <a:ea typeface="Source Sans 3" pitchFamily="34" charset="-122"/>
                <a:cs typeface="Source Sans 3" pitchFamily="34" charset="-120"/>
              </a:rPr>
              <a:t>MEDIA OF THE WEEK</a:t>
            </a:r>
            <a:endParaRPr lang="en-US" sz="1400" dirty="0"/>
          </a:p>
        </p:txBody>
      </p:sp>
      <p:sp>
        <p:nvSpPr>
          <p:cNvPr id="30" name="ph:media"/>
          <p:cNvSpPr>
            <a:spLocks noGrp="1"/>
          </p:cNvSpPr>
          <p:nvPr>
            <p:ph idx="128" type="body" hasCustomPrompt="1"/>
          </p:nvPr>
        </p:nvSpPr>
        <p:spPr>
          <a:xfrm>
            <a:off x="5577840" y="3858768"/>
            <a:ext cx="3017520" cy="566928"/>
          </a:xfrm>
          <a:prstGeom prst="rect">
            <a:avLst/>
          </a:prstGeom>
          <a:noFill/>
          <a:ln/>
        </p:spPr>
        <p:txBody>
          <a:bodyPr wrap="square" rtlCol="0" lIns="0" tIns="0" rIns="0" bIns="0" anchor="t"/>
          <a:lstStyle>
            <a:lvl1pPr marL="0" indent="0" algn="l">
              <a:lnSpc>
                <a:spcPts val="2000"/>
              </a:lnSpc>
              <a:spcBef>
                <a:spcPts val="0"/>
              </a:spcBef>
              <a:spcAft>
                <a:spcPts val="0"/>
              </a:spcAft>
              <a:buNone/>
              <a:defRPr sz="1600" b="0">
                <a:solidFill>
                  <a:srgbClr val="1B2533"/>
                </a:solidFill>
                <a:latin typeface="Source Sans 3"/>
                <a:ea typeface="Source Sans 3"/>
                <a:cs typeface="Source Sans 3"/>
              </a:defRPr>
            </a:lvl1pPr>
            <a:lvl2pPr marL="0" indent="0" algn="l">
              <a:lnSpc>
                <a:spcPts val="2000"/>
              </a:lnSpc>
              <a:spcBef>
                <a:spcPts val="0"/>
              </a:spcBef>
              <a:spcAft>
                <a:spcPts val="0"/>
              </a:spcAft>
              <a:buNone/>
              <a:defRPr sz="1600" b="0">
                <a:solidFill>
                  <a:srgbClr val="1B2533"/>
                </a:solidFill>
                <a:latin typeface="Source Sans 3"/>
                <a:ea typeface="Source Sans 3"/>
                <a:cs typeface="Source Sans 3"/>
              </a:defRPr>
            </a:lvl2pPr>
            <a:lvl3pPr marL="0" indent="0" algn="l">
              <a:lnSpc>
                <a:spcPts val="2000"/>
              </a:lnSpc>
              <a:spcBef>
                <a:spcPts val="0"/>
              </a:spcBef>
              <a:spcAft>
                <a:spcPts val="0"/>
              </a:spcAft>
              <a:buNone/>
              <a:defRPr sz="1600" b="0">
                <a:solidFill>
                  <a:srgbClr val="1B2533"/>
                </a:solidFill>
                <a:latin typeface="Source Sans 3"/>
                <a:ea typeface="Source Sans 3"/>
                <a:cs typeface="Source Sans 3"/>
              </a:defRPr>
            </a:lvl3pPr>
            <a:lvl4pPr marL="0" indent="0" algn="l">
              <a:lnSpc>
                <a:spcPts val="2000"/>
              </a:lnSpc>
              <a:spcBef>
                <a:spcPts val="0"/>
              </a:spcBef>
              <a:spcAft>
                <a:spcPts val="0"/>
              </a:spcAft>
              <a:buNone/>
              <a:defRPr sz="1600" b="0">
                <a:solidFill>
                  <a:srgbClr val="1B2533"/>
                </a:solidFill>
                <a:latin typeface="Source Sans 3"/>
                <a:ea typeface="Source Sans 3"/>
                <a:cs typeface="Source Sans 3"/>
              </a:defRPr>
            </a:lvl4pPr>
            <a:lvl5pPr marL="0" indent="0" algn="l">
              <a:lnSpc>
                <a:spcPts val="2000"/>
              </a:lnSpc>
              <a:spcBef>
                <a:spcPts val="0"/>
              </a:spcBef>
              <a:spcAft>
                <a:spcPts val="0"/>
              </a:spcAft>
              <a:buNone/>
              <a:defRPr sz="1600" b="0">
                <a:solidFill>
                  <a:srgbClr val="1B2533"/>
                </a:solidFill>
                <a:latin typeface="Source Sans 3"/>
                <a:ea typeface="Source Sans 3"/>
                <a:cs typeface="Source Sans 3"/>
              </a:defRPr>
            </a:lvl5pPr>
          </a:lstStyle>
          <a:p>
            <a:pPr algn="l" indent="0" marL="0">
              <a:lnSpc>
                <a:spcPts val="2000"/>
              </a:lnSpc>
              <a:buNone/>
            </a:pPr>
            <a:r>
              <a:rPr lang="en-US" sz="1600" dirty="0">
                <a:solidFill>
                  <a:srgbClr val="1B2533"/>
                </a:solidFill>
                <a:latin typeface="Source Sans 3" pitchFamily="34" charset="0"/>
                <a:ea typeface="Source Sans 3" pitchFamily="34" charset="-122"/>
                <a:cs typeface="Source Sans 3" pitchFamily="34" charset="-120"/>
              </a:rPr>
              <a:t>[Video or photo title]</a:t>
            </a:r>
            <a:endParaRPr lang="en-US" sz="1600" dirty="0"/>
          </a:p>
          <a:p>
            <a:pPr algn="l" indent="0" marL="0">
              <a:lnSpc>
                <a:spcPts val="2000"/>
              </a:lnSpc>
              <a:buNone/>
            </a:pPr>
            <a:r>
              <a:rPr lang="en-US" sz="1600" dirty="0">
                <a:solidFill>
                  <a:srgbClr val="1B2533"/>
                </a:solidFill>
                <a:latin typeface="Source Sans 3" pitchFamily="34" charset="0"/>
                <a:ea typeface="Source Sans 3" pitchFamily="34" charset="-122"/>
                <a:cs typeface="Source Sans 3" pitchFamily="34" charset="-120"/>
              </a:rPr>
              <a:t>Watch: [link label]</a:t>
            </a:r>
            <a:endParaRPr lang="en-US" sz="1600" dirty="0"/>
          </a:p>
        </p:txBody>
      </p:sp>
      <p:sp>
        <p:nvSpPr>
          <p:cNvPr id="31" name="Shape 21"/>
          <p:cNvSpPr/>
          <p:nvPr/>
        </p:nvSpPr>
        <p:spPr>
          <a:xfrm>
            <a:off x="457200" y="4663440"/>
            <a:ext cx="8229600" cy="0"/>
          </a:xfrm>
          <a:prstGeom prst="line">
            <a:avLst/>
          </a:prstGeom>
          <a:noFill/>
          <a:ln w="9525">
            <a:solidFill>
              <a:srgbClr val="D6DEE8"/>
            </a:solidFill>
            <a:prstDash val="solid"/>
          </a:ln>
        </p:spPr>
      </p:sp>
      <p:sp>
        <p:nvSpPr>
          <p:cNvPr id="32" name="Text 22"/>
          <p:cNvSpPr txBox="1"/>
          <p:nvPr/>
        </p:nvSpPr>
        <p:spPr>
          <a:xfrm>
            <a:off x="457200" y="4700016"/>
            <a:ext cx="4937760" cy="237744"/>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33" name="ph:footer_right"/>
          <p:cNvSpPr>
            <a:spLocks noGrp="1"/>
          </p:cNvSpPr>
          <p:nvPr>
            <p:ph idx="131" type="body" hasCustomPrompt="1"/>
          </p:nvPr>
        </p:nvSpPr>
        <p:spPr>
          <a:xfrm>
            <a:off x="5486400" y="4700016"/>
            <a:ext cx="2743200" cy="237744"/>
          </a:xfrm>
          <a:prstGeom prst="rect">
            <a:avLst/>
          </a:prstGeom>
          <a:noFill/>
          <a:ln/>
        </p:spPr>
        <p:txBody>
          <a:bodyPr wrap="none" rtlCol="0" lIns="0" tIns="0" rIns="0" bIns="0" anchor="ctr"/>
          <a:lstStyle>
            <a:lvl1pPr marL="0" indent="0" algn="r">
              <a:lnSpc>
                <a:spcPts val="1700"/>
              </a:lnSpc>
              <a:spcBef>
                <a:spcPts val="0"/>
              </a:spcBef>
              <a:spcAft>
                <a:spcPts val="0"/>
              </a:spcAft>
              <a:buNone/>
              <a:defRPr sz="1400" b="0">
                <a:solidFill>
                  <a:srgbClr val="003976"/>
                </a:solidFill>
                <a:latin typeface="Source Code Pro"/>
                <a:ea typeface="Source Code Pro"/>
                <a:cs typeface="Source Code Pro"/>
              </a:defRPr>
            </a:lvl1pPr>
            <a:lvl2pPr marL="0" indent="0" algn="r">
              <a:lnSpc>
                <a:spcPts val="1700"/>
              </a:lnSpc>
              <a:spcBef>
                <a:spcPts val="0"/>
              </a:spcBef>
              <a:spcAft>
                <a:spcPts val="0"/>
              </a:spcAft>
              <a:buNone/>
              <a:defRPr sz="1400" b="0">
                <a:solidFill>
                  <a:srgbClr val="003976"/>
                </a:solidFill>
                <a:latin typeface="Source Code Pro"/>
                <a:ea typeface="Source Code Pro"/>
                <a:cs typeface="Source Code Pro"/>
              </a:defRPr>
            </a:lvl2pPr>
            <a:lvl3pPr marL="0" indent="0" algn="r">
              <a:lnSpc>
                <a:spcPts val="1700"/>
              </a:lnSpc>
              <a:spcBef>
                <a:spcPts val="0"/>
              </a:spcBef>
              <a:spcAft>
                <a:spcPts val="0"/>
              </a:spcAft>
              <a:buNone/>
              <a:defRPr sz="1400" b="0">
                <a:solidFill>
                  <a:srgbClr val="003976"/>
                </a:solidFill>
                <a:latin typeface="Source Code Pro"/>
                <a:ea typeface="Source Code Pro"/>
                <a:cs typeface="Source Code Pro"/>
              </a:defRPr>
            </a:lvl3pPr>
            <a:lvl4pPr marL="0" indent="0" algn="r">
              <a:lnSpc>
                <a:spcPts val="1700"/>
              </a:lnSpc>
              <a:spcBef>
                <a:spcPts val="0"/>
              </a:spcBef>
              <a:spcAft>
                <a:spcPts val="0"/>
              </a:spcAft>
              <a:buNone/>
              <a:defRPr sz="1400" b="0">
                <a:solidFill>
                  <a:srgbClr val="003976"/>
                </a:solidFill>
                <a:latin typeface="Source Code Pro"/>
                <a:ea typeface="Source Code Pro"/>
                <a:cs typeface="Source Code Pro"/>
              </a:defRPr>
            </a:lvl4pPr>
            <a:lvl5pPr marL="0" indent="0" algn="r">
              <a:lnSpc>
                <a:spcPts val="1700"/>
              </a:lnSpc>
              <a:spcBef>
                <a:spcPts val="0"/>
              </a:spcBef>
              <a:spcAft>
                <a:spcPts val="0"/>
              </a:spcAft>
              <a:buNone/>
              <a:defRPr sz="1400" b="0">
                <a:solidFill>
                  <a:srgbClr val="003976"/>
                </a:solidFill>
                <a:latin typeface="Source Code Pro"/>
                <a:ea typeface="Source Code Pro"/>
                <a:cs typeface="Source Code Pro"/>
              </a:defRPr>
            </a:lvl5pPr>
          </a:lstStyle>
          <a:p>
            <a:pPr algn="r" indent="0" marL="0">
              <a:lnSpc>
                <a:spcPts val="1700"/>
              </a:lnSpc>
              <a:buNone/>
            </a:pPr>
            <a:r>
              <a:rPr lang="en-US" sz="1400" dirty="0">
                <a:solidFill>
                  <a:srgbClr val="003976"/>
                </a:solidFill>
                <a:latin typeface="Source Code Pro" pitchFamily="34" charset="0"/>
                <a:ea typeface="Source Code Pro" pitchFamily="34" charset="-122"/>
                <a:cs typeface="Source Code Pro" pitchFamily="34" charset="-120"/>
              </a:rPr>
              <a:t>[Internal] · [YYYY-MM-DD]</a:t>
            </a:r>
            <a:endParaRPr lang="en-US" sz="1400" dirty="0"/>
          </a:p>
        </p:txBody>
      </p:sp>
      <p:sp>
        <p:nvSpPr>
          <p:cNvPr id="25" name="Slide Number Placeholder 0"/>
          <p:cNvSpPr>
            <a:spLocks noGrp="1"/>
          </p:cNvSpPr>
          <p:nvPr>
            <p:ph type="sldNum" sz="quarter" idx="4294967295"/>
          </p:nvPr>
        </p:nvSpPr>
        <p:spPr>
          <a:xfrm>
            <a:off x="8321040" y="4700016"/>
            <a:ext cx="36576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400">
                <a:solidFill>
                  <a:srgbClr val="003976"/>
                </a:solidFill>
                <a:latin typeface="Source Code Pro"/>
                <a:ea typeface="Source Code Pro"/>
                <a:cs typeface="Source Code Pr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TR - Quad Blan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28016"/>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74529" y="240030"/>
            <a:ext cx="332270" cy="342900"/>
          </a:xfrm>
          <a:prstGeom prst="rect">
            <a:avLst/>
          </a:prstGeom>
        </p:spPr>
      </p:pic>
      <p:sp>
        <p:nvSpPr>
          <p:cNvPr id="4" name="Shape 1"/>
          <p:cNvSpPr/>
          <p:nvPr/>
        </p:nvSpPr>
        <p:spPr>
          <a:xfrm>
            <a:off x="457200" y="914400"/>
            <a:ext cx="8229600" cy="0"/>
          </a:xfrm>
          <a:prstGeom prst="line">
            <a:avLst/>
          </a:prstGeom>
          <a:noFill/>
          <a:ln w="9525">
            <a:solidFill>
              <a:srgbClr val="D6DEE8"/>
            </a:solidFill>
            <a:prstDash val="solid"/>
          </a:ln>
        </p:spPr>
      </p:sp>
      <p:sp>
        <p:nvSpPr>
          <p:cNvPr id="5" name="ph:title"/>
          <p:cNvSpPr>
            <a:spLocks noGrp="1"/>
          </p:cNvSpPr>
          <p:nvPr>
            <p:ph idx="103" type="title" hasCustomPrompt="1"/>
          </p:nvPr>
        </p:nvSpPr>
        <p:spPr>
          <a:xfrm>
            <a:off x="1207008" y="128016"/>
            <a:ext cx="4279392" cy="713232"/>
          </a:xfrm>
          <a:prstGeom prst="rect">
            <a:avLst/>
          </a:prstGeom>
          <a:noFill/>
          <a:ln/>
        </p:spPr>
        <p:txBody>
          <a:bodyPr wrap="square" rtlCol="0" lIns="0" tIns="0" rIns="0" bIns="0" anchor="t"/>
          <a:lstStyle>
            <a:lvl1pPr marL="0" indent="0" algn="l">
              <a:lnSpc>
                <a:spcPts val="2800"/>
              </a:lnSpc>
              <a:spcBef>
                <a:spcPts val="0"/>
              </a:spcBef>
              <a:spcAft>
                <a:spcPts val="0"/>
              </a:spcAft>
              <a:buNone/>
              <a:defRPr sz="2400" b="1">
                <a:solidFill>
                  <a:srgbClr val="003976"/>
                </a:solidFill>
                <a:latin typeface="Source Sans 3"/>
                <a:ea typeface="Source Sans 3"/>
                <a:cs typeface="Source Sans 3"/>
              </a:defRPr>
            </a:lvl1pPr>
            <a:lvl2pPr marL="0" indent="0" algn="l">
              <a:lnSpc>
                <a:spcPts val="2800"/>
              </a:lnSpc>
              <a:spcBef>
                <a:spcPts val="0"/>
              </a:spcBef>
              <a:spcAft>
                <a:spcPts val="0"/>
              </a:spcAft>
              <a:buNone/>
              <a:defRPr sz="2400" b="1">
                <a:solidFill>
                  <a:srgbClr val="003976"/>
                </a:solidFill>
                <a:latin typeface="Source Sans 3"/>
                <a:ea typeface="Source Sans 3"/>
                <a:cs typeface="Source Sans 3"/>
              </a:defRPr>
            </a:lvl2pPr>
            <a:lvl3pPr marL="0" indent="0" algn="l">
              <a:lnSpc>
                <a:spcPts val="2800"/>
              </a:lnSpc>
              <a:spcBef>
                <a:spcPts val="0"/>
              </a:spcBef>
              <a:spcAft>
                <a:spcPts val="0"/>
              </a:spcAft>
              <a:buNone/>
              <a:defRPr sz="2400" b="1">
                <a:solidFill>
                  <a:srgbClr val="003976"/>
                </a:solidFill>
                <a:latin typeface="Source Sans 3"/>
                <a:ea typeface="Source Sans 3"/>
                <a:cs typeface="Source Sans 3"/>
              </a:defRPr>
            </a:lvl3pPr>
            <a:lvl4pPr marL="0" indent="0" algn="l">
              <a:lnSpc>
                <a:spcPts val="2800"/>
              </a:lnSpc>
              <a:spcBef>
                <a:spcPts val="0"/>
              </a:spcBef>
              <a:spcAft>
                <a:spcPts val="0"/>
              </a:spcAft>
              <a:buNone/>
              <a:defRPr sz="2400" b="1">
                <a:solidFill>
                  <a:srgbClr val="003976"/>
                </a:solidFill>
                <a:latin typeface="Source Sans 3"/>
                <a:ea typeface="Source Sans 3"/>
                <a:cs typeface="Source Sans 3"/>
              </a:defRPr>
            </a:lvl4pPr>
            <a:lvl5pPr marL="0" indent="0" algn="l">
              <a:lnSpc>
                <a:spcPts val="2800"/>
              </a:lnSpc>
              <a:spcBef>
                <a:spcPts val="0"/>
              </a:spcBef>
              <a:spcAft>
                <a:spcPts val="0"/>
              </a:spcAft>
              <a:buNone/>
              <a:defRPr sz="2400" b="1">
                <a:solidFill>
                  <a:srgbClr val="003976"/>
                </a:solidFill>
                <a:latin typeface="Source Sans 3"/>
                <a:ea typeface="Source Sans 3"/>
                <a:cs typeface="Source Sans 3"/>
              </a:defRPr>
            </a:lvl5pPr>
          </a:lstStyle>
          <a:p>
            <a:pPr algn="l" indent="0" marL="0">
              <a:lnSpc>
                <a:spcPts val="2800"/>
              </a:lnSpc>
              <a:buNone/>
            </a:pPr>
            <a:r>
              <a:rPr lang="en-US" sz="2400" b="1" dirty="0">
                <a:solidFill>
                  <a:srgbClr val="003976"/>
                </a:solidFill>
                <a:latin typeface="Source Sans 3" pitchFamily="34" charset="0"/>
                <a:ea typeface="Source Sans 3" pitchFamily="34" charset="-122"/>
                <a:cs typeface="Source Sans 3" pitchFamily="34" charset="-120"/>
              </a:rPr>
              <a:t>[Title]</a:t>
            </a:r>
            <a:endParaRPr lang="en-US" sz="2400" dirty="0"/>
          </a:p>
        </p:txBody>
      </p:sp>
      <p:sp>
        <p:nvSpPr>
          <p:cNvPr id="6" name="ph:meta"/>
          <p:cNvSpPr>
            <a:spLocks noGrp="1"/>
          </p:cNvSpPr>
          <p:nvPr>
            <p:ph idx="104" type="body" hasCustomPrompt="1"/>
          </p:nvPr>
        </p:nvSpPr>
        <p:spPr>
          <a:xfrm>
            <a:off x="5669280" y="128016"/>
            <a:ext cx="3017520" cy="685800"/>
          </a:xfrm>
          <a:prstGeom prst="rect">
            <a:avLst/>
          </a:prstGeom>
          <a:noFill/>
          <a:ln/>
        </p:spPr>
        <p:txBody>
          <a:bodyPr wrap="square" rtlCol="0" lIns="0" tIns="0" rIns="0" bIns="0" anchor="t"/>
          <a:lstStyle>
            <a:lvl1pPr marL="0" indent="0" algn="r">
              <a:lnSpc>
                <a:spcPts val="1800"/>
              </a:lnSpc>
              <a:spcBef>
                <a:spcPts val="0"/>
              </a:spcBef>
              <a:spcAft>
                <a:spcPts val="0"/>
              </a:spcAft>
              <a:buNone/>
              <a:defRPr sz="1400" b="0">
                <a:solidFill>
                  <a:srgbClr val="4A5868"/>
                </a:solidFill>
                <a:latin typeface="Source Sans 3"/>
                <a:ea typeface="Source Sans 3"/>
                <a:cs typeface="Source Sans 3"/>
              </a:defRPr>
            </a:lvl1pPr>
            <a:lvl2pPr marL="0" indent="0" algn="r">
              <a:lnSpc>
                <a:spcPts val="1800"/>
              </a:lnSpc>
              <a:spcBef>
                <a:spcPts val="0"/>
              </a:spcBef>
              <a:spcAft>
                <a:spcPts val="0"/>
              </a:spcAft>
              <a:buNone/>
              <a:defRPr sz="1400" b="0">
                <a:solidFill>
                  <a:srgbClr val="4A5868"/>
                </a:solidFill>
                <a:latin typeface="Source Sans 3"/>
                <a:ea typeface="Source Sans 3"/>
                <a:cs typeface="Source Sans 3"/>
              </a:defRPr>
            </a:lvl2pPr>
            <a:lvl3pPr marL="0" indent="0" algn="r">
              <a:lnSpc>
                <a:spcPts val="1800"/>
              </a:lnSpc>
              <a:spcBef>
                <a:spcPts val="0"/>
              </a:spcBef>
              <a:spcAft>
                <a:spcPts val="0"/>
              </a:spcAft>
              <a:buNone/>
              <a:defRPr sz="1400" b="0">
                <a:solidFill>
                  <a:srgbClr val="4A5868"/>
                </a:solidFill>
                <a:latin typeface="Source Sans 3"/>
                <a:ea typeface="Source Sans 3"/>
                <a:cs typeface="Source Sans 3"/>
              </a:defRPr>
            </a:lvl3pPr>
            <a:lvl4pPr marL="0" indent="0" algn="r">
              <a:lnSpc>
                <a:spcPts val="1800"/>
              </a:lnSpc>
              <a:spcBef>
                <a:spcPts val="0"/>
              </a:spcBef>
              <a:spcAft>
                <a:spcPts val="0"/>
              </a:spcAft>
              <a:buNone/>
              <a:defRPr sz="1400" b="0">
                <a:solidFill>
                  <a:srgbClr val="4A5868"/>
                </a:solidFill>
                <a:latin typeface="Source Sans 3"/>
                <a:ea typeface="Source Sans 3"/>
                <a:cs typeface="Source Sans 3"/>
              </a:defRPr>
            </a:lvl4pPr>
            <a:lvl5pPr marL="0" indent="0" algn="r">
              <a:lnSpc>
                <a:spcPts val="1800"/>
              </a:lnSpc>
              <a:spcBef>
                <a:spcPts val="0"/>
              </a:spcBef>
              <a:spcAft>
                <a:spcPts val="0"/>
              </a:spcAft>
              <a:buNone/>
              <a:defRPr sz="1400" b="0">
                <a:solidFill>
                  <a:srgbClr val="4A5868"/>
                </a:solidFill>
                <a:latin typeface="Source Sans 3"/>
                <a:ea typeface="Source Sans 3"/>
                <a:cs typeface="Source Sans 3"/>
              </a:defRPr>
            </a:lvl5pPr>
          </a:lstStyle>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[Line 1]</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[Line 2]</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[Line 3]</a:t>
            </a:r>
            <a:endParaRPr lang="en-US" sz="1400" dirty="0"/>
          </a:p>
        </p:txBody>
      </p:sp>
      <p:sp>
        <p:nvSpPr>
          <p:cNvPr id="7" name="ph:body"/>
          <p:cNvSpPr>
            <a:spLocks noGrp="1"/>
          </p:cNvSpPr>
          <p:nvPr>
            <p:ph idx="105" type="body" hasCustomPrompt="1"/>
          </p:nvPr>
        </p:nvSpPr>
        <p:spPr>
          <a:xfrm>
            <a:off x="457200" y="1024128"/>
            <a:ext cx="8229600" cy="3511296"/>
          </a:xfrm>
          <a:prstGeom prst="rect">
            <a:avLst/>
          </a:prstGeom>
          <a:noFill/>
          <a:ln/>
        </p:spPr>
        <p:txBody>
          <a:bodyPr wrap="square" rtlCol="0" lIns="0" tIns="0" rIns="0" bIns="0" anchor="t"/>
          <a:lst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[Body text]</a:t>
            </a:r>
            <a:endParaRPr lang="en-US" sz="1600" dirty="0"/>
          </a:p>
        </p:txBody>
      </p:sp>
      <p:sp>
        <p:nvSpPr>
          <p:cNvPr id="8" name="Shape 2"/>
          <p:cNvSpPr/>
          <p:nvPr/>
        </p:nvSpPr>
        <p:spPr>
          <a:xfrm>
            <a:off x="457200" y="4663440"/>
            <a:ext cx="8229600" cy="0"/>
          </a:xfrm>
          <a:prstGeom prst="line">
            <a:avLst/>
          </a:prstGeom>
          <a:noFill/>
          <a:ln w="9525">
            <a:solidFill>
              <a:srgbClr val="D6DEE8"/>
            </a:solidFill>
            <a:prstDash val="solid"/>
          </a:ln>
        </p:spPr>
      </p:sp>
      <p:sp>
        <p:nvSpPr>
          <p:cNvPr id="9" name="Text 3"/>
          <p:cNvSpPr txBox="1"/>
          <p:nvPr/>
        </p:nvSpPr>
        <p:spPr>
          <a:xfrm>
            <a:off x="457200" y="4700016"/>
            <a:ext cx="4937760" cy="237744"/>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10" name="ph:footer_right"/>
          <p:cNvSpPr>
            <a:spLocks noGrp="1"/>
          </p:cNvSpPr>
          <p:nvPr>
            <p:ph idx="108" type="body" hasCustomPrompt="1"/>
          </p:nvPr>
        </p:nvSpPr>
        <p:spPr>
          <a:xfrm>
            <a:off x="5486400" y="4700016"/>
            <a:ext cx="2743200" cy="237744"/>
          </a:xfrm>
          <a:prstGeom prst="rect">
            <a:avLst/>
          </a:prstGeom>
          <a:noFill/>
          <a:ln/>
        </p:spPr>
        <p:txBody>
          <a:bodyPr wrap="none" rtlCol="0" lIns="0" tIns="0" rIns="0" bIns="0" anchor="ctr"/>
          <a:lstStyle>
            <a:lvl1pPr marL="0" indent="0" algn="r">
              <a:lnSpc>
                <a:spcPts val="1700"/>
              </a:lnSpc>
              <a:spcBef>
                <a:spcPts val="0"/>
              </a:spcBef>
              <a:spcAft>
                <a:spcPts val="0"/>
              </a:spcAft>
              <a:buNone/>
              <a:defRPr sz="1400" b="0">
                <a:solidFill>
                  <a:srgbClr val="003976"/>
                </a:solidFill>
                <a:latin typeface="Source Code Pro"/>
                <a:ea typeface="Source Code Pro"/>
                <a:cs typeface="Source Code Pro"/>
              </a:defRPr>
            </a:lvl1pPr>
            <a:lvl2pPr marL="0" indent="0" algn="r">
              <a:lnSpc>
                <a:spcPts val="1700"/>
              </a:lnSpc>
              <a:spcBef>
                <a:spcPts val="0"/>
              </a:spcBef>
              <a:spcAft>
                <a:spcPts val="0"/>
              </a:spcAft>
              <a:buNone/>
              <a:defRPr sz="1400" b="0">
                <a:solidFill>
                  <a:srgbClr val="003976"/>
                </a:solidFill>
                <a:latin typeface="Source Code Pro"/>
                <a:ea typeface="Source Code Pro"/>
                <a:cs typeface="Source Code Pro"/>
              </a:defRPr>
            </a:lvl2pPr>
            <a:lvl3pPr marL="0" indent="0" algn="r">
              <a:lnSpc>
                <a:spcPts val="1700"/>
              </a:lnSpc>
              <a:spcBef>
                <a:spcPts val="0"/>
              </a:spcBef>
              <a:spcAft>
                <a:spcPts val="0"/>
              </a:spcAft>
              <a:buNone/>
              <a:defRPr sz="1400" b="0">
                <a:solidFill>
                  <a:srgbClr val="003976"/>
                </a:solidFill>
                <a:latin typeface="Source Code Pro"/>
                <a:ea typeface="Source Code Pro"/>
                <a:cs typeface="Source Code Pro"/>
              </a:defRPr>
            </a:lvl3pPr>
            <a:lvl4pPr marL="0" indent="0" algn="r">
              <a:lnSpc>
                <a:spcPts val="1700"/>
              </a:lnSpc>
              <a:spcBef>
                <a:spcPts val="0"/>
              </a:spcBef>
              <a:spcAft>
                <a:spcPts val="0"/>
              </a:spcAft>
              <a:buNone/>
              <a:defRPr sz="1400" b="0">
                <a:solidFill>
                  <a:srgbClr val="003976"/>
                </a:solidFill>
                <a:latin typeface="Source Code Pro"/>
                <a:ea typeface="Source Code Pro"/>
                <a:cs typeface="Source Code Pro"/>
              </a:defRPr>
            </a:lvl4pPr>
            <a:lvl5pPr marL="0" indent="0" algn="r">
              <a:lnSpc>
                <a:spcPts val="1700"/>
              </a:lnSpc>
              <a:spcBef>
                <a:spcPts val="0"/>
              </a:spcBef>
              <a:spcAft>
                <a:spcPts val="0"/>
              </a:spcAft>
              <a:buNone/>
              <a:defRPr sz="1400" b="0">
                <a:solidFill>
                  <a:srgbClr val="003976"/>
                </a:solidFill>
                <a:latin typeface="Source Code Pro"/>
                <a:ea typeface="Source Code Pro"/>
                <a:cs typeface="Source Code Pro"/>
              </a:defRPr>
            </a:lvl5pPr>
          </a:lstStyle>
          <a:p>
            <a:pPr algn="r" indent="0" marL="0">
              <a:lnSpc>
                <a:spcPts val="1700"/>
              </a:lnSpc>
              <a:buNone/>
            </a:pPr>
            <a:r>
              <a:rPr lang="en-US" sz="1400" dirty="0">
                <a:solidFill>
                  <a:srgbClr val="003976"/>
                </a:solidFill>
                <a:latin typeface="Source Code Pro" pitchFamily="34" charset="0"/>
                <a:ea typeface="Source Code Pro" pitchFamily="34" charset="-122"/>
                <a:cs typeface="Source Code Pro" pitchFamily="34" charset="-120"/>
              </a:rPr>
              <a:t>[Internal] · [YYYY-MM-DD]</a:t>
            </a:r>
            <a:endParaRPr lang="en-US" sz="1400" dirty="0"/>
          </a:p>
        </p:txBody>
      </p:sp>
      <p:sp>
        <p:nvSpPr>
          <p:cNvPr id="25" name="Slide Number Placeholder 0"/>
          <p:cNvSpPr>
            <a:spLocks noGrp="1"/>
          </p:cNvSpPr>
          <p:nvPr>
            <p:ph type="sldNum" sz="quarter" idx="4294967295"/>
          </p:nvPr>
        </p:nvSpPr>
        <p:spPr>
          <a:xfrm>
            <a:off x="8321040" y="4700016"/>
            <a:ext cx="36576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400">
                <a:solidFill>
                  <a:srgbClr val="003976"/>
                </a:solidFill>
                <a:latin typeface="Source Code Pro"/>
                <a:ea typeface="Source Code Pro"/>
                <a:cs typeface="Source Code Pro"/>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00016"/>
            <a:ext cx="36576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400">
                <a:solidFill>
                  <a:srgbClr val="003976"/>
                </a:solidFill>
                <a:latin typeface="Source Code Pro"/>
                <a:ea typeface="Source Code Pro"/>
                <a:cs typeface="Source Code Pr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Lst>
  <p:hf sldNum="1" hdr="0" ftr="0" dt="0"/>
  <p:txStyles>
    <p:titleStyle>
      <a:lvl1pPr marL="0" indent="0" algn="l">
        <a:lnSpc>
          <a:spcPts val="2800"/>
        </a:lnSpc>
        <a:spcBef>
          <a:spcPts val="0"/>
        </a:spcBef>
        <a:spcAft>
          <a:spcPts val="0"/>
        </a:spcAft>
        <a:buNone/>
        <a:defRPr sz="2400" b="1">
          <a:solidFill>
            <a:srgbClr val="003976"/>
          </a:solidFill>
          <a:latin typeface="Source Sans 3"/>
          <a:ea typeface="Source Sans 3"/>
          <a:cs typeface="Source Sans 3"/>
        </a:defRPr>
      </a:lvl1pPr>
    </p:titleStyle>
    <p:bodyStyle>
      <a:lvl1pPr marL="177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1pPr>
      <a:lvl2pPr marL="355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2pPr>
      <a:lvl3pPr marL="533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3pPr>
      <a:lvl4pPr marL="711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4pPr>
      <a:lvl5pPr marL="8890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5pPr>
      <a:lvl6pPr marL="10668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6pPr>
      <a:lvl7pPr marL="12446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7pPr>
      <a:lvl8pPr marL="14224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8pPr>
      <a:lvl9pPr marL="1600200" indent="-177800" algn="l">
        <a:lnSpc>
          <a:spcPts val="2000"/>
        </a:lnSpc>
        <a:spcBef>
          <a:spcPts val="0"/>
        </a:spcBef>
        <a:spcAft>
          <a:spcPts val="0"/>
        </a:spcAft>
        <a:buClr>
          <a:srgbClr val="1B2533"/>
        </a:buClr>
        <a:buSzPct val="100000"/>
        <a:buFont typeface="Source Sans 3"/>
        <a:buChar char="▸"/>
        <a:defRPr sz="1600" b="0">
          <a:solidFill>
            <a:srgbClr val="1B2533"/>
          </a:solidFill>
          <a:latin typeface="Source Sans 3"/>
          <a:ea typeface="Source Sans 3"/>
          <a:cs typeface="Source Sans 3"/>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h:title"/>
          <p:cNvSpPr/>
          <p:nvPr>
            <p:ph idx="103" type="title" hasCustomPrompt="1"/>
          </p:nvPr>
        </p:nvSpPr>
        <p:spPr>
          <a:xfrm>
            <a:off x="1207008" y="109728"/>
            <a:ext cx="4507992" cy="585216"/>
          </a:xfrm>
          <a:prstGeom prst="rect">
            <a:avLst/>
          </a:prstGeom>
          <a:noFill/>
          <a:ln/>
        </p:spPr>
        <p:txBody>
          <a:bodyPr wrap="square" lIns="0" tIns="0" rIns="0" bIns="0" rtlCol="0" anchor="t"/>
          <a:lstStyle/>
          <a:p>
            <a:pPr algn="l" indent="0" marL="0">
              <a:lnSpc>
                <a:spcPts val="2300"/>
              </a:lnSpc>
              <a:buNone/>
            </a:pPr>
            <a:r>
              <a:rPr lang="en-US" sz="2000" b="1" dirty="0">
                <a:solidFill>
                  <a:srgbClr val="003976"/>
                </a:solidFill>
                <a:latin typeface="Arial" pitchFamily="34" charset="0"/>
                <a:ea typeface="Arial" pitchFamily="34" charset="-122"/>
                <a:cs typeface="Arial" pitchFamily="34" charset="-120"/>
              </a:rPr>
              <a:t>[Attention-grabbing title: the finding, not the paper title]</a:t>
            </a:r>
            <a:endParaRPr lang="en-US" sz="2000" dirty="0"/>
          </a:p>
        </p:txBody>
      </p:sp>
      <p:sp>
        <p:nvSpPr>
          <p:cNvPr id="3" name="ph:meta"/>
          <p:cNvSpPr/>
          <p:nvPr>
            <p:ph idx="105" type="body" hasCustomPrompt="1"/>
          </p:nvPr>
        </p:nvSpPr>
        <p:spPr>
          <a:xfrm>
            <a:off x="5897880" y="292608"/>
            <a:ext cx="2788920" cy="411480"/>
          </a:xfrm>
          <a:prstGeom prst="rect">
            <a:avLst/>
          </a:prstGeom>
          <a:noFill/>
          <a:ln/>
        </p:spPr>
        <p:txBody>
          <a:bodyPr wrap="square" lIns="0" tIns="0" rIns="0" bIns="0" rtlCol="0" anchor="t"/>
          <a:lstStyle/>
          <a:p>
            <a:pPr algn="r" indent="0" marL="0">
              <a:lnSpc>
                <a:spcPts val="1600"/>
              </a:lnSpc>
              <a:buNone/>
            </a:pPr>
            <a:r>
              <a:rPr lang="en-US" sz="1400" dirty="0">
                <a:solidFill>
                  <a:srgbClr val="003976"/>
                </a:solidFill>
                <a:latin typeface="Arial" pitchFamily="34" charset="0"/>
                <a:ea typeface="Arial" pitchFamily="34" charset="-122"/>
                <a:cs typeface="Arial" pitchFamily="34" charset="-120"/>
              </a:rPr>
              <a:t>[PI Name]</a:t>
            </a:r>
            <a:endParaRPr lang="en-US" sz="1400" dirty="0"/>
          </a:p>
          <a:p>
            <a:pPr algn="r" indent="0" marL="0">
              <a:lnSpc>
                <a:spcPts val="1600"/>
              </a:lnSpc>
              <a:buNone/>
            </a:pPr>
            <a:r>
              <a:rPr lang="en-US" sz="1400" dirty="0">
                <a:solidFill>
                  <a:srgbClr val="003976"/>
                </a:solidFill>
                <a:latin typeface="Arial" pitchFamily="34" charset="0"/>
                <a:ea typeface="Arial" pitchFamily="34" charset="-122"/>
                <a:cs typeface="Arial" pitchFamily="34" charset="-120"/>
              </a:rPr>
              <a:t>[NASA program]  ·  [Month YYYY]</a:t>
            </a:r>
            <a:endParaRPr lang="en-US" sz="1400" dirty="0"/>
          </a:p>
        </p:txBody>
      </p:sp>
      <p:sp>
        <p:nvSpPr>
          <p:cNvPr id="4" name="ph:citation"/>
          <p:cNvSpPr/>
          <p:nvPr>
            <p:ph idx="106" type="body" hasCustomPrompt="1"/>
          </p:nvPr>
        </p:nvSpPr>
        <p:spPr>
          <a:xfrm>
            <a:off x="1207008" y="704088"/>
            <a:ext cx="7479792" cy="210312"/>
          </a:xfrm>
          <a:prstGeom prst="rect">
            <a:avLst/>
          </a:prstGeom>
          <a:noFill/>
          <a:ln/>
        </p:spPr>
        <p:txBody>
          <a:bodyPr wrap="square" lIns="0" tIns="0" rIns="0" bIns="0" rtlCol="0" anchor="t"/>
          <a:lstStyle/>
          <a:p>
            <a:pPr algn="l" indent="0" marL="0">
              <a:lnSpc>
                <a:spcPts val="1600"/>
              </a:lnSpc>
              <a:buNone/>
            </a:pPr>
            <a:r>
              <a:rPr lang="en-US" sz="1400" dirty="0">
                <a:solidFill>
                  <a:srgbClr val="003976"/>
                </a:solidFill>
                <a:latin typeface="Arial" pitchFamily="34" charset="0"/>
                <a:ea typeface="Arial" pitchFamily="34" charset="-122"/>
                <a:cs typeface="Arial" pitchFamily="34" charset="-120"/>
              </a:rPr>
              <a:t>[Author] et al. (Year), [Journal], doi:10.xxxx/xxxxx</a:t>
            </a:r>
            <a:endParaRPr lang="en-US" sz="1400" dirty="0"/>
          </a:p>
        </p:txBody>
      </p:sp>
      <p:sp>
        <p:nvSpPr>
          <p:cNvPr id="5" name="ph:q1"/>
          <p:cNvSpPr/>
          <p:nvPr>
            <p:ph idx="112" type="body" hasCustomPrompt="1"/>
          </p:nvPr>
        </p:nvSpPr>
        <p:spPr>
          <a:xfrm>
            <a:off x="457200" y="1408176"/>
            <a:ext cx="4000500" cy="1024128"/>
          </a:xfrm>
          <a:prstGeom prst="rect">
            <a:avLst/>
          </a:prstGeom>
          <a:noFill/>
          <a:ln/>
        </p:spPr>
        <p:txBody>
          <a:bodyPr wrap="square" lIns="0" tIns="0" rIns="0" bIns="0" rtlCol="0" anchor="t"/>
          <a:lstStyle/>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[The question answered and why it matters]</a:t>
            </a:r>
            <a:endParaRPr lang="en-US" sz="1400" dirty="0"/>
          </a:p>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[Plain language, no jargon, up to 3 bullets]</a:t>
            </a:r>
            <a:endParaRPr lang="en-US" sz="1400" dirty="0"/>
          </a:p>
        </p:txBody>
      </p:sp>
      <p:sp>
        <p:nvSpPr>
          <p:cNvPr id="6" name="ph:q2"/>
          <p:cNvSpPr/>
          <p:nvPr>
            <p:ph idx="116" type="body" hasCustomPrompt="1"/>
          </p:nvPr>
        </p:nvSpPr>
        <p:spPr>
          <a:xfrm>
            <a:off x="4686300" y="1408176"/>
            <a:ext cx="4000500" cy="1024128"/>
          </a:xfrm>
          <a:prstGeom prst="rect">
            <a:avLst/>
          </a:prstGeom>
          <a:noFill/>
          <a:ln/>
        </p:spPr>
        <p:txBody>
          <a:bodyPr wrap="square" lIns="0" tIns="0" rIns="0" bIns="0" rtlCol="0" anchor="t"/>
          <a:lstStyle/>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[What was done and learned: data, methods]</a:t>
            </a:r>
            <a:endParaRPr lang="en-US" sz="1400" dirty="0"/>
          </a:p>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NASA resources used: [satellites, datasets]</a:t>
            </a:r>
            <a:endParaRPr lang="en-US" sz="1400" dirty="0"/>
          </a:p>
        </p:txBody>
      </p:sp>
      <p:sp>
        <p:nvSpPr>
          <p:cNvPr id="11" name="ph:q3fig1"/>
          <p:cNvSpPr>
            <a:spLocks noGrp="1"/>
          </p:cNvSpPr>
          <p:nvPr>
            <p:ph idx="120" type="pic"/>
          </p:nvPr>
        </p:nvSpPr>
        <p:spPr>
          <a:xfrm>
            <a:off x="457200" y="2944368"/>
            <a:ext cx="1920240" cy="1060704"/>
          </a:xfrm>
          <a:prstGeom prst="rect">
            <a:avLst/>
          </a:prstGeom>
          <a:solidFill>
            <a:srgbClr val="F3F6FA"/>
          </a:solidFill>
          <a:ln/>
        </p:spPr>
        <p:txBody>
          <a:bodyPr wrap="square" lIns="0" tIns="0" rIns="0" bIns="0" rtlCol="0" anchor="t"/>
          <a:lstStyle/>
          <a:p>
            <a:pPr algn="l" indent="0" marL="0">
              <a:lnSpc>
                <a:spcPts val="1600"/>
              </a:lnSpc>
              <a:buNone/>
            </a:pPr>
            <a:endParaRPr lang="en-US" sz="1400" dirty="0"/>
          </a:p>
        </p:txBody>
      </p:sp>
      <p:sp>
        <p:nvSpPr>
          <p:cNvPr id="12" name="ph:q3fig2"/>
          <p:cNvSpPr>
            <a:spLocks noGrp="1"/>
          </p:cNvSpPr>
          <p:nvPr>
            <p:ph idx="121" type="pic"/>
          </p:nvPr>
        </p:nvSpPr>
        <p:spPr>
          <a:xfrm>
            <a:off x="2537460" y="2944368"/>
            <a:ext cx="1920240" cy="1060704"/>
          </a:xfrm>
          <a:prstGeom prst="rect">
            <a:avLst/>
          </a:prstGeom>
          <a:solidFill>
            <a:srgbClr val="F3F6FA"/>
          </a:solidFill>
          <a:ln/>
        </p:spPr>
        <p:txBody>
          <a:bodyPr wrap="square" lIns="0" tIns="0" rIns="0" bIns="0" rtlCol="0" anchor="t"/>
          <a:lstStyle/>
          <a:p>
            <a:pPr algn="l" indent="0" marL="0">
              <a:lnSpc>
                <a:spcPts val="1600"/>
              </a:lnSpc>
              <a:buNone/>
            </a:pPr>
            <a:endParaRPr lang="en-US" sz="1400" dirty="0"/>
          </a:p>
        </p:txBody>
      </p:sp>
      <p:sp>
        <p:nvSpPr>
          <p:cNvPr id="7" name="ph:q3cap"/>
          <p:cNvSpPr/>
          <p:nvPr>
            <p:ph idx="122" type="body" hasCustomPrompt="1"/>
          </p:nvPr>
        </p:nvSpPr>
        <p:spPr>
          <a:xfrm>
            <a:off x="457200" y="4032504"/>
            <a:ext cx="4000500" cy="210312"/>
          </a:xfrm>
          <a:prstGeom prst="rect">
            <a:avLst/>
          </a:prstGeom>
          <a:noFill/>
          <a:ln/>
        </p:spPr>
        <p:txBody>
          <a:bodyPr wrap="square" lIns="0" tIns="0" rIns="0" bIns="0" rtlCol="0" anchor="t"/>
          <a:lstStyle/>
          <a:p>
            <a:pPr algn="l" indent="0" marL="0">
              <a:lnSpc>
                <a:spcPts val="1600"/>
              </a:lnSpc>
              <a:buNone/>
            </a:pPr>
            <a:r>
              <a:rPr lang="en-US" sz="1400" dirty="0">
                <a:solidFill>
                  <a:srgbClr val="000000"/>
                </a:solidFill>
                <a:latin typeface="Arial" pitchFamily="34" charset="0"/>
                <a:ea typeface="Arial" pitchFamily="34" charset="-122"/>
                <a:cs typeface="Arial" pitchFamily="34" charset="-120"/>
              </a:rPr>
              <a:t>Fig. 1: [caption; axes labeled, units, color bar]</a:t>
            </a:r>
            <a:endParaRPr lang="en-US" sz="1400" dirty="0"/>
          </a:p>
        </p:txBody>
      </p:sp>
      <p:sp>
        <p:nvSpPr>
          <p:cNvPr id="8" name="ph:q4"/>
          <p:cNvSpPr/>
          <p:nvPr>
            <p:ph idx="126" type="body" hasCustomPrompt="1"/>
          </p:nvPr>
        </p:nvSpPr>
        <p:spPr>
          <a:xfrm>
            <a:off x="4686300" y="2944368"/>
            <a:ext cx="4000500" cy="1298448"/>
          </a:xfrm>
          <a:prstGeom prst="rect">
            <a:avLst/>
          </a:prstGeom>
          <a:noFill/>
          <a:ln/>
        </p:spPr>
        <p:txBody>
          <a:bodyPr wrap="square" lIns="0" tIns="0" rIns="0" bIns="0" rtlCol="0" anchor="t"/>
          <a:lstStyle/>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[1 to 3 most significant results and how they contribute to society or Earth system science]</a:t>
            </a:r>
            <a:endParaRPr lang="en-US" sz="1400" dirty="0"/>
          </a:p>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[Accomplishments, not activities]</a:t>
            </a:r>
            <a:endParaRPr lang="en-US" sz="1400" dirty="0"/>
          </a:p>
        </p:txBody>
      </p:sp>
      <p:sp>
        <p:nvSpPr>
          <p:cNvPr id="9" name="ph:ack"/>
          <p:cNvSpPr/>
          <p:nvPr>
            <p:ph idx="130" type="body" hasCustomPrompt="1"/>
          </p:nvPr>
        </p:nvSpPr>
        <p:spPr>
          <a:xfrm>
            <a:off x="2834640" y="4325112"/>
            <a:ext cx="5852160" cy="612648"/>
          </a:xfrm>
          <a:prstGeom prst="rect">
            <a:avLst/>
          </a:prstGeom>
          <a:noFill/>
          <a:ln/>
        </p:spPr>
        <p:txBody>
          <a:bodyPr wrap="square" lIns="0" tIns="0" rIns="0" bIns="0" rtlCol="0" anchor="t"/>
          <a:lstStyle/>
          <a:p>
            <a:pPr algn="l" indent="0" marL="0">
              <a:lnSpc>
                <a:spcPts val="1600"/>
              </a:lnSpc>
              <a:buNone/>
            </a:pPr>
            <a:r>
              <a:rPr lang="en-US" sz="1400" dirty="0">
                <a:solidFill>
                  <a:srgbClr val="003976"/>
                </a:solidFill>
                <a:latin typeface="Arial" pitchFamily="34" charset="0"/>
                <a:ea typeface="Arial" pitchFamily="34" charset="-122"/>
                <a:cs typeface="Arial" pitchFamily="34" charset="-120"/>
              </a:rPr>
              <a:t>This work was supported by the National Aeronautics and Space Administration under Grant/Contract/Agreement No. [xxxx] and was part of the [NASA program name] program.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h:title"/>
          <p:cNvSpPr/>
          <p:nvPr>
            <p:ph idx="103" type="title" hasCustomPrompt="1"/>
          </p:nvPr>
        </p:nvSpPr>
        <p:spPr>
          <a:xfrm>
            <a:off x="1207008" y="128016"/>
            <a:ext cx="4023360" cy="713232"/>
          </a:xfrm>
          <a:prstGeom prst="rect">
            <a:avLst/>
          </a:prstGeom>
          <a:noFill/>
          <a:ln/>
        </p:spPr>
        <p:txBody>
          <a:bodyPr wrap="square" lIns="0" tIns="0" rIns="0" bIns="0" rtlCol="0" anchor="t"/>
          <a:lstStyle/>
          <a:p>
            <a:pPr algn="l" indent="0" marL="0">
              <a:lnSpc>
                <a:spcPts val="2800"/>
              </a:lnSpc>
              <a:buNone/>
            </a:pPr>
            <a:r>
              <a:rPr lang="en-US" sz="2400" b="1" dirty="0">
                <a:solidFill>
                  <a:srgbClr val="003976"/>
                </a:solidFill>
                <a:latin typeface="Source Sans 3" pitchFamily="34" charset="0"/>
                <a:ea typeface="Source Sans 3" pitchFamily="34" charset="-122"/>
                <a:cs typeface="Source Sans 3" pitchFamily="34" charset="-120"/>
              </a:rPr>
              <a:t>[Project title: a goal, not a paper title]</a:t>
            </a:r>
            <a:endParaRPr lang="en-US" sz="2400" dirty="0"/>
          </a:p>
        </p:txBody>
      </p:sp>
      <p:sp>
        <p:nvSpPr>
          <p:cNvPr id="3" name="ph:meta"/>
          <p:cNvSpPr/>
          <p:nvPr>
            <p:ph idx="104" type="body" hasCustomPrompt="1"/>
          </p:nvPr>
        </p:nvSpPr>
        <p:spPr>
          <a:xfrm>
            <a:off x="5440680" y="128016"/>
            <a:ext cx="3246120" cy="685800"/>
          </a:xfrm>
          <a:prstGeom prst="rect">
            <a:avLst/>
          </a:prstGeom>
          <a:noFill/>
          <a:ln/>
        </p:spPr>
        <p:txBody>
          <a:bodyPr wrap="square" lIns="0" tIns="0" rIns="0" bIns="0" rtlCol="0" anchor="t"/>
          <a:lstStyle/>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PI: [PI Name]  ·  POC: [email]</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[Sponsor]  ·  Award [No.]</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[Mon YYYY] to [Mon YYYY]</a:t>
            </a:r>
            <a:endParaRPr lang="en-US" sz="1400" dirty="0"/>
          </a:p>
        </p:txBody>
      </p:sp>
      <p:sp>
        <p:nvSpPr>
          <p:cNvPr id="4" name="ph:q1"/>
          <p:cNvSpPr/>
          <p:nvPr>
            <p:ph idx="111" type="body" hasCustomPrompt="1"/>
          </p:nvPr>
        </p:nvSpPr>
        <p:spPr>
          <a:xfrm>
            <a:off x="457200" y="1408176"/>
            <a:ext cx="2377440" cy="1289304"/>
          </a:xfrm>
          <a:prstGeom prst="rect">
            <a:avLst/>
          </a:prstGeom>
          <a:noFill/>
          <a:ln/>
        </p:spPr>
        <p:txBody>
          <a:bodyPr wrap="square" lIns="0" tIns="0" rIns="0" bIns="0" rtlCol="0" anchor="t"/>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[Objective: the need and the goal in one sentence]</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[Description: what the system or study is]</a:t>
            </a:r>
            <a:endParaRPr lang="en-US" sz="1600" dirty="0"/>
          </a:p>
        </p:txBody>
      </p:sp>
      <p:sp>
        <p:nvSpPr>
          <p:cNvPr id="11" name="ph:q1img"/>
          <p:cNvSpPr>
            <a:spLocks noGrp="1"/>
          </p:cNvSpPr>
          <p:nvPr>
            <p:ph idx="112" type="pic"/>
          </p:nvPr>
        </p:nvSpPr>
        <p:spPr>
          <a:xfrm>
            <a:off x="3040380" y="1408176"/>
            <a:ext cx="1417320" cy="1060704"/>
          </a:xfrm>
          <a:prstGeom prst="rect">
            <a:avLst/>
          </a:prstGeom>
          <a:solidFill>
            <a:srgbClr val="F3F6FA"/>
          </a:solidFill>
          <a:ln/>
        </p:spPr>
        <p:txBody>
          <a:bodyPr wrap="square" lIns="0" tIns="0" rIns="0" bIns="0" rtlCol="0" anchor="t"/>
          <a:lstStyle/>
          <a:p>
            <a:pPr algn="l" indent="0" marL="0">
              <a:lnSpc>
                <a:spcPts val="2000"/>
              </a:lnSpc>
              <a:buNone/>
            </a:pPr>
            <a:endParaRPr lang="en-US" sz="1600" dirty="0"/>
          </a:p>
        </p:txBody>
      </p:sp>
      <p:sp>
        <p:nvSpPr>
          <p:cNvPr id="5" name="ph:q2"/>
          <p:cNvSpPr/>
          <p:nvPr>
            <p:ph idx="116" type="body" hasCustomPrompt="1"/>
          </p:nvPr>
        </p:nvSpPr>
        <p:spPr>
          <a:xfrm>
            <a:off x="4686300" y="1408176"/>
            <a:ext cx="4000500" cy="1289304"/>
          </a:xfrm>
          <a:prstGeom prst="rect">
            <a:avLst/>
          </a:prstGeom>
          <a:noFill/>
          <a:ln/>
        </p:spPr>
        <p:txBody>
          <a:bodyPr wrap="square" lIns="0" tIns="0" rIns="0" bIns="0" rtlCol="0" anchor="t"/>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[How the technology achieves the objective]</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[Key challenge and how it is addressed]</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[Work to date, in findings not activities]</a:t>
            </a:r>
            <a:endParaRPr lang="en-US" sz="1600" dirty="0"/>
          </a:p>
        </p:txBody>
      </p:sp>
      <p:sp>
        <p:nvSpPr>
          <p:cNvPr id="6" name="ph:q4"/>
          <p:cNvSpPr/>
          <p:nvPr>
            <p:ph idx="124" type="body" hasCustomPrompt="1"/>
          </p:nvPr>
        </p:nvSpPr>
        <p:spPr>
          <a:xfrm>
            <a:off x="4686300" y="3246120"/>
            <a:ext cx="4000500" cy="1289304"/>
          </a:xfrm>
          <a:prstGeom prst="rect">
            <a:avLst/>
          </a:prstGeom>
          <a:noFill/>
          <a:ln/>
        </p:spPr>
        <p:txBody>
          <a:bodyPr wrap="square" lIns="0" tIns="0" rIns="0" bIns="0" rtlCol="0" anchor="t"/>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Impact: [who benefits and how]</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Deliverables: [software, data, paper, demo]</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Transition or next steps: [next period]</a:t>
            </a:r>
            <a:endParaRPr lang="en-US" sz="1600" dirty="0"/>
          </a:p>
        </p:txBody>
      </p:sp>
      <p:graphicFrame>
        <p:nvGraphicFramePr>
          <p:cNvPr id="3" name="Milestone table"/>
          <p:cNvGraphicFramePr>
            <a:graphicFrameLocks noGrp="1"/>
          </p:cNvGraphicFramePr>
          <p:nvPr>
            <p:extLst>
              <p:ext uri="{D42A27DB-BD31-4B8C-83A1-F6EECF244321}">
                <p14:modId xmlns:p14="http://schemas.microsoft.com/office/powerpoint/2010/main" val="1579011935"/>
              </p:ext>
            </p:extLst>
          </p:nvPr>
        </p:nvGraphicFramePr>
        <p:xfrm>
          <a:off x="457200" y="3218688"/>
          <a:ext cx="4000500" cy="914400"/>
        </p:xfrm>
        <a:graphic>
          <a:graphicData uri="http://schemas.openxmlformats.org/drawingml/2006/table">
            <a:tbl>
              <a:tblPr firstRow="1"/>
              <a:tblGrid>
                <a:gridCol w="1700784"/>
                <a:gridCol w="969264"/>
                <a:gridCol w="1330452"/>
              </a:tblGrid>
              <a:tr h="219456">
                <a:tc>
                  <a:txBody>
                    <a:bodyPr/>
                    <a:lstStyle/>
                    <a:p>
                      <a:pPr indent="0" marL="0">
                        <a:lnSpc>
                          <a:spcPts val="1550"/>
                        </a:lnSpc>
                        <a:buNone/>
                      </a:pPr>
                      <a:r>
                        <a:rPr lang="en-US" sz="1400" b="1" dirty="0">
                          <a:solidFill>
                            <a:srgbClr val="FFFFFF"/>
                          </a:solidFill>
                          <a:latin typeface="Source Sans 3" pitchFamily="34" charset="0"/>
                          <a:ea typeface="Source Sans 3" pitchFamily="34" charset="-122"/>
                          <a:cs typeface="Source Sans 3" pitchFamily="34" charset="-120"/>
                        </a:rPr>
                        <a:t>Milestone</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0" cap="flat" cmpd="sng" algn="ctr">
                      <a:noFill/>
                    </a:lnB>
                    <a:solidFill>
                      <a:srgbClr val="003976"/>
                    </a:solidFill>
                  </a:tcPr>
                </a:tc>
                <a:tc>
                  <a:txBody>
                    <a:bodyPr/>
                    <a:lstStyle/>
                    <a:p>
                      <a:pPr indent="0" marL="0">
                        <a:lnSpc>
                          <a:spcPts val="1550"/>
                        </a:lnSpc>
                        <a:buNone/>
                      </a:pPr>
                      <a:r>
                        <a:rPr lang="en-US" sz="1400" b="1" dirty="0">
                          <a:solidFill>
                            <a:srgbClr val="FFFFFF"/>
                          </a:solidFill>
                          <a:latin typeface="Source Sans 3" pitchFamily="34" charset="0"/>
                          <a:ea typeface="Source Sans 3" pitchFamily="34" charset="-122"/>
                          <a:cs typeface="Source Sans 3" pitchFamily="34" charset="-120"/>
                        </a:rPr>
                        <a:t>Target</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0" cap="flat" cmpd="sng" algn="ctr">
                      <a:noFill/>
                    </a:lnB>
                    <a:solidFill>
                      <a:srgbClr val="003976"/>
                    </a:solidFill>
                  </a:tcPr>
                </a:tc>
                <a:tc>
                  <a:txBody>
                    <a:bodyPr/>
                    <a:lstStyle/>
                    <a:p>
                      <a:pPr indent="0" marL="0">
                        <a:lnSpc>
                          <a:spcPts val="1550"/>
                        </a:lnSpc>
                        <a:buNone/>
                      </a:pPr>
                      <a:r>
                        <a:rPr lang="en-US" sz="1400" b="1" dirty="0">
                          <a:solidFill>
                            <a:srgbClr val="FFFFFF"/>
                          </a:solidFill>
                          <a:latin typeface="Source Sans 3" pitchFamily="34" charset="0"/>
                          <a:ea typeface="Source Sans 3" pitchFamily="34" charset="-122"/>
                          <a:cs typeface="Source Sans 3" pitchFamily="34" charset="-120"/>
                        </a:rPr>
                        <a:t>Status</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0" cap="flat" cmpd="sng" algn="ctr">
                      <a:noFill/>
                    </a:lnB>
                    <a:solidFill>
                      <a:srgbClr val="003976"/>
                    </a:solidFill>
                  </a:tcPr>
                </a:tc>
              </a:tr>
              <a:tr h="219456">
                <a:tc>
                  <a:txBody>
                    <a:bodyPr/>
                    <a:lstStyle/>
                    <a:p>
                      <a:pPr indent="0" marL="0">
                        <a:lnSpc>
                          <a:spcPts val="1550"/>
                        </a:lnSpc>
                        <a:buNone/>
                      </a:pPr>
                      <a:r>
                        <a:rPr lang="en-US" sz="1400" dirty="0">
                          <a:solidFill>
                            <a:srgbClr val="1B2533"/>
                          </a:solidFill>
                          <a:latin typeface="Source Sans 3" pitchFamily="34" charset="0"/>
                          <a:ea typeface="Source Sans 3" pitchFamily="34" charset="-122"/>
                          <a:cs typeface="Source Sans 3" pitchFamily="34" charset="-120"/>
                        </a:rPr>
                        <a:t>[Kickoff review]</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lnSpc>
                          <a:spcPts val="1550"/>
                        </a:lnSpc>
                        <a:buNone/>
                      </a:pPr>
                      <a:r>
                        <a:rPr lang="en-US" sz="1400" dirty="0">
                          <a:solidFill>
                            <a:srgbClr val="4A5868"/>
                          </a:solidFill>
                          <a:latin typeface="Source Code Pro" pitchFamily="34" charset="0"/>
                          <a:ea typeface="Source Code Pro" pitchFamily="34" charset="-122"/>
                          <a:cs typeface="Source Code Pro" pitchFamily="34" charset="-120"/>
                        </a:rPr>
                        <a:t>[Jan 26]</a:t>
                      </a:r>
                      <a:endParaRPr lang="en-US" sz="1400" dirty="0">
                        <a:latin typeface="Source Code Pro" charset="0"/>
                        <a:ea typeface="Source Code Pro" charset="0"/>
                        <a:cs typeface="Source Code Pro"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lnSpc>
                          <a:spcPts val="1550"/>
                        </a:lnSpc>
                        <a:buNone/>
                      </a:pPr>
                      <a:r>
                        <a:rPr lang="en-US" sz="1400" dirty="0">
                          <a:solidFill>
                            <a:srgbClr val="003976"/>
                          </a:solidFill>
                          <a:latin typeface="Source Sans 3" pitchFamily="34" charset="0"/>
                          <a:ea typeface="Source Sans 3" pitchFamily="34" charset="-122"/>
                          <a:cs typeface="Source Sans 3" pitchFamily="34" charset="-120"/>
                        </a:rPr>
                        <a:t>▲</a:t>
                      </a:r>
                      <a:r>
                        <a:rPr lang="en-US" sz="1400" dirty="0">
                          <a:solidFill>
                            <a:srgbClr val="1B2533"/>
                          </a:solidFill>
                          <a:latin typeface="Source Sans 3" pitchFamily="34" charset="0"/>
                          <a:ea typeface="Source Sans 3" pitchFamily="34" charset="-122"/>
                          <a:cs typeface="Source Sans 3" pitchFamily="34" charset="-120"/>
                        </a:rPr>
                        <a:t>  Complete</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r>
              <a:tr h="219456">
                <a:tc>
                  <a:txBody>
                    <a:bodyPr/>
                    <a:lstStyle/>
                    <a:p>
                      <a:pPr indent="0" marL="0">
                        <a:lnSpc>
                          <a:spcPts val="1550"/>
                        </a:lnSpc>
                        <a:buNone/>
                      </a:pPr>
                      <a:r>
                        <a:rPr lang="en-US" sz="1400" dirty="0">
                          <a:solidFill>
                            <a:srgbClr val="1B2533"/>
                          </a:solidFill>
                          <a:latin typeface="Source Sans 3" pitchFamily="34" charset="0"/>
                          <a:ea typeface="Source Sans 3" pitchFamily="34" charset="-122"/>
                          <a:cs typeface="Source Sans 3" pitchFamily="34" charset="-120"/>
                        </a:rPr>
                        <a:t>[Prototype v1 demo]</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lnSpc>
                          <a:spcPts val="1550"/>
                        </a:lnSpc>
                        <a:buNone/>
                      </a:pPr>
                      <a:r>
                        <a:rPr lang="en-US" sz="1400" dirty="0">
                          <a:solidFill>
                            <a:srgbClr val="4A5868"/>
                          </a:solidFill>
                          <a:latin typeface="Source Code Pro" pitchFamily="34" charset="0"/>
                          <a:ea typeface="Source Code Pro" pitchFamily="34" charset="-122"/>
                          <a:cs typeface="Source Code Pro" pitchFamily="34" charset="-120"/>
                        </a:rPr>
                        <a:t>[Mar 26]</a:t>
                      </a:r>
                      <a:endParaRPr lang="en-US" sz="1400" dirty="0">
                        <a:latin typeface="Source Code Pro" charset="0"/>
                        <a:ea typeface="Source Code Pro" charset="0"/>
                        <a:cs typeface="Source Code Pro"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lnSpc>
                          <a:spcPts val="1550"/>
                        </a:lnSpc>
                        <a:buNone/>
                      </a:pPr>
                      <a:r>
                        <a:rPr lang="en-US" sz="1400" dirty="0">
                          <a:solidFill>
                            <a:srgbClr val="1B2533"/>
                          </a:solidFill>
                          <a:latin typeface="Source Sans 3" pitchFamily="34" charset="0"/>
                          <a:ea typeface="Source Sans 3" pitchFamily="34" charset="-122"/>
                          <a:cs typeface="Source Sans 3" pitchFamily="34" charset="-120"/>
                        </a:rPr>
                        <a:t>●</a:t>
                      </a:r>
                      <a:r>
                        <a:rPr lang="en-US" sz="1400" dirty="0">
                          <a:solidFill>
                            <a:srgbClr val="1B2533"/>
                          </a:solidFill>
                          <a:latin typeface="Source Sans 3" pitchFamily="34" charset="0"/>
                          <a:ea typeface="Source Sans 3" pitchFamily="34" charset="-122"/>
                          <a:cs typeface="Source Sans 3" pitchFamily="34" charset="-120"/>
                        </a:rPr>
                        <a:t>  On track</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r>
              <a:tr h="219456">
                <a:tc>
                  <a:txBody>
                    <a:bodyPr/>
                    <a:lstStyle/>
                    <a:p>
                      <a:pPr indent="0" marL="0">
                        <a:lnSpc>
                          <a:spcPts val="1550"/>
                        </a:lnSpc>
                        <a:buNone/>
                      </a:pPr>
                      <a:r>
                        <a:rPr lang="en-US" sz="1400" dirty="0">
                          <a:solidFill>
                            <a:srgbClr val="1B2533"/>
                          </a:solidFill>
                          <a:latin typeface="Source Sans 3" pitchFamily="34" charset="0"/>
                          <a:ea typeface="Source Sans 3" pitchFamily="34" charset="-122"/>
                          <a:cs typeface="Source Sans 3" pitchFamily="34" charset="-120"/>
                        </a:rPr>
                        <a:t>[User study, n = 12]</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lnSpc>
                          <a:spcPts val="1550"/>
                        </a:lnSpc>
                        <a:buNone/>
                      </a:pPr>
                      <a:r>
                        <a:rPr lang="en-US" sz="1400" dirty="0">
                          <a:solidFill>
                            <a:srgbClr val="4A5868"/>
                          </a:solidFill>
                          <a:latin typeface="Source Code Pro" pitchFamily="34" charset="0"/>
                          <a:ea typeface="Source Code Pro" pitchFamily="34" charset="-122"/>
                          <a:cs typeface="Source Code Pro" pitchFamily="34" charset="-120"/>
                        </a:rPr>
                        <a:t>[May 26]</a:t>
                      </a:r>
                      <a:endParaRPr lang="en-US" sz="1400" dirty="0">
                        <a:latin typeface="Source Code Pro" charset="0"/>
                        <a:ea typeface="Source Code Pro" charset="0"/>
                        <a:cs typeface="Source Code Pro"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lnSpc>
                          <a:spcPts val="1550"/>
                        </a:lnSpc>
                        <a:buNone/>
                      </a:pPr>
                      <a:r>
                        <a:rPr lang="en-US" sz="1400" dirty="0">
                          <a:solidFill>
                            <a:srgbClr val="915109"/>
                          </a:solidFill>
                          <a:latin typeface="Source Sans 3" pitchFamily="34" charset="0"/>
                          <a:ea typeface="Source Sans 3" pitchFamily="34" charset="-122"/>
                          <a:cs typeface="Source Sans 3" pitchFamily="34" charset="-120"/>
                        </a:rPr>
                        <a:t>◆</a:t>
                      </a:r>
                      <a:r>
                        <a:rPr lang="en-US" sz="1400" dirty="0">
                          <a:solidFill>
                            <a:srgbClr val="1B2533"/>
                          </a:solidFill>
                          <a:latin typeface="Source Sans 3" pitchFamily="34" charset="0"/>
                          <a:ea typeface="Source Sans 3" pitchFamily="34" charset="-122"/>
                          <a:cs typeface="Source Sans 3" pitchFamily="34" charset="-120"/>
                        </a:rPr>
                        <a:t>  At risk</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r>
              <a:tr h="219456">
                <a:tc>
                  <a:txBody>
                    <a:bodyPr/>
                    <a:lstStyle/>
                    <a:p>
                      <a:pPr indent="0" marL="0">
                        <a:lnSpc>
                          <a:spcPts val="1550"/>
                        </a:lnSpc>
                        <a:buNone/>
                      </a:pPr>
                      <a:r>
                        <a:rPr lang="en-US" sz="1400" dirty="0">
                          <a:solidFill>
                            <a:srgbClr val="1B2533"/>
                          </a:solidFill>
                          <a:latin typeface="Source Sans 3" pitchFamily="34" charset="0"/>
                          <a:ea typeface="Source Sans 3" pitchFamily="34" charset="-122"/>
                          <a:cs typeface="Source Sans 3" pitchFamily="34" charset="-120"/>
                        </a:rPr>
                        <a:t>[Paper submission]</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lnSpc>
                          <a:spcPts val="1550"/>
                        </a:lnSpc>
                        <a:buNone/>
                      </a:pPr>
                      <a:r>
                        <a:rPr lang="en-US" sz="1400" dirty="0">
                          <a:solidFill>
                            <a:srgbClr val="4A5868"/>
                          </a:solidFill>
                          <a:latin typeface="Source Code Pro" pitchFamily="34" charset="0"/>
                          <a:ea typeface="Source Code Pro" pitchFamily="34" charset="-122"/>
                          <a:cs typeface="Source Code Pro" pitchFamily="34" charset="-120"/>
                        </a:rPr>
                        <a:t>[Jul 26]</a:t>
                      </a:r>
                      <a:endParaRPr lang="en-US" sz="1400" dirty="0">
                        <a:latin typeface="Source Code Pro" charset="0"/>
                        <a:ea typeface="Source Code Pro" charset="0"/>
                        <a:cs typeface="Source Code Pro"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lnSpc>
                          <a:spcPts val="1550"/>
                        </a:lnSpc>
                        <a:buNone/>
                      </a:pPr>
                      <a:r>
                        <a:rPr lang="en-US" sz="1400" dirty="0">
                          <a:solidFill>
                            <a:srgbClr val="A21921"/>
                          </a:solidFill>
                          <a:latin typeface="Source Sans 3" pitchFamily="34" charset="0"/>
                          <a:ea typeface="Source Sans 3" pitchFamily="34" charset="-122"/>
                          <a:cs typeface="Source Sans 3" pitchFamily="34" charset="-120"/>
                        </a:rPr>
                        <a:t>■</a:t>
                      </a:r>
                      <a:r>
                        <a:rPr lang="en-US" sz="1400" dirty="0">
                          <a:solidFill>
                            <a:srgbClr val="1B2533"/>
                          </a:solidFill>
                          <a:latin typeface="Source Sans 3" pitchFamily="34" charset="0"/>
                          <a:ea typeface="Source Sans 3" pitchFamily="34" charset="-122"/>
                          <a:cs typeface="Source Sans 3" pitchFamily="34" charset="-120"/>
                        </a:rPr>
                        <a:t>  Late</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r>
              <a:tr h="219456">
                <a:tc>
                  <a:txBody>
                    <a:bodyPr/>
                    <a:lstStyle/>
                    <a:p>
                      <a:pPr indent="0" marL="0">
                        <a:lnSpc>
                          <a:spcPts val="1550"/>
                        </a:lnSpc>
                        <a:buNone/>
                      </a:pPr>
                      <a:r>
                        <a:rPr lang="en-US" sz="1400" dirty="0">
                          <a:solidFill>
                            <a:srgbClr val="1B2533"/>
                          </a:solidFill>
                          <a:latin typeface="Source Sans 3" pitchFamily="34" charset="0"/>
                          <a:ea typeface="Source Sans 3" pitchFamily="34" charset="-122"/>
                          <a:cs typeface="Source Sans 3" pitchFamily="34" charset="-120"/>
                        </a:rPr>
                        <a:t>[Field deployment]</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0" cap="flat" cmpd="sng" algn="ctr">
                      <a:noFill/>
                    </a:lnB>
                  </a:tcPr>
                </a:tc>
                <a:tc>
                  <a:txBody>
                    <a:bodyPr/>
                    <a:lstStyle/>
                    <a:p>
                      <a:pPr indent="0" marL="0">
                        <a:lnSpc>
                          <a:spcPts val="1550"/>
                        </a:lnSpc>
                        <a:buNone/>
                      </a:pPr>
                      <a:r>
                        <a:rPr lang="en-US" sz="1400" dirty="0">
                          <a:solidFill>
                            <a:srgbClr val="4A5868"/>
                          </a:solidFill>
                          <a:latin typeface="Source Code Pro" pitchFamily="34" charset="0"/>
                          <a:ea typeface="Source Code Pro" pitchFamily="34" charset="-122"/>
                          <a:cs typeface="Source Code Pro" pitchFamily="34" charset="-120"/>
                        </a:rPr>
                        <a:t>[Oct 26]</a:t>
                      </a:r>
                      <a:endParaRPr lang="en-US" sz="1400" dirty="0">
                        <a:latin typeface="Source Code Pro" charset="0"/>
                        <a:ea typeface="Source Code Pro" charset="0"/>
                        <a:cs typeface="Source Code Pro" charset="0"/>
                      </a:endParaRPr>
                    </a:p>
                  </a:txBody>
                  <a:tcPr marL="54864" marR="54864" marT="10973" marB="10973" anchor="ctr">
                    <a:lnL w="0" cap="flat" cmpd="sng" algn="ctr">
                      <a:noFill/>
                    </a:lnL>
                    <a:lnR w="0" cap="flat" cmpd="sng" algn="ctr">
                      <a:noFill/>
                    </a:lnR>
                    <a:lnT w="0" cap="flat" cmpd="sng" algn="ctr">
                      <a:noFill/>
                    </a:lnT>
                    <a:lnB w="0" cap="flat" cmpd="sng" algn="ctr">
                      <a:noFill/>
                    </a:lnB>
                  </a:tcPr>
                </a:tc>
                <a:tc>
                  <a:txBody>
                    <a:bodyPr/>
                    <a:lstStyle/>
                    <a:p>
                      <a:pPr indent="0" marL="0">
                        <a:lnSpc>
                          <a:spcPts val="1550"/>
                        </a:lnSpc>
                        <a:buNone/>
                      </a:pPr>
                      <a:r>
                        <a:rPr lang="en-US" sz="1400" dirty="0">
                          <a:solidFill>
                            <a:srgbClr val="616F7E"/>
                          </a:solidFill>
                          <a:latin typeface="Source Sans 3" pitchFamily="34" charset="0"/>
                          <a:ea typeface="Source Sans 3" pitchFamily="34" charset="-122"/>
                          <a:cs typeface="Source Sans 3" pitchFamily="34" charset="-120"/>
                        </a:rPr>
                        <a:t>△</a:t>
                      </a:r>
                      <a:r>
                        <a:rPr lang="en-US" sz="1400" dirty="0">
                          <a:solidFill>
                            <a:srgbClr val="1B2533"/>
                          </a:solidFill>
                          <a:latin typeface="Source Sans 3" pitchFamily="34" charset="0"/>
                          <a:ea typeface="Source Sans 3" pitchFamily="34" charset="-122"/>
                          <a:cs typeface="Source Sans 3" pitchFamily="34" charset="-120"/>
                        </a:rPr>
                        <a:t>  Not started</a:t>
                      </a:r>
                      <a:endParaRPr lang="en-US" sz="1400" dirty="0">
                        <a:latin typeface="Source Sans 3" charset="0"/>
                        <a:ea typeface="Source Sans 3" charset="0"/>
                        <a:cs typeface="Source Sans 3" charset="0"/>
                      </a:endParaRPr>
                    </a:p>
                  </a:txBody>
                  <a:tcPr marL="54864" marR="54864" marT="10973" marB="10973" anchor="ctr">
                    <a:lnL w="0" cap="flat" cmpd="sng" algn="ctr">
                      <a:noFill/>
                    </a:lnL>
                    <a:lnR w="0" cap="flat" cmpd="sng" algn="ctr">
                      <a:noFill/>
                    </a:lnR>
                    <a:lnT w="0" cap="flat" cmpd="sng" algn="ctr">
                      <a:noFill/>
                    </a:lnT>
                    <a:lnB w="0" cap="flat" cmpd="sng" algn="ctr">
                      <a:noFill/>
                    </a:lnB>
                  </a:tcPr>
                </a:tc>
              </a:tr>
            </a:tbl>
          </a:graphicData>
        </a:graphic>
      </p:graphicFrame>
      <p:sp>
        <p:nvSpPr>
          <p:cNvPr id="7" name="ph:footer_right"/>
          <p:cNvSpPr/>
          <p:nvPr>
            <p:ph idx="127" type="body" hasCustomPrompt="1"/>
          </p:nvPr>
        </p:nvSpPr>
        <p:spPr>
          <a:xfrm>
            <a:off x="5486400" y="4700016"/>
            <a:ext cx="2743200" cy="237744"/>
          </a:xfrm>
          <a:prstGeom prst="rect">
            <a:avLst/>
          </a:prstGeom>
          <a:noFill/>
          <a:ln/>
        </p:spPr>
        <p:txBody>
          <a:bodyPr wrap="none" lIns="0" tIns="0" rIns="0" bIns="0" rtlCol="0" anchor="ctr"/>
          <a:lstStyle/>
          <a:p>
            <a:pPr algn="r" indent="0" marL="0">
              <a:lnSpc>
                <a:spcPts val="1700"/>
              </a:lnSpc>
              <a:buNone/>
            </a:pPr>
            <a:r>
              <a:rPr lang="en-US" sz="1400" dirty="0">
                <a:solidFill>
                  <a:srgbClr val="003976"/>
                </a:solidFill>
                <a:latin typeface="Source Code Pro" pitchFamily="34" charset="0"/>
                <a:ea typeface="Source Code Pro" pitchFamily="34" charset="-122"/>
                <a:cs typeface="Source Code Pro" pitchFamily="34" charset="-120"/>
              </a:rPr>
              <a:t>[Internal] · [YYYY-MM-DD]</a:t>
            </a:r>
            <a:endParaRPr lang="en-US" sz="1400" dirty="0"/>
          </a:p>
        </p:txBody>
      </p:sp>
      <p:sp>
        <p:nvSpPr>
          <p:cNvPr id="25" name="Slide Number Placeholder 0"/>
          <p:cNvSpPr>
            <a:spLocks noGrp="1"/>
          </p:cNvSpPr>
          <p:nvPr>
            <p:ph type="sldNum" sz="quarter" idx="4294967295"/>
          </p:nvPr>
        </p:nvSpPr>
        <p:spPr>
          <a:xfrm>
            <a:off x="8321040" y="4700016"/>
            <a:ext cx="36576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400">
                <a:solidFill>
                  <a:srgbClr val="003976"/>
                </a:solidFill>
                <a:latin typeface="Source Code Pro"/>
                <a:ea typeface="Source Code Pro"/>
                <a:cs typeface="Source Code Pr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h:title"/>
          <p:cNvSpPr/>
          <p:nvPr>
            <p:ph idx="103" type="title" hasCustomPrompt="1"/>
          </p:nvPr>
        </p:nvSpPr>
        <p:spPr>
          <a:xfrm>
            <a:off x="1207008" y="128016"/>
            <a:ext cx="4279392" cy="713232"/>
          </a:xfrm>
          <a:prstGeom prst="rect">
            <a:avLst/>
          </a:prstGeom>
          <a:noFill/>
          <a:ln/>
        </p:spPr>
        <p:txBody>
          <a:bodyPr wrap="square" lIns="0" tIns="0" rIns="0" bIns="0" rtlCol="0" anchor="t"/>
          <a:lstStyle/>
          <a:p>
            <a:pPr algn="l" indent="0" marL="0">
              <a:lnSpc>
                <a:spcPts val="2800"/>
              </a:lnSpc>
              <a:buNone/>
            </a:pPr>
            <a:r>
              <a:rPr lang="en-US" sz="2400" b="1" dirty="0">
                <a:solidFill>
                  <a:srgbClr val="003976"/>
                </a:solidFill>
                <a:latin typeface="Source Sans 3" pitchFamily="34" charset="0"/>
                <a:ea typeface="Source Sans 3" pitchFamily="34" charset="-122"/>
                <a:cs typeface="Source Sans 3" pitchFamily="34" charset="-120"/>
              </a:rPr>
              <a:t>[Project or student]: weekly summary</a:t>
            </a:r>
            <a:endParaRPr lang="en-US" sz="2400" dirty="0"/>
          </a:p>
        </p:txBody>
      </p:sp>
      <p:sp>
        <p:nvSpPr>
          <p:cNvPr id="3" name="ph:meta"/>
          <p:cNvSpPr/>
          <p:nvPr>
            <p:ph idx="104" type="body" hasCustomPrompt="1"/>
          </p:nvPr>
        </p:nvSpPr>
        <p:spPr>
          <a:xfrm>
            <a:off x="5669280" y="128016"/>
            <a:ext cx="3017520" cy="685800"/>
          </a:xfrm>
          <a:prstGeom prst="rect">
            <a:avLst/>
          </a:prstGeom>
          <a:noFill/>
          <a:ln/>
        </p:spPr>
        <p:txBody>
          <a:bodyPr wrap="square" lIns="0" tIns="0" rIns="0" bIns="0" rtlCol="0" anchor="t"/>
          <a:lstStyle/>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Week of [Mon. D, YYYY]</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[Student name]  ·  [Advisor]</a:t>
            </a:r>
            <a:endParaRPr lang="en-US" sz="1400" dirty="0"/>
          </a:p>
          <a:p>
            <a:pPr algn="r" indent="0" marL="0">
              <a:lnSpc>
                <a:spcPts val="1800"/>
              </a:lnSpc>
              <a:buNone/>
            </a:pPr>
            <a:r>
              <a:rPr lang="en-US" sz="1400" dirty="0">
                <a:solidFill>
                  <a:srgbClr val="4A5868"/>
                </a:solidFill>
                <a:latin typeface="Source Sans 3" pitchFamily="34" charset="0"/>
                <a:ea typeface="Source Sans 3" pitchFamily="34" charset="-122"/>
                <a:cs typeface="Source Sans 3" pitchFamily="34" charset="-120"/>
              </a:rPr>
              <a:t>ATR Lab  ·  Kent State University</a:t>
            </a:r>
            <a:endParaRPr lang="en-US" sz="1400" dirty="0"/>
          </a:p>
        </p:txBody>
      </p:sp>
      <p:sp>
        <p:nvSpPr>
          <p:cNvPr id="4" name="ph:acc"/>
          <p:cNvSpPr/>
          <p:nvPr>
            <p:ph idx="110" type="body" hasCustomPrompt="1"/>
          </p:nvPr>
        </p:nvSpPr>
        <p:spPr>
          <a:xfrm>
            <a:off x="457200" y="1408176"/>
            <a:ext cx="4754880" cy="1289304"/>
          </a:xfrm>
          <a:prstGeom prst="rect">
            <a:avLst/>
          </a:prstGeom>
          <a:noFill/>
          <a:ln/>
        </p:spPr>
        <p:txBody>
          <a:bodyPr wrap="square" lIns="0" tIns="0" rIns="0" bIns="0" rtlCol="0" anchor="t"/>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[Finding or result completed this week]</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[Second accomplishment, stated as an outcome]</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[Third accomplishment]</a:t>
            </a:r>
            <a:endParaRPr lang="en-US" sz="1600" dirty="0"/>
          </a:p>
        </p:txBody>
      </p:sp>
      <p:sp>
        <p:nvSpPr>
          <p:cNvPr id="5" name="ph:path"/>
          <p:cNvSpPr/>
          <p:nvPr>
            <p:ph idx="114" type="body" hasCustomPrompt="1"/>
          </p:nvPr>
        </p:nvSpPr>
        <p:spPr>
          <a:xfrm>
            <a:off x="457200" y="3246120"/>
            <a:ext cx="4754880" cy="1289304"/>
          </a:xfrm>
          <a:prstGeom prst="rect">
            <a:avLst/>
          </a:prstGeom>
          <a:noFill/>
          <a:ln/>
        </p:spPr>
        <p:txBody>
          <a:bodyPr wrap="square" lIns="0" tIns="0" rIns="0" bIns="0" rtlCol="0" anchor="t"/>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[Next step and its target date]</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[Second next step]</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[Decision or input needed from the advisor]</a:t>
            </a:r>
            <a:endParaRPr lang="en-US" sz="1600" dirty="0"/>
          </a:p>
        </p:txBody>
      </p:sp>
      <p:sp>
        <p:nvSpPr>
          <p:cNvPr id="6" name="ph:risks"/>
          <p:cNvSpPr/>
          <p:nvPr>
            <p:ph idx="118" type="body" hasCustomPrompt="1"/>
          </p:nvPr>
        </p:nvSpPr>
        <p:spPr>
          <a:xfrm>
            <a:off x="5486400" y="1408176"/>
            <a:ext cx="3200400" cy="786384"/>
          </a:xfrm>
          <a:prstGeom prst="rect">
            <a:avLst/>
          </a:prstGeom>
          <a:noFill/>
          <a:ln/>
        </p:spPr>
        <p:txBody>
          <a:bodyPr wrap="square" lIns="0" tIns="0" rIns="0" bIns="0" rtlCol="0" anchor="t"/>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[Blocker or risk, with the ask]</a:t>
            </a:r>
            <a:endParaRPr lang="en-US" sz="1600" dirty="0"/>
          </a:p>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[Parts, access or time needed]</a:t>
            </a:r>
            <a:endParaRPr lang="en-US" sz="1600" dirty="0"/>
          </a:p>
        </p:txBody>
      </p:sp>
      <p:sp>
        <p:nvSpPr>
          <p:cNvPr id="7" name="ph:notes"/>
          <p:cNvSpPr/>
          <p:nvPr>
            <p:ph idx="123" type="body" hasCustomPrompt="1"/>
          </p:nvPr>
        </p:nvSpPr>
        <p:spPr>
          <a:xfrm>
            <a:off x="5486400" y="2706624"/>
            <a:ext cx="3200400" cy="621792"/>
          </a:xfrm>
          <a:prstGeom prst="rect">
            <a:avLst/>
          </a:prstGeom>
          <a:noFill/>
          <a:ln/>
        </p:spPr>
        <p:txBody>
          <a:bodyPr wrap="square" lIns="0" tIns="0" rIns="0" bIns="0" rtlCol="0" anchor="t"/>
          <a:lstStyle/>
          <a:p>
            <a:pPr algn="l" marL="177800" indent="-177800">
              <a:lnSpc>
                <a:spcPts val="2000"/>
              </a:lnSpc>
              <a:buSzPct val="100000"/>
              <a:buChar char="▸"/>
            </a:pPr>
            <a:r>
              <a:rPr lang="en-US" sz="1600" dirty="0">
                <a:solidFill>
                  <a:srgbClr val="1B2533"/>
                </a:solidFill>
                <a:latin typeface="Source Sans 3" pitchFamily="34" charset="0"/>
                <a:ea typeface="Source Sans 3" pitchFamily="34" charset="-122"/>
                <a:cs typeface="Source Sans 3" pitchFamily="34" charset="-120"/>
              </a:rPr>
              <a:t>[Reading, ideas, questions for the group]</a:t>
            </a:r>
            <a:endParaRPr lang="en-US" sz="1600" dirty="0"/>
          </a:p>
        </p:txBody>
      </p:sp>
      <p:sp>
        <p:nvSpPr>
          <p:cNvPr id="8" name="ph:media"/>
          <p:cNvSpPr/>
          <p:nvPr>
            <p:ph idx="128" type="body" hasCustomPrompt="1"/>
          </p:nvPr>
        </p:nvSpPr>
        <p:spPr>
          <a:xfrm>
            <a:off x="5577840" y="3858768"/>
            <a:ext cx="3017520" cy="566928"/>
          </a:xfrm>
          <a:prstGeom prst="rect">
            <a:avLst/>
          </a:prstGeom>
          <a:noFill/>
          <a:ln/>
        </p:spPr>
        <p:txBody>
          <a:bodyPr wrap="square" lIns="0" tIns="0" rIns="0" bIns="0" rtlCol="0" anchor="t"/>
          <a:lstStyle/>
          <a:p>
            <a:pPr algn="l" indent="0" marL="0">
              <a:lnSpc>
                <a:spcPts val="2000"/>
              </a:lnSpc>
              <a:buNone/>
            </a:pPr>
            <a:r>
              <a:rPr lang="en-US" sz="1600" dirty="0">
                <a:solidFill>
                  <a:srgbClr val="1B2533"/>
                </a:solidFill>
                <a:latin typeface="Source Sans 3" pitchFamily="34" charset="0"/>
                <a:ea typeface="Source Sans 3" pitchFamily="34" charset="-122"/>
                <a:cs typeface="Source Sans 3" pitchFamily="34" charset="-120"/>
              </a:rPr>
              <a:t>[Video or photo title]</a:t>
            </a:r>
            <a:endParaRPr lang="en-US" sz="1600" dirty="0"/>
          </a:p>
          <a:p>
            <a:pPr algn="l" indent="0" marL="0">
              <a:lnSpc>
                <a:spcPts val="2000"/>
              </a:lnSpc>
              <a:buNone/>
            </a:pPr>
            <a:r>
              <a:rPr lang="en-US" sz="1600" dirty="0">
                <a:solidFill>
                  <a:srgbClr val="1B2533"/>
                </a:solidFill>
                <a:latin typeface="Source Sans 3" pitchFamily="34" charset="0"/>
                <a:ea typeface="Source Sans 3" pitchFamily="34" charset="-122"/>
                <a:cs typeface="Source Sans 3" pitchFamily="34" charset="-120"/>
              </a:rPr>
              <a:t>Watch: [link label]</a:t>
            </a:r>
            <a:endParaRPr lang="en-US" sz="1600" dirty="0"/>
          </a:p>
        </p:txBody>
      </p:sp>
      <p:sp>
        <p:nvSpPr>
          <p:cNvPr id="9" name="ph:footer_right"/>
          <p:cNvSpPr/>
          <p:nvPr>
            <p:ph idx="131" type="body" hasCustomPrompt="1"/>
          </p:nvPr>
        </p:nvSpPr>
        <p:spPr>
          <a:xfrm>
            <a:off x="5486400" y="4700016"/>
            <a:ext cx="2743200" cy="237744"/>
          </a:xfrm>
          <a:prstGeom prst="rect">
            <a:avLst/>
          </a:prstGeom>
          <a:noFill/>
          <a:ln/>
        </p:spPr>
        <p:txBody>
          <a:bodyPr wrap="none" lIns="0" tIns="0" rIns="0" bIns="0" rtlCol="0" anchor="ctr"/>
          <a:lstStyle/>
          <a:p>
            <a:pPr algn="r" indent="0" marL="0">
              <a:lnSpc>
                <a:spcPts val="1700"/>
              </a:lnSpc>
              <a:buNone/>
            </a:pPr>
            <a:r>
              <a:rPr lang="en-US" sz="1400" dirty="0">
                <a:solidFill>
                  <a:srgbClr val="003976"/>
                </a:solidFill>
                <a:latin typeface="Source Code Pro" pitchFamily="34" charset="0"/>
                <a:ea typeface="Source Code Pro" pitchFamily="34" charset="-122"/>
                <a:cs typeface="Source Code Pro" pitchFamily="34" charset="-120"/>
              </a:rPr>
              <a:t>[Internal] · [YYYY-MM-DD]</a:t>
            </a:r>
            <a:endParaRPr lang="en-US" sz="1400" dirty="0"/>
          </a:p>
        </p:txBody>
      </p:sp>
      <p:sp>
        <p:nvSpPr>
          <p:cNvPr id="25" name="Slide Number Placeholder 0"/>
          <p:cNvSpPr>
            <a:spLocks noGrp="1"/>
          </p:cNvSpPr>
          <p:nvPr>
            <p:ph type="sldNum" sz="quarter" idx="4294967295"/>
          </p:nvPr>
        </p:nvSpPr>
        <p:spPr>
          <a:xfrm>
            <a:off x="8321040" y="4700016"/>
            <a:ext cx="36576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400">
                <a:solidFill>
                  <a:srgbClr val="003976"/>
                </a:solidFill>
                <a:latin typeface="Source Code Pro"/>
                <a:ea typeface="Source Code Pro"/>
                <a:cs typeface="Source Code Pr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h:title"/>
          <p:cNvSpPr/>
          <p:nvPr>
            <p:ph idx="103" type="title" hasCustomPrompt="1"/>
          </p:nvPr>
        </p:nvSpPr>
        <p:spPr>
          <a:xfrm>
            <a:off x="1207008" y="109728"/>
            <a:ext cx="4507992" cy="585216"/>
          </a:xfrm>
          <a:prstGeom prst="rect">
            <a:avLst/>
          </a:prstGeom>
          <a:noFill/>
          <a:ln/>
        </p:spPr>
        <p:txBody>
          <a:bodyPr wrap="square" lIns="0" tIns="0" rIns="0" bIns="0" rtlCol="0" anchor="t"/>
          <a:lstStyle/>
          <a:p>
            <a:pPr algn="l" indent="0" marL="0">
              <a:lnSpc>
                <a:spcPts val="2300"/>
              </a:lnSpc>
              <a:buNone/>
            </a:pPr>
            <a:r>
              <a:rPr lang="en-US" sz="2000" b="1" dirty="0">
                <a:solidFill>
                  <a:srgbClr val="003976"/>
                </a:solidFill>
                <a:latin typeface="Arial" pitchFamily="34" charset="0"/>
                <a:ea typeface="Arial" pitchFamily="34" charset="-122"/>
                <a:cs typeface="Arial" pitchFamily="34" charset="-120"/>
              </a:rPr>
              <a:t>Predictive display keeps rover driving on course at 2 s of delay</a:t>
            </a:r>
            <a:endParaRPr lang="en-US" sz="2000" dirty="0"/>
          </a:p>
        </p:txBody>
      </p:sp>
      <p:sp>
        <p:nvSpPr>
          <p:cNvPr id="3" name="Sample tag chip"/>
          <p:cNvSpPr/>
          <p:nvPr/>
        </p:nvSpPr>
        <p:spPr>
          <a:xfrm>
            <a:off x="5989320" y="283464"/>
            <a:ext cx="2697480" cy="210312"/>
          </a:xfrm>
          <a:prstGeom prst="rect">
            <a:avLst/>
          </a:prstGeom>
          <a:solidFill>
            <a:srgbClr val="F3F6FA"/>
          </a:solidFill>
          <a:ln w="12700">
            <a:solidFill>
              <a:srgbClr val="F3F6FA"/>
            </a:solidFill>
            <a:prstDash val="solid"/>
          </a:ln>
        </p:spPr>
      </p:sp>
      <p:sp>
        <p:nvSpPr>
          <p:cNvPr id="4" name="Sample tag"/>
          <p:cNvSpPr txBox="1"/>
          <p:nvPr/>
        </p:nvSpPr>
        <p:spPr>
          <a:xfrm>
            <a:off x="5989320" y="283464"/>
            <a:ext cx="2697480" cy="210312"/>
          </a:xfrm>
          <a:prstGeom prst="rect">
            <a:avLst/>
          </a:prstGeom>
          <a:noFill/>
          <a:ln/>
        </p:spPr>
        <p:txBody>
          <a:bodyPr wrap="square" lIns="0" tIns="0" rIns="0" bIns="0" rtlCol="0" anchor="ctr"/>
          <a:lstStyle/>
          <a:p>
            <a:pPr algn="ctr" indent="0" marL="0">
              <a:buNone/>
            </a:pPr>
            <a:r>
              <a:rPr lang="en-US" sz="1400" b="1" dirty="0">
                <a:solidFill>
                  <a:srgbClr val="003976"/>
                </a:solidFill>
                <a:latin typeface="Arial" pitchFamily="34" charset="0"/>
                <a:ea typeface="Arial" pitchFamily="34" charset="-122"/>
                <a:cs typeface="Arial" pitchFamily="34" charset="-120"/>
              </a:rPr>
              <a:t>SAMPLE - illustrative content</a:t>
            </a:r>
            <a:endParaRPr lang="en-US" sz="1400" dirty="0"/>
          </a:p>
        </p:txBody>
      </p:sp>
      <p:sp>
        <p:nvSpPr>
          <p:cNvPr id="5" name="ph:meta"/>
          <p:cNvSpPr/>
          <p:nvPr>
            <p:ph idx="105" type="body" hasCustomPrompt="1"/>
          </p:nvPr>
        </p:nvSpPr>
        <p:spPr>
          <a:xfrm>
            <a:off x="5897880" y="493776"/>
            <a:ext cx="2788920" cy="210312"/>
          </a:xfrm>
          <a:prstGeom prst="rect">
            <a:avLst/>
          </a:prstGeom>
          <a:noFill/>
          <a:ln/>
        </p:spPr>
        <p:txBody>
          <a:bodyPr wrap="square" lIns="0" tIns="0" rIns="0" bIns="0" rtlCol="0" anchor="t"/>
          <a:lstStyle/>
          <a:p>
            <a:pPr algn="r" indent="0" marL="0">
              <a:lnSpc>
                <a:spcPts val="1600"/>
              </a:lnSpc>
              <a:buNone/>
            </a:pPr>
            <a:r>
              <a:rPr lang="en-US" sz="1400" dirty="0">
                <a:solidFill>
                  <a:srgbClr val="003976"/>
                </a:solidFill>
                <a:latin typeface="Arial" pitchFamily="34" charset="0"/>
                <a:ea typeface="Arial" pitchFamily="34" charset="-122"/>
                <a:cs typeface="Arial" pitchFamily="34" charset="-120"/>
              </a:rPr>
              <a:t>[NASA program]  ·  Sept. 2026</a:t>
            </a:r>
            <a:endParaRPr lang="en-US" sz="1400" dirty="0"/>
          </a:p>
        </p:txBody>
      </p:sp>
      <p:sp>
        <p:nvSpPr>
          <p:cNvPr id="6" name="ph:citation"/>
          <p:cNvSpPr/>
          <p:nvPr>
            <p:ph idx="106" type="body" hasCustomPrompt="1"/>
          </p:nvPr>
        </p:nvSpPr>
        <p:spPr>
          <a:xfrm>
            <a:off x="1207008" y="704088"/>
            <a:ext cx="7479792" cy="210312"/>
          </a:xfrm>
          <a:prstGeom prst="rect">
            <a:avLst/>
          </a:prstGeom>
          <a:noFill/>
          <a:ln/>
        </p:spPr>
        <p:txBody>
          <a:bodyPr wrap="square" lIns="0" tIns="0" rIns="0" bIns="0" rtlCol="0" anchor="t"/>
          <a:lstStyle/>
          <a:p>
            <a:pPr algn="l" indent="0" marL="0">
              <a:lnSpc>
                <a:spcPts val="1600"/>
              </a:lnSpc>
              <a:buNone/>
            </a:pPr>
            <a:r>
              <a:rPr lang="en-US" sz="1400" dirty="0">
                <a:solidFill>
                  <a:srgbClr val="003976"/>
                </a:solidFill>
                <a:latin typeface="Arial" pitchFamily="34" charset="0"/>
                <a:ea typeface="Arial" pitchFamily="34" charset="-122"/>
                <a:cs typeface="Arial" pitchFamily="34" charset="-120"/>
              </a:rPr>
              <a:t>Sample et al. (2026), Journal of Sample Robotics 12(3), doi:10.0000/sample.2026.0001</a:t>
            </a:r>
            <a:endParaRPr lang="en-US" sz="1400" dirty="0"/>
          </a:p>
        </p:txBody>
      </p:sp>
      <p:sp>
        <p:nvSpPr>
          <p:cNvPr id="7" name="ph:q1"/>
          <p:cNvSpPr/>
          <p:nvPr>
            <p:ph idx="112" type="body" hasCustomPrompt="1"/>
          </p:nvPr>
        </p:nvSpPr>
        <p:spPr>
          <a:xfrm>
            <a:off x="457200" y="1408176"/>
            <a:ext cx="4000500" cy="1024128"/>
          </a:xfrm>
          <a:prstGeom prst="rect">
            <a:avLst/>
          </a:prstGeom>
          <a:noFill/>
          <a:ln/>
        </p:spPr>
        <p:txBody>
          <a:bodyPr wrap="square" lIns="0" tIns="0" rIns="0" bIns="0" rtlCol="0" anchor="t"/>
          <a:lstStyle/>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Every command and camera frame reaches a remote rover late. Past about 1 s of delay, drivers slow down and drift off the planned path.</a:t>
            </a:r>
            <a:endParaRPr lang="en-US" sz="1400" dirty="0"/>
          </a:p>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Can a predictive overlay restore driving accuracy at 2 s?</a:t>
            </a:r>
            <a:endParaRPr lang="en-US" sz="1400" dirty="0"/>
          </a:p>
        </p:txBody>
      </p:sp>
      <p:sp>
        <p:nvSpPr>
          <p:cNvPr id="8" name="ph:q2"/>
          <p:cNvSpPr/>
          <p:nvPr>
            <p:ph idx="116" type="body" hasCustomPrompt="1"/>
          </p:nvPr>
        </p:nvSpPr>
        <p:spPr>
          <a:xfrm>
            <a:off x="4686300" y="1408176"/>
            <a:ext cx="4000500" cy="1024128"/>
          </a:xfrm>
          <a:prstGeom prst="rect">
            <a:avLst/>
          </a:prstGeom>
          <a:noFill/>
          <a:ln/>
        </p:spPr>
        <p:txBody>
          <a:bodyPr wrap="square" lIns="0" tIns="0" rIns="0" bIns="0" rtlCol="0" anchor="t"/>
          <a:lstStyle/>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12 volunteers drove a simulated rover at 0.5, 1 and 2 s delay, with and without the overlay.</a:t>
            </a:r>
            <a:endParaRPr lang="en-US" sz="1400" dirty="0"/>
          </a:p>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NASA resources used: [testbed, dataset]</a:t>
            </a:r>
            <a:endParaRPr lang="en-US" sz="1400" dirty="0"/>
          </a:p>
        </p:txBody>
      </p:sp>
      <p:sp>
        <p:nvSpPr>
          <p:cNvPr id="9" name="ph:q3cap"/>
          <p:cNvSpPr/>
          <p:nvPr>
            <p:ph idx="122" type="body" hasCustomPrompt="1"/>
          </p:nvPr>
        </p:nvSpPr>
        <p:spPr>
          <a:xfrm>
            <a:off x="457200" y="4032504"/>
            <a:ext cx="4000500" cy="210312"/>
          </a:xfrm>
          <a:prstGeom prst="rect">
            <a:avLst/>
          </a:prstGeom>
          <a:noFill/>
          <a:ln/>
        </p:spPr>
        <p:txBody>
          <a:bodyPr wrap="square" lIns="0" tIns="0" rIns="0" bIns="0" rtlCol="0" anchor="t"/>
          <a:lstStyle/>
          <a:p>
            <a:pPr algn="l" indent="0" marL="0">
              <a:lnSpc>
                <a:spcPts val="1600"/>
              </a:lnSpc>
              <a:buNone/>
            </a:pPr>
            <a:r>
              <a:rPr lang="en-US" sz="1400" dirty="0">
                <a:solidFill>
                  <a:srgbClr val="000000"/>
                </a:solidFill>
                <a:latin typeface="Arial" pitchFamily="34" charset="0"/>
                <a:ea typeface="Arial" pitchFamily="34" charset="-122"/>
                <a:cs typeface="Arial" pitchFamily="34" charset="-120"/>
              </a:rPr>
              <a:t>Fig. 1: error reduction (%) by delay (s), n = 12</a:t>
            </a:r>
            <a:endParaRPr lang="en-US" sz="1400" dirty="0"/>
          </a:p>
        </p:txBody>
      </p:sp>
      <p:sp>
        <p:nvSpPr>
          <p:cNvPr id="10" name="ph:q4"/>
          <p:cNvSpPr/>
          <p:nvPr>
            <p:ph idx="126" type="body" hasCustomPrompt="1"/>
          </p:nvPr>
        </p:nvSpPr>
        <p:spPr>
          <a:xfrm>
            <a:off x="4686300" y="2944368"/>
            <a:ext cx="4000500" cy="1298448"/>
          </a:xfrm>
          <a:prstGeom prst="rect">
            <a:avLst/>
          </a:prstGeom>
          <a:noFill/>
          <a:ln/>
        </p:spPr>
        <p:txBody>
          <a:bodyPr wrap="square" lIns="0" tIns="0" rIns="0" bIns="0" rtlCol="0" anchor="t"/>
          <a:lstStyle/>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The overlay held path error near the no-delay level at 2 s, where direct video driving failed.</a:t>
            </a:r>
            <a:endParaRPr lang="en-US" sz="1400" dirty="0"/>
          </a:p>
          <a:p>
            <a:pPr algn="l" marL="177800" indent="-177800">
              <a:lnSpc>
                <a:spcPts val="1600"/>
              </a:lnSpc>
              <a:buSzPct val="100000"/>
              <a:buChar char="▸"/>
            </a:pPr>
            <a:r>
              <a:rPr lang="en-US" sz="1400" dirty="0">
                <a:solidFill>
                  <a:srgbClr val="003976"/>
                </a:solidFill>
                <a:latin typeface="Arial" pitchFamily="34" charset="0"/>
                <a:ea typeface="Arial" pitchFamily="34" charset="-122"/>
                <a:cs typeface="Arial" pitchFamily="34" charset="-120"/>
              </a:rPr>
              <a:t>A low-cost display could let one operator drive safely at delays that today require full autonomy.</a:t>
            </a:r>
            <a:endParaRPr lang="en-US" sz="1400" dirty="0"/>
          </a:p>
        </p:txBody>
      </p:sp>
      <p:sp>
        <p:nvSpPr>
          <p:cNvPr id="11" name="ph:ack"/>
          <p:cNvSpPr/>
          <p:nvPr>
            <p:ph idx="130" type="body" hasCustomPrompt="1"/>
          </p:nvPr>
        </p:nvSpPr>
        <p:spPr>
          <a:xfrm>
            <a:off x="2834640" y="4325112"/>
            <a:ext cx="5852160" cy="612648"/>
          </a:xfrm>
          <a:prstGeom prst="rect">
            <a:avLst/>
          </a:prstGeom>
          <a:noFill/>
          <a:ln/>
        </p:spPr>
        <p:txBody>
          <a:bodyPr wrap="square" lIns="0" tIns="0" rIns="0" bIns="0" rtlCol="0" anchor="t"/>
          <a:lstStyle/>
          <a:p>
            <a:pPr algn="l" indent="0" marL="0">
              <a:lnSpc>
                <a:spcPts val="1600"/>
              </a:lnSpc>
              <a:buNone/>
            </a:pPr>
            <a:r>
              <a:rPr lang="en-US" sz="1400" dirty="0">
                <a:solidFill>
                  <a:srgbClr val="003976"/>
                </a:solidFill>
                <a:latin typeface="Arial" pitchFamily="34" charset="0"/>
                <a:ea typeface="Arial" pitchFamily="34" charset="-122"/>
                <a:cs typeface="Arial" pitchFamily="34" charset="-120"/>
              </a:rPr>
              <a:t>This work was supported by the National Aeronautics and Space Administration under Grant/Contract/Agreement No. [xxxx] and was part of the [NASA program name] program.</a:t>
            </a:r>
            <a:endParaRPr lang="en-US" sz="1400" dirty="0"/>
          </a:p>
        </p:txBody>
      </p:sp>
      <p:graphicFrame>
        <p:nvGraphicFramePr>
          <p:cNvPr id="12" name="Illustrative data chart" descr="Bar chart of illustrative data: path-error reduction with the predictive overlay by delay, 35% at 0.5 s, 48% at 1 s and 55% at 2 s (the 2 s bar highlighted in gold), n = 12. Sample values that show the layout, not a lab result."/>
          <p:cNvGraphicFramePr/>
          <p:nvPr/>
        </p:nvGraphicFramePr>
        <p:xfrm>
          <a:off x="457200" y="2916936"/>
          <a:ext cx="4000500" cy="1115568"/>
        </p:xfrm>
        <a:graphic xmlns:a="http://schemas.openxmlformats.org/drawingml/2006/main">
          <a:graphicData uri="http://schemas.openxmlformats.org/drawingml/2006/chart">
            <c:chart xmlns:c="http://schemas.openxmlformats.org/drawingml/2006/chart" r:id="rId1"/>
          </a:graphicData>
        </a:graphic>
      </p:graphicFrame>
      <p:sp>
        <p:nvSpPr>
          <p:cNvPr id="13" name="Illustrative data flag"/>
          <p:cNvSpPr txBox="1"/>
          <p:nvPr/>
        </p:nvSpPr>
        <p:spPr>
          <a:xfrm>
            <a:off x="3017520" y="2935224"/>
            <a:ext cx="1440180" cy="210312"/>
          </a:xfrm>
          <a:prstGeom prst="rect">
            <a:avLst/>
          </a:prstGeom>
          <a:noFill/>
          <a:ln/>
        </p:spPr>
        <p:txBody>
          <a:bodyPr wrap="square" lIns="0" tIns="0" rIns="0" bIns="0" rtlCol="0" anchor="ctr"/>
          <a:lstStyle/>
          <a:p>
            <a:pPr algn="r" indent="0" marL="0">
              <a:buNone/>
            </a:pPr>
            <a:r>
              <a:rPr lang="en-US" sz="1400" dirty="0">
                <a:solidFill>
                  <a:srgbClr val="000000"/>
                </a:solidFill>
                <a:latin typeface="Arial" pitchFamily="34" charset="0"/>
                <a:ea typeface="Arial" pitchFamily="34" charset="-122"/>
                <a:cs typeface="Arial" pitchFamily="34" charset="-120"/>
              </a:rPr>
              <a:t>Illustrative data</a:t>
            </a:r>
            <a:endParaRPr lang="en-US" sz="14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quad chart template</dc:title>
  <dc:subject>NASA GSFC research quad, project status quad and weekly summary layouts</dc:subject>
  <dc:creator>Advanced Telerobotics Research Lab, Kent State University</dc:creator>
  <cp:lastModifiedBy>Advanced Telerobotics Research Lab, Kent State University</cp:lastModifiedBy>
  <cp:revision>1</cp:revision>
  <dcterms:created xsi:type="dcterms:W3CDTF">2026-09-29T05:14:29Z</dcterms:created>
  <dcterms:modified xsi:type="dcterms:W3CDTF">2026-09-29T05:14:29Z</dcterms:modified>
</cp:coreProperties>
</file>