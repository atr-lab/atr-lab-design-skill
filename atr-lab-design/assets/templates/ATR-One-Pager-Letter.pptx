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7772400" cy="10058400"/>
  <p:notesSz cx="10058400"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ONE-PAGER, FRONT. Sections 01-04 (problem, approach, results, the ask) with station plates as the one numbering device. Body 11 pt Source Sans 3 at 15 pt line spacing; one stat in Roboto Slab on the navy callout (gold numeral on navy passes 5.7:1); the mark plate is the only gold on white.
Character budgets: title two lines at 26 pt (about 50 characters, which also holds in Arial; a third line shrinks it to about 22 pt); subhead two lines at 13 pt (about 150 characters); PROBLEM about 300 characters (seven lines at 11 pt); APPROACH sentence two lines plus three one-line bullets; figure caption two lines of mono at 8 pt (about 100 characters); key result numeral up to 5 characters at 32 pt (e.g. 38.5%; the brackets are only the placeholder); stat label about 45 characters (four lines at 10.5 pt); results two bullets, one of which may wrap; the ask about 220 characters; contact name and title two lines at 11 pt (about 45 characters); team three lines at 10.5 pt.
Results: the figure must be a real plot or a consented lab photo with axis labels, units and a color bar; AI imagery never stands in as evidence. Every number carries its source and n ("SOURCE // [study], n = [N]"). Claim only what you can cite; there are no published RoboCup placements, so never claim one.
Sponsor logos: acknowledge NASA and DoD sponsors in text only (their marks need written permission). NSF-funded work must carry the NSF full-color logo (slot on the back, at least 0.625 in) with the award number and disclaimer.
If the sponsor supplies its own template (NASA program, DARPA, AFRL), pour this content into it and follow its font rules (Arial, minimum sizes).
The trademark line is in the front footer (8 pt, the print floor for fine print) so a single-sided print carries it; delete it from the front when the back is printed, where it appears again.
Bands, color fields, panels, plates, logos and the footer live on the slide layout (View &gt; Slide Master), so they cannot be dragged by accident. The text boxes are layout placeholders: New Slide &gt; this layout (layouts are named for people: Event flyer, Recruiting flyer, Certificate, One-pager front and so on) gives you every panel and every box with its prompt, and Reset restores a box you moved. Only swappable content (illustrations, icons, the QR box) sits on the slide itself.
Boxes that hold names, titles and headlines have "Shrink text on overflow" turned on: a value longer than the character budget in these notes shrinks instead of running over the next element. Keep inside the budgets so the type stays at or near the design size; Keynote and Google Slides ignore the setting, so shorten the text there.
Editorial style: "Advanced Telerobotics Research Lab" on first reference, then "the lab"; "Kent State University" first, then "Kent State". No Oxford comma, "and" not "&amp;", dates like "Sept. 23", times like "9 a.m.-noon". Never invent facts: keep the [bracketed] placeholders until you have real values.
PRINT SPECS. This file is built at trim size. Text, logos and QR codes sit at least 0.25 in inside the trim (0.5 in on most edges).
Bleed: color fields and hazard bands run to the page edge. A contracted Kent State printer that trims from oversized stock needs 0.125 in of bleed on every side: ask the printer to add the bleed from the trim-size PDF (every edge element is flat color or a repeating stripe, so the extension is mechanical). If you have the generator (build/templates-src/print), BLEED=1 builds a version whose fields already extend 0.125 in past the trim.
Export: File &gt; Export &gt; PDF at "Best for printing" (PowerPoint cannot write PDF/X; the printer preflights it). Colour: navy = PMS 281 C / C100 M72 Y0 K38, gold = PMS 124 C / C7 M35 Y100 K0. Never let a default RGB-to-CMYK profile convert the gold.
Logos: the Kent State wordmark in this file (assets/logos/ksu) is a working copy of the old Stacked raster (colors corrected); replace with the official UCM file before public use: swap it on the slide layout (View &gt; Slide Master) with the file from https://www.kent.edu/brand/logos at the same size. Keep it at least 1.05 in wide (so UNIVERSITY is at least 1 in) with K-height clear space and the (R).
Fonts: Source Sans 3, Roboto Slab and Source Code Pro (assets/fonts). Embed fonts before sending the file, or send the PDF. Fallbacks are Arial / Georgia / Courier New and every text box carries about 10% width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ONE-PAGER, BACK. Optional second side: about the lab (verified facts only), the sponsor's exact acknowledgement sentence, references in the discipline's style (IEEE here), the contact grid and the Kent State trademark line in 8 pt.
NSF: use the "U.S. National Science Foundation" wording for awards under current terms; the disclaimer is required on every publication except journal articles. Place the NSF full-color logo (unaltered, at least 0.625 in, clear space 1/8 of its width, furthest left in any funder row) in the mist slot and request brand clearance before an exhibit or conference piece is produced; delete the slot's prompt (and the slot on the layout) when the work is not NSF-funded.
Verified handles only: X @atrlab_kent, GitHub ATR-Lab, atrlab.kent@gmail.com, atr.cs.kent.edu. Never print @atr_kent (it does not exist). The department mailing address and main office number are verified; the lab's own room and direct line stay placeholders.
Bands, color fields, panels, plates, logos and the footer live on the slide layout (View &gt; Slide Master), so they cannot be dragged by accident. The text boxes are layout placeholders: New Slide &gt; this layout (layouts are named for people: Event flyer, Recruiting flyer, Certificate, One-pager front and so on) gives you every panel and every box with its prompt, and Reset restores a box you moved. Only swappable content (illustrations, icons, the QR box) sits on the slide itself.
Boxes that hold names, titles and headlines have "Shrink text on overflow" turned on: a value longer than the character budget in these notes shrinks instead of running over the next element. Keep inside the budgets so the type stays at or near the design size; Keynote and Google Slides ignore the setting, so shorten the text there.
Editorial style: "Advanced Telerobotics Research Lab" on first reference, then "the lab"; "Kent State University" first, then "Kent State". No Oxford comma, "and" not "&amp;", dates like "Sept. 23", times like "9 a.m.-noon". Never invent facts: keep the [bracketed] placeholders until you have real values.
Printed pieces that carry Kent State marks add the trademark line in small type (8 pt, the print floor; preferably on the back).
PRINT SPECS. This file is built at trim size. Text, logos and QR codes sit at least 0.25 in inside the trim (0.5 in on most edges).
Bleed: color fields and hazard bands run to the page edge. A contracted Kent State printer that trims from oversized stock needs 0.125 in of bleed on every side: ask the printer to add the bleed from the trim-size PDF (every edge element is flat color or a repeating stripe, so the extension is mechanical). If you have the generator (build/templates-src/print), BLEED=1 builds a version whose fields already extend 0.125 in past the trim.
Export: File &gt; Export &gt; PDF at "Best for printing" (PowerPoint cannot write PDF/X; the printer preflights it). Colour: navy = PMS 281 C / C100 M72 Y0 K38, gold = PMS 124 C / C7 M35 Y100 K0. Never let a default RGB-to-CMYK profile convert the gold.
Logos: the Kent State wordmark in this file (assets/logos/ksu) is a working copy of the old Stacked raster (colors corrected); replace with the official UCM file before public use: swap it on the slide layout (View &gt; Slide Master) with the file from https://www.kent.edu/brand/logos at the same size. Keep it at least 1.05 in wide (so UNIVERSITY is at least 1 in) with K-height clear space and the (R).
Fonts: Source Sans 3, Roboto Slab and Source Code Pro (assets/fonts). Embed fonts before sending the file, or send the PDF. Fallbacks are Arial / Georgia / Courier New and every text box carries about 10% width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One-pager fro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74542" y="569168"/>
            <a:ext cx="332244" cy="342991"/>
          </a:xfrm>
          <a:prstGeom prst="rect">
            <a:avLst/>
          </a:prstGeom>
        </p:spPr>
      </p:pic>
      <p:pic>
        <p:nvPicPr>
          <p:cNvPr id="4" name="Image 1" descr="Kent State University wordmark">    </p:cNvPr>
          <p:cNvPicPr>
            <a:picLocks noChangeAspect="1"/>
          </p:cNvPicPr>
          <p:nvPr/>
        </p:nvPicPr>
        <p:blipFill>
          <a:blip r:embed="rId2"/>
          <a:stretch>
            <a:fillRect/>
          </a:stretch>
        </p:blipFill>
        <p:spPr>
          <a:xfrm>
            <a:off x="6348128" y="457200"/>
            <a:ext cx="967072" cy="923544"/>
          </a:xfrm>
          <a:prstGeom prst="rect">
            <a:avLst/>
          </a:prstGeom>
        </p:spPr>
      </p:pic>
      <p:sp>
        <p:nvSpPr>
          <p:cNvPr id="5" name="Shape 1"/>
          <p:cNvSpPr/>
          <p:nvPr/>
        </p:nvSpPr>
        <p:spPr>
          <a:xfrm>
            <a:off x="457200" y="9308592"/>
            <a:ext cx="6858000" cy="0"/>
          </a:xfrm>
          <a:prstGeom prst="line">
            <a:avLst/>
          </a:prstGeom>
          <a:noFill/>
          <a:ln w="9525">
            <a:solidFill>
              <a:srgbClr val="D6DEE8"/>
            </a:solidFill>
            <a:prstDash val="solid"/>
          </a:ln>
        </p:spPr>
      </p:sp>
      <p:sp>
        <p:nvSpPr>
          <p:cNvPr id="6" name="Text 2"/>
          <p:cNvSpPr txBox="1"/>
          <p:nvPr/>
        </p:nvSpPr>
        <p:spPr>
          <a:xfrm>
            <a:off x="457200" y="9363456"/>
            <a:ext cx="5669280" cy="164592"/>
          </a:xfrm>
          <a:prstGeom prst="rect">
            <a:avLst/>
          </a:prstGeom>
          <a:noFill/>
          <a:ln/>
        </p:spPr>
        <p:txBody>
          <a:bodyPr wrap="square" lIns="0" tIns="0" rIns="0" bIns="0" rtlCol="0" anchor="ctr"/>
          <a:lstStyle/>
          <a:p>
            <a:pPr algn="l" indent="0" marL="0">
              <a:buNone/>
            </a:pPr>
            <a:r>
              <a:rPr lang="en-US" sz="900" dirty="0">
                <a:solidFill>
                  <a:srgbClr val="4A5868"/>
                </a:solidFill>
                <a:latin typeface="Source Sans 3" pitchFamily="34" charset="0"/>
                <a:ea typeface="Source Sans 3" pitchFamily="34" charset="-122"/>
                <a:cs typeface="Source Sans 3" pitchFamily="34" charset="-120"/>
              </a:rPr>
              <a:t>Advanced Telerobotics Research Lab  ·  Department of Computer Science  ·  Kent State University</a:t>
            </a:r>
            <a:endParaRPr lang="en-US" sz="900" dirty="0"/>
          </a:p>
        </p:txBody>
      </p:sp>
      <p:sp>
        <p:nvSpPr>
          <p:cNvPr id="7" name="Text 3"/>
          <p:cNvSpPr txBox="1"/>
          <p:nvPr/>
        </p:nvSpPr>
        <p:spPr>
          <a:xfrm>
            <a:off x="457200" y="9528048"/>
            <a:ext cx="5669280" cy="164592"/>
          </a:xfrm>
          <a:prstGeom prst="rect">
            <a:avLst/>
          </a:prstGeom>
          <a:noFill/>
          <a:ln/>
        </p:spPr>
        <p:txBody>
          <a:bodyPr wrap="square" lIns="0" tIns="0" rIns="0" bIns="0" rtlCol="0" anchor="ctr"/>
          <a:lstStyle/>
          <a:p>
            <a:pPr algn="l" indent="0" marL="0">
              <a:buNone/>
            </a:pPr>
            <a:r>
              <a:rPr lang="en-US" sz="900" dirty="0">
                <a:solidFill>
                  <a:srgbClr val="4A5868"/>
                </a:solidFill>
                <a:latin typeface="Source Sans 3" pitchFamily="34" charset="0"/>
                <a:ea typeface="Source Sans 3" pitchFamily="34" charset="-122"/>
                <a:cs typeface="Source Sans 3" pitchFamily="34" charset="-120"/>
              </a:rPr>
              <a:t>atr.cs.kent.edu  ·  atrlab.kent@gmail.com  ·  @atrlab_kent on X  ·  github.com/ATR-Lab</a:t>
            </a:r>
            <a:endParaRPr lang="en-US" sz="900" dirty="0"/>
          </a:p>
        </p:txBody>
      </p:sp>
      <p:sp>
        <p:nvSpPr>
          <p:cNvPr id="8" name="Text 4"/>
          <p:cNvSpPr txBox="1"/>
          <p:nvPr/>
        </p:nvSpPr>
        <p:spPr>
          <a:xfrm>
            <a:off x="457200" y="9692640"/>
            <a:ext cx="6858000" cy="128016"/>
          </a:xfrm>
          <a:prstGeom prst="rect">
            <a:avLst/>
          </a:prstGeom>
          <a:noFill/>
          <a:ln/>
        </p:spPr>
        <p:txBody>
          <a:bodyPr wrap="square" lIns="0" tIns="0" rIns="0" bIns="0" rtlCol="0" anchor="ctr"/>
          <a:lstStyle/>
          <a:p>
            <a:pPr algn="l" indent="0" marL="0">
              <a:buNone/>
            </a:pPr>
            <a:r>
              <a:rPr lang="en-US" sz="800" dirty="0">
                <a:solidFill>
                  <a:srgbClr val="4A5868"/>
                </a:solidFill>
                <a:latin typeface="Source Sans 3" pitchFamily="34" charset="0"/>
                <a:ea typeface="Source Sans 3" pitchFamily="34" charset="-122"/>
                <a:cs typeface="Source Sans 3" pitchFamily="34" charset="-120"/>
              </a:rPr>
              <a:t>Kent State University, Kent State and KSU are registered trademarks and may not be used without permission.</a:t>
            </a:r>
            <a:endParaRPr lang="en-US" sz="800" dirty="0"/>
          </a:p>
        </p:txBody>
      </p:sp>
      <p:sp>
        <p:nvSpPr>
          <p:cNvPr id="9" name="Text 5"/>
          <p:cNvSpPr/>
          <p:nvPr>
            <p:ph idx="107" type="body" hasCustomPrompt="1"/>
          </p:nvPr>
        </p:nvSpPr>
        <p:spPr>
          <a:xfrm>
            <a:off x="1207008" y="420624"/>
            <a:ext cx="4800600" cy="209550"/>
          </a:xfrm>
          <a:prstGeom prst="rect">
            <a:avLst/>
          </a:prstGeom>
          <a:noFill/>
          <a:ln/>
        </p:spPr>
        <p:txBody>
          <a:bodyPr wrap="square" lIns="0" tIns="0" rIns="0" bIns="0" rtlCol="0" anchor="ctr"/>
          <a:lstStyle>
            <a:lvl1pPr algn="l" indent="0" marL="0">
              <a:buNone/>
              <a:defRPr lang="en-US" sz="1100" b="1" spc="198" kern="0" dirty="0">
                <a:solidFill>
                  <a:srgbClr val="8A6100"/>
                </a:solidFill>
                <a:latin typeface="Source Sans 3" pitchFamily="34" charset="0"/>
                <a:ea typeface="Source Sans 3" pitchFamily="34" charset="-122"/>
                <a:cs typeface="Source Sans 3" pitchFamily="34" charset="-120"/>
              </a:defRPr>
            </a:lvl1pPr>
          </a:lstStyle>
          <a:p>
            <a:pPr algn="l" indent="0" marL="0">
              <a:buNone/>
            </a:pPr>
            <a:r>
              <a:rPr lang="en-US" sz="1100" b="1" spc="198" kern="0" dirty="0">
                <a:solidFill>
                  <a:srgbClr val="8A6100"/>
                </a:solidFill>
                <a:latin typeface="Source Sans 3" pitchFamily="34" charset="0"/>
                <a:ea typeface="Source Sans 3" pitchFamily="34" charset="-122"/>
                <a:cs typeface="Source Sans 3" pitchFamily="34" charset="-120"/>
              </a:rPr>
              <a:t>ONE-PAGER  ·  [SPONSOR]  ·  [SEPT. 2026]</a:t>
            </a:r>
            <a:endParaRPr lang="en-US" sz="1100" dirty="0"/>
          </a:p>
        </p:txBody>
      </p:sp>
      <p:sp>
        <p:nvSpPr>
          <p:cNvPr id="10" name="Text 5"/>
          <p:cNvSpPr/>
          <p:nvPr>
            <p:ph idx="108" type="title" hasCustomPrompt="1"/>
          </p:nvPr>
        </p:nvSpPr>
        <p:spPr>
          <a:xfrm>
            <a:off x="1207008" y="676656"/>
            <a:ext cx="4800600" cy="777240"/>
          </a:xfrm>
          <a:prstGeom prst="rect">
            <a:avLst/>
          </a:prstGeom>
          <a:noFill/>
          <a:ln/>
        </p:spPr>
        <p:txBody>
          <a:bodyPr wrap="square" lIns="0" tIns="0" rIns="0" bIns="0" rtlCol="0" anchor="t">
            <a:normAutofit/>
          </a:bodyPr>
          <a:lstStyle>
            <a:lvl1pPr algn="l" indent="0" marL="0">
              <a:lnSpc>
                <a:spcPts val="3000"/>
              </a:lnSpc>
              <a:buNone/>
              <a:defRPr lang="en-US" sz="2600" b="1" dirty="0">
                <a:solidFill>
                  <a:srgbClr val="003976"/>
                </a:solidFill>
                <a:latin typeface="Source Sans 3" pitchFamily="34" charset="0"/>
                <a:ea typeface="Source Sans 3" pitchFamily="34" charset="-122"/>
                <a:cs typeface="Source Sans 3" pitchFamily="34" charset="-120"/>
              </a:defRPr>
            </a:lvl1pPr>
          </a:lstStyle>
          <a:p>
            <a:pPr algn="l" indent="0" marL="0">
              <a:lnSpc>
                <a:spcPts val="3000"/>
              </a:lnSpc>
              <a:buNone/>
            </a:pPr>
            <a:r>
              <a:rPr lang="en-US" sz="2600" b="1" dirty="0">
                <a:solidFill>
                  <a:srgbClr val="003976"/>
                </a:solidFill>
                <a:latin typeface="Source Sans 3" pitchFamily="34" charset="0"/>
                <a:ea typeface="Source Sans 3" pitchFamily="34" charset="-122"/>
                <a:cs typeface="Source Sans 3" pitchFamily="34" charset="-120"/>
              </a:rPr>
              <a:t>[Project title: a finding or a goal, not a paper title]</a:t>
            </a:r>
            <a:endParaRPr lang="en-US" sz="2600" dirty="0"/>
          </a:p>
        </p:txBody>
      </p:sp>
      <p:sp>
        <p:nvSpPr>
          <p:cNvPr id="11" name="Text 5"/>
          <p:cNvSpPr/>
          <p:nvPr>
            <p:ph idx="109" type="body" hasCustomPrompt="1"/>
          </p:nvPr>
        </p:nvSpPr>
        <p:spPr>
          <a:xfrm>
            <a:off x="457200" y="1682496"/>
            <a:ext cx="6858000" cy="457200"/>
          </a:xfrm>
          <a:prstGeom prst="rect">
            <a:avLst/>
          </a:prstGeom>
          <a:noFill/>
          <a:ln/>
        </p:spPr>
        <p:txBody>
          <a:bodyPr wrap="square" lIns="0" tIns="0" rIns="0" bIns="0" rtlCol="0" anchor="t">
            <a:normAutofit/>
          </a:bodyPr>
          <a:lstStyle>
            <a:lvl1pPr algn="l" indent="0" marL="0">
              <a:lnSpc>
                <a:spcPts val="1700"/>
              </a:lnSpc>
              <a:buNone/>
              <a:defRPr lang="en-US" sz="1300" b="1" dirty="0">
                <a:solidFill>
                  <a:srgbClr val="003976"/>
                </a:solidFill>
                <a:latin typeface="Source Sans 3" pitchFamily="34" charset="0"/>
                <a:ea typeface="Source Sans 3" pitchFamily="34" charset="-122"/>
                <a:cs typeface="Source Sans 3" pitchFamily="34" charset="-120"/>
              </a:defRPr>
            </a:lvl1pPr>
          </a:lstStyle>
          <a:p>
            <a:pPr algn="l" indent="0" marL="0">
              <a:lnSpc>
                <a:spcPts val="1700"/>
              </a:lnSpc>
              <a:buNone/>
            </a:pPr>
            <a:r>
              <a:rPr lang="en-US" sz="1300" b="1" dirty="0">
                <a:solidFill>
                  <a:srgbClr val="003976"/>
                </a:solidFill>
                <a:latin typeface="Source Sans 3" pitchFamily="34" charset="0"/>
                <a:ea typeface="Source Sans 3" pitchFamily="34" charset="-122"/>
                <a:cs typeface="Source Sans 3" pitchFamily="34" charset="-120"/>
              </a:rPr>
              <a:t>[One sentence: what the project does, for whom and why it matters. Keep it to two lines.]</a:t>
            </a:r>
            <a:endParaRPr lang="en-US" sz="1300" dirty="0"/>
          </a:p>
        </p:txBody>
      </p:sp>
      <p:sp>
        <p:nvSpPr>
          <p:cNvPr id="12" name="Shape 5"/>
          <p:cNvSpPr/>
          <p:nvPr/>
        </p:nvSpPr>
        <p:spPr>
          <a:xfrm>
            <a:off x="457200" y="2331720"/>
            <a:ext cx="329184" cy="329184"/>
          </a:xfrm>
          <a:prstGeom prst="rect">
            <a:avLst/>
          </a:prstGeom>
          <a:solidFill>
            <a:srgbClr val="003976"/>
          </a:solidFill>
          <a:ln w="12700">
            <a:solidFill>
              <a:srgbClr val="003976"/>
            </a:solidFill>
            <a:prstDash val="solid"/>
          </a:ln>
        </p:spPr>
      </p:sp>
      <p:sp>
        <p:nvSpPr>
          <p:cNvPr id="13" name="Text 6"/>
          <p:cNvSpPr txBox="1"/>
          <p:nvPr/>
        </p:nvSpPr>
        <p:spPr>
          <a:xfrm>
            <a:off x="457200" y="2331720"/>
            <a:ext cx="329184" cy="329184"/>
          </a:xfrm>
          <a:prstGeom prst="rect">
            <a:avLst/>
          </a:prstGeom>
          <a:noFill/>
          <a:ln/>
        </p:spPr>
        <p:txBody>
          <a:bodyPr wrap="square" lIns="0" tIns="0" rIns="0" bIns="0" rtlCol="0" anchor="ctr"/>
          <a:lstStyle/>
          <a:p>
            <a:pPr algn="ctr" indent="0" marL="0">
              <a:buNone/>
            </a:pPr>
            <a:r>
              <a:rPr lang="en-US" sz="1200" b="1" dirty="0">
                <a:solidFill>
                  <a:srgbClr val="EFAB00"/>
                </a:solidFill>
                <a:latin typeface="Roboto Slab" pitchFamily="34" charset="0"/>
                <a:ea typeface="Roboto Slab" pitchFamily="34" charset="-122"/>
                <a:cs typeface="Roboto Slab" pitchFamily="34" charset="-120"/>
              </a:rPr>
              <a:t>01</a:t>
            </a:r>
            <a:endParaRPr lang="en-US" sz="1200" dirty="0"/>
          </a:p>
        </p:txBody>
      </p:sp>
      <p:sp>
        <p:nvSpPr>
          <p:cNvPr id="14" name="Text 7"/>
          <p:cNvSpPr txBox="1"/>
          <p:nvPr/>
        </p:nvSpPr>
        <p:spPr>
          <a:xfrm>
            <a:off x="896112" y="2350008"/>
            <a:ext cx="2852928" cy="292608"/>
          </a:xfrm>
          <a:prstGeom prst="rect">
            <a:avLst/>
          </a:prstGeom>
          <a:noFill/>
          <a:ln/>
        </p:spPr>
        <p:txBody>
          <a:bodyPr wrap="square" lIns="0" tIns="0" rIns="0" bIns="0" rtlCol="0" anchor="ctr"/>
          <a:lstStyle/>
          <a:p>
            <a:pPr algn="l" indent="0" marL="0">
              <a:buNone/>
            </a:pPr>
            <a:r>
              <a:rPr lang="en-US" sz="1100" b="1" spc="198" kern="0" dirty="0">
                <a:solidFill>
                  <a:srgbClr val="8A6100"/>
                </a:solidFill>
                <a:latin typeface="Source Sans 3" pitchFamily="34" charset="0"/>
                <a:ea typeface="Source Sans 3" pitchFamily="34" charset="-122"/>
                <a:cs typeface="Source Sans 3" pitchFamily="34" charset="-120"/>
              </a:rPr>
              <a:t>PROBLEM</a:t>
            </a:r>
            <a:endParaRPr lang="en-US" sz="1100" dirty="0"/>
          </a:p>
        </p:txBody>
      </p:sp>
      <p:sp>
        <p:nvSpPr>
          <p:cNvPr id="15" name="Text 8"/>
          <p:cNvSpPr/>
          <p:nvPr>
            <p:ph idx="113" type="body" hasCustomPrompt="1"/>
          </p:nvPr>
        </p:nvSpPr>
        <p:spPr>
          <a:xfrm>
            <a:off x="457200" y="2743200"/>
            <a:ext cx="3291840" cy="1371600"/>
          </a:xfrm>
          <a:prstGeom prst="rect">
            <a:avLst/>
          </a:prstGeom>
          <a:noFill/>
          <a:ln/>
        </p:spPr>
        <p:txBody>
          <a:bodyPr wrap="square" lIns="0" tIns="0" rIns="0" bIns="0" rtlCol="0" anchor="t">
            <a:normAutofit/>
          </a:bodyPr>
          <a:lstStyle>
            <a:lvl1pPr algn="l" indent="0" marL="0">
              <a:lnSpc>
                <a:spcPts val="1500"/>
              </a:lnSpc>
              <a:buNone/>
              <a:defRPr lang="en-US" sz="1100" dirty="0">
                <a:solidFill>
                  <a:srgbClr val="1B2533"/>
                </a:solidFill>
                <a:latin typeface="Source Sans 3" pitchFamily="34" charset="0"/>
                <a:ea typeface="Source Sans 3" pitchFamily="34" charset="-122"/>
                <a:cs typeface="Source Sans 3" pitchFamily="34" charset="-120"/>
              </a:defRPr>
            </a:lvl1pPr>
          </a:lstStyle>
          <a:p>
            <a:pPr algn="l" indent="0" marL="0">
              <a:lnSpc>
                <a:spcPts val="1500"/>
              </a:lnSpc>
              <a:buNone/>
            </a:pPr>
            <a:r>
              <a:rPr lang="en-US" sz="1100" dirty="0">
                <a:solidFill>
                  <a:srgbClr val="1B2533"/>
                </a:solidFill>
                <a:latin typeface="Source Sans 3" pitchFamily="34" charset="0"/>
                <a:ea typeface="Source Sans 3" pitchFamily="34" charset="-122"/>
                <a:cs typeface="Source Sans 3" pitchFamily="34" charset="-120"/>
              </a:rPr>
              <a:t>[Two or three sentences on the need: who has this problem, what it costs them today and what changes if it is solved. Cite one number with its source.]</a:t>
            </a:r>
            <a:endParaRPr lang="en-US" sz="1100" dirty="0"/>
          </a:p>
        </p:txBody>
      </p:sp>
      <p:sp>
        <p:nvSpPr>
          <p:cNvPr id="16" name="Shape 8"/>
          <p:cNvSpPr/>
          <p:nvPr/>
        </p:nvSpPr>
        <p:spPr>
          <a:xfrm>
            <a:off x="457200" y="4343400"/>
            <a:ext cx="329184" cy="329184"/>
          </a:xfrm>
          <a:prstGeom prst="rect">
            <a:avLst/>
          </a:prstGeom>
          <a:solidFill>
            <a:srgbClr val="003976"/>
          </a:solidFill>
          <a:ln w="12700">
            <a:solidFill>
              <a:srgbClr val="003976"/>
            </a:solidFill>
            <a:prstDash val="solid"/>
          </a:ln>
        </p:spPr>
      </p:sp>
      <p:sp>
        <p:nvSpPr>
          <p:cNvPr id="17" name="Text 9"/>
          <p:cNvSpPr txBox="1"/>
          <p:nvPr/>
        </p:nvSpPr>
        <p:spPr>
          <a:xfrm>
            <a:off x="457200" y="4343400"/>
            <a:ext cx="329184" cy="329184"/>
          </a:xfrm>
          <a:prstGeom prst="rect">
            <a:avLst/>
          </a:prstGeom>
          <a:noFill/>
          <a:ln/>
        </p:spPr>
        <p:txBody>
          <a:bodyPr wrap="square" lIns="0" tIns="0" rIns="0" bIns="0" rtlCol="0" anchor="ctr"/>
          <a:lstStyle/>
          <a:p>
            <a:pPr algn="ctr" indent="0" marL="0">
              <a:buNone/>
            </a:pPr>
            <a:r>
              <a:rPr lang="en-US" sz="1200" b="1" dirty="0">
                <a:solidFill>
                  <a:srgbClr val="EFAB00"/>
                </a:solidFill>
                <a:latin typeface="Roboto Slab" pitchFamily="34" charset="0"/>
                <a:ea typeface="Roboto Slab" pitchFamily="34" charset="-122"/>
                <a:cs typeface="Roboto Slab" pitchFamily="34" charset="-120"/>
              </a:rPr>
              <a:t>02</a:t>
            </a:r>
            <a:endParaRPr lang="en-US" sz="1200" dirty="0"/>
          </a:p>
        </p:txBody>
      </p:sp>
      <p:sp>
        <p:nvSpPr>
          <p:cNvPr id="18" name="Text 10"/>
          <p:cNvSpPr txBox="1"/>
          <p:nvPr/>
        </p:nvSpPr>
        <p:spPr>
          <a:xfrm>
            <a:off x="896112" y="4361688"/>
            <a:ext cx="2852928" cy="292608"/>
          </a:xfrm>
          <a:prstGeom prst="rect">
            <a:avLst/>
          </a:prstGeom>
          <a:noFill/>
          <a:ln/>
        </p:spPr>
        <p:txBody>
          <a:bodyPr wrap="square" lIns="0" tIns="0" rIns="0" bIns="0" rtlCol="0" anchor="ctr"/>
          <a:lstStyle/>
          <a:p>
            <a:pPr algn="l" indent="0" marL="0">
              <a:buNone/>
            </a:pPr>
            <a:r>
              <a:rPr lang="en-US" sz="1100" b="1" spc="198" kern="0" dirty="0">
                <a:solidFill>
                  <a:srgbClr val="8A6100"/>
                </a:solidFill>
                <a:latin typeface="Source Sans 3" pitchFamily="34" charset="0"/>
                <a:ea typeface="Source Sans 3" pitchFamily="34" charset="-122"/>
                <a:cs typeface="Source Sans 3" pitchFamily="34" charset="-120"/>
              </a:rPr>
              <a:t>APPROACH</a:t>
            </a:r>
            <a:endParaRPr lang="en-US" sz="1100" dirty="0"/>
          </a:p>
        </p:txBody>
      </p:sp>
      <p:sp>
        <p:nvSpPr>
          <p:cNvPr id="19" name="Text 11"/>
          <p:cNvSpPr/>
          <p:nvPr>
            <p:ph idx="117" type="body" hasCustomPrompt="1"/>
          </p:nvPr>
        </p:nvSpPr>
        <p:spPr>
          <a:xfrm>
            <a:off x="457200" y="4754880"/>
            <a:ext cx="3291840" cy="457200"/>
          </a:xfrm>
          <a:prstGeom prst="rect">
            <a:avLst/>
          </a:prstGeom>
          <a:noFill/>
          <a:ln/>
        </p:spPr>
        <p:txBody>
          <a:bodyPr wrap="square" lIns="0" tIns="0" rIns="0" bIns="0" rtlCol="0" anchor="t"/>
          <a:lstStyle>
            <a:lvl1pPr algn="l" indent="0" marL="0">
              <a:lnSpc>
                <a:spcPts val="1500"/>
              </a:lnSpc>
              <a:buNone/>
              <a:defRPr lang="en-US" sz="1100" dirty="0">
                <a:solidFill>
                  <a:srgbClr val="1B2533"/>
                </a:solidFill>
                <a:latin typeface="Source Sans 3" pitchFamily="34" charset="0"/>
                <a:ea typeface="Source Sans 3" pitchFamily="34" charset="-122"/>
                <a:cs typeface="Source Sans 3" pitchFamily="34" charset="-120"/>
              </a:defRPr>
            </a:lvl1pPr>
          </a:lstStyle>
          <a:p>
            <a:pPr algn="l" indent="0" marL="0">
              <a:lnSpc>
                <a:spcPts val="1500"/>
              </a:lnSpc>
              <a:buNone/>
            </a:pPr>
            <a:r>
              <a:rPr lang="en-US" sz="1100" dirty="0">
                <a:solidFill>
                  <a:srgbClr val="1B2533"/>
                </a:solidFill>
                <a:latin typeface="Source Sans 3" pitchFamily="34" charset="0"/>
                <a:ea typeface="Source Sans 3" pitchFamily="34" charset="-122"/>
                <a:cs typeface="Source Sans 3" pitchFamily="34" charset="-120"/>
              </a:rPr>
              <a:t>[One sentence on the method and why it is the right one.]</a:t>
            </a:r>
            <a:endParaRPr lang="en-US" sz="1100" dirty="0"/>
          </a:p>
        </p:txBody>
      </p:sp>
      <p:sp>
        <p:nvSpPr>
          <p:cNvPr id="20" name="Text 11"/>
          <p:cNvSpPr/>
          <p:nvPr>
            <p:ph idx="118" type="body" hasCustomPrompt="1"/>
          </p:nvPr>
        </p:nvSpPr>
        <p:spPr>
          <a:xfrm>
            <a:off x="457200" y="5257800"/>
            <a:ext cx="3291840" cy="1188720"/>
          </a:xfrm>
          <a:prstGeom prst="rect">
            <a:avLst/>
          </a:prstGeom>
          <a:noFill/>
          <a:ln/>
        </p:spPr>
        <p:txBody>
          <a:bodyPr wrap="square" lIns="0" tIns="0" rIns="0" bIns="0" rtlCol="0" anchor="t"/>
          <a:lstStyle>
            <a:lvl1pPr algn="l" indent="0" marL="0">
              <a:lnSpc>
                <a:spcPts val="1500"/>
              </a:lnSpc>
              <a:buNone/>
              <a:defRPr lang="en-US" sz="1100" dirty="0">
                <a:solidFill>
                  <a:srgbClr val="1B2533"/>
                </a:solidFill>
                <a:latin typeface="Source Sans 3" pitchFamily="34" charset="0"/>
                <a:ea typeface="Source Sans 3" pitchFamily="34" charset="-122"/>
                <a:cs typeface="Source Sans 3" pitchFamily="34" charset="-120"/>
              </a:defRPr>
            </a:lvl1pPr>
          </a:lstStyle>
          <a:p>
            <a:pPr algn="l" indent="0" marL="0">
              <a:lnSpc>
                <a:spcPts val="1500"/>
              </a:lnSpc>
              <a:buNone/>
            </a:pPr>
            <a:r>
              <a:rPr lang="en-US" sz="1100" dirty="0">
                <a:solidFill>
                  <a:srgbClr val="1B2533"/>
                </a:solidFill>
                <a:latin typeface="Source Sans 3" pitchFamily="34" charset="0"/>
                <a:ea typeface="Source Sans 3" pitchFamily="34" charset="-122"/>
                <a:cs typeface="Source Sans 3" pitchFamily="34" charset="-120"/>
              </a:rPr>
              <a:t>[Method or system component 1]</a:t>
            </a:r>
            <a:endParaRPr lang="en-US" sz="1100" dirty="0"/>
          </a:p>
          <a:p>
            <a:pPr algn="l" indent="0" marL="0">
              <a:lnSpc>
                <a:spcPts val="1500"/>
              </a:lnSpc>
              <a:buNone/>
            </a:pPr>
            <a:r>
              <a:rPr lang="en-US" sz="1100" dirty="0">
                <a:solidFill>
                  <a:srgbClr val="1B2533"/>
                </a:solidFill>
                <a:latin typeface="Source Sans 3" pitchFamily="34" charset="0"/>
                <a:ea typeface="Source Sans 3" pitchFamily="34" charset="-122"/>
                <a:cs typeface="Source Sans 3" pitchFamily="34" charset="-120"/>
              </a:rPr>
              <a:t>[Method or system component 2]</a:t>
            </a:r>
            <a:endParaRPr lang="en-US" sz="1100" dirty="0"/>
          </a:p>
          <a:p>
            <a:pPr algn="l" indent="0" marL="0">
              <a:lnSpc>
                <a:spcPts val="1500"/>
              </a:lnSpc>
              <a:buNone/>
            </a:pPr>
            <a:r>
              <a:rPr lang="en-US" sz="1100" dirty="0">
                <a:solidFill>
                  <a:srgbClr val="1B2533"/>
                </a:solidFill>
                <a:latin typeface="Source Sans 3" pitchFamily="34" charset="0"/>
                <a:ea typeface="Source Sans 3" pitchFamily="34" charset="-122"/>
                <a:cs typeface="Source Sans 3" pitchFamily="34" charset="-120"/>
              </a:rPr>
              <a:t>[Evaluation: task, participants, metric]</a:t>
            </a:r>
            <a:endParaRPr lang="en-US" sz="1100" dirty="0"/>
          </a:p>
        </p:txBody>
      </p:sp>
      <p:sp>
        <p:nvSpPr>
          <p:cNvPr id="21" name="Text 11"/>
          <p:cNvSpPr txBox="1"/>
          <p:nvPr/>
        </p:nvSpPr>
        <p:spPr>
          <a:xfrm>
            <a:off x="457200" y="6583680"/>
            <a:ext cx="3291840" cy="190500"/>
          </a:xfrm>
          <a:prstGeom prst="rect">
            <a:avLst/>
          </a:prstGeom>
          <a:noFill/>
          <a:ln/>
        </p:spPr>
        <p:txBody>
          <a:bodyPr wrap="square" lIns="0" tIns="0" rIns="0" bIns="0" rtlCol="0" anchor="ctr"/>
          <a:lstStyle/>
          <a:p>
            <a:pPr algn="l" indent="0" marL="0">
              <a:buNone/>
            </a:pPr>
            <a:r>
              <a:rPr lang="en-US" sz="1000" b="1" spc="180" kern="0" dirty="0">
                <a:solidFill>
                  <a:srgbClr val="8A6100"/>
                </a:solidFill>
                <a:latin typeface="Source Sans 3" pitchFamily="34" charset="0"/>
                <a:ea typeface="Source Sans 3" pitchFamily="34" charset="-122"/>
                <a:cs typeface="Source Sans 3" pitchFamily="34" charset="-120"/>
              </a:rPr>
              <a:t>TEAM</a:t>
            </a:r>
            <a:endParaRPr lang="en-US" sz="1000" dirty="0"/>
          </a:p>
        </p:txBody>
      </p:sp>
      <p:sp>
        <p:nvSpPr>
          <p:cNvPr id="22" name="Text 12"/>
          <p:cNvSpPr/>
          <p:nvPr>
            <p:ph idx="120" type="body" hasCustomPrompt="1"/>
          </p:nvPr>
        </p:nvSpPr>
        <p:spPr>
          <a:xfrm>
            <a:off x="457200" y="6812280"/>
            <a:ext cx="3291840" cy="548640"/>
          </a:xfrm>
          <a:prstGeom prst="rect">
            <a:avLst/>
          </a:prstGeom>
          <a:noFill/>
          <a:ln/>
        </p:spPr>
        <p:txBody>
          <a:bodyPr wrap="square" lIns="0" tIns="0" rIns="0" bIns="0" rtlCol="0" anchor="t"/>
          <a:lstStyle>
            <a:lvl1pPr algn="l" indent="0" marL="0">
              <a:lnSpc>
                <a:spcPts val="1400"/>
              </a:lnSpc>
              <a:buNone/>
              <a:defRPr lang="en-US" sz="1050" dirty="0">
                <a:solidFill>
                  <a:srgbClr val="4A5868"/>
                </a:solidFill>
                <a:latin typeface="Source Sans 3" pitchFamily="34" charset="0"/>
                <a:ea typeface="Source Sans 3" pitchFamily="34" charset="-122"/>
                <a:cs typeface="Source Sans 3" pitchFamily="34" charset="-120"/>
              </a:defRPr>
            </a:lvl1pPr>
          </a:lstStyle>
          <a:p>
            <a:pPr algn="l" indent="0" marL="0">
              <a:lnSpc>
                <a:spcPts val="1400"/>
              </a:lnSpc>
              <a:buNone/>
            </a:pPr>
            <a:r>
              <a:rPr lang="en-US" sz="1050" dirty="0">
                <a:solidFill>
                  <a:srgbClr val="4A5868"/>
                </a:solidFill>
                <a:latin typeface="Source Sans 3" pitchFamily="34" charset="0"/>
                <a:ea typeface="Source Sans 3" pitchFamily="34" charset="-122"/>
                <a:cs typeface="Source Sans 3" pitchFamily="34" charset="-120"/>
              </a:rPr>
              <a:t>[PI Name], [Co-I Name], [N] graduate and [N] undergraduate researchers, Advanced Telerobotics Research Lab</a:t>
            </a:r>
            <a:endParaRPr lang="en-US" sz="1050" dirty="0"/>
          </a:p>
        </p:txBody>
      </p:sp>
      <p:sp>
        <p:nvSpPr>
          <p:cNvPr id="23" name="Shape 12"/>
          <p:cNvSpPr/>
          <p:nvPr/>
        </p:nvSpPr>
        <p:spPr>
          <a:xfrm>
            <a:off x="4023360" y="2331720"/>
            <a:ext cx="3291840" cy="2103120"/>
          </a:xfrm>
          <a:prstGeom prst="rect">
            <a:avLst/>
          </a:prstGeom>
          <a:solidFill>
            <a:srgbClr val="F3F6FA"/>
          </a:solidFill>
          <a:ln w="12700">
            <a:solidFill>
              <a:srgbClr val="F3F6FA"/>
            </a:solidFill>
            <a:prstDash val="solid"/>
          </a:ln>
        </p:spPr>
      </p:sp>
      <p:sp>
        <p:nvSpPr>
          <p:cNvPr id="24" name="Text 13"/>
          <p:cNvSpPr/>
          <p:nvPr>
            <p:ph idx="122" type="body" hasCustomPrompt="1"/>
          </p:nvPr>
        </p:nvSpPr>
        <p:spPr>
          <a:xfrm>
            <a:off x="4297680" y="2606040"/>
            <a:ext cx="2743200" cy="1554480"/>
          </a:xfrm>
          <a:prstGeom prst="rect">
            <a:avLst/>
          </a:prstGeom>
          <a:noFill/>
          <a:ln/>
        </p:spPr>
        <p:txBody>
          <a:bodyPr wrap="square" lIns="0" tIns="0" rIns="0" bIns="0" rtlCol="0" anchor="ctr"/>
          <a:lstStyle>
            <a:lvl1pPr algn="ctr" indent="0" marL="0">
              <a:lnSpc>
                <a:spcPts val="1400"/>
              </a:lnSpc>
              <a:buNone/>
              <a:defRPr lang="en-US" sz="1000" dirty="0">
                <a:solidFill>
                  <a:srgbClr val="4A5868"/>
                </a:solidFill>
                <a:latin typeface="Source Sans 3" pitchFamily="34" charset="0"/>
                <a:ea typeface="Source Sans 3" pitchFamily="34" charset="-122"/>
                <a:cs typeface="Source Sans 3" pitchFamily="34" charset="-120"/>
              </a:defRPr>
            </a:lvl1pPr>
          </a:lstStyle>
          <a:p>
            <a:pPr algn="ctr" indent="0" marL="0">
              <a:lnSpc>
                <a:spcPts val="1400"/>
              </a:lnSpc>
              <a:buNone/>
            </a:pPr>
            <a:r>
              <a:rPr lang="en-US" sz="1000" dirty="0">
                <a:solidFill>
                  <a:srgbClr val="4A5868"/>
                </a:solidFill>
                <a:latin typeface="Source Sans 3" pitchFamily="34" charset="0"/>
                <a:ea typeface="Source Sans 3" pitchFamily="34" charset="-122"/>
                <a:cs typeface="Source Sans 3" pitchFamily="34" charset="-120"/>
              </a:rPr>
              <a:t>[Figure or real lab photo]</a:t>
            </a:r>
            <a:endParaRPr lang="en-US" sz="1000" dirty="0"/>
          </a:p>
          <a:p>
            <a:pPr algn="ctr" indent="0" marL="0">
              <a:lnSpc>
                <a:spcPts val="1400"/>
              </a:lnSpc>
              <a:buNone/>
            </a:pPr>
            <a:r>
              <a:rPr lang="en-US" sz="1000" dirty="0">
                <a:solidFill>
                  <a:srgbClr val="4A5868"/>
                </a:solidFill>
                <a:latin typeface="Source Sans 3" pitchFamily="34" charset="0"/>
                <a:ea typeface="Source Sans 3" pitchFamily="34" charset="-122"/>
                <a:cs typeface="Source Sans 3" pitchFamily="34" charset="-120"/>
              </a:rPr>
              <a:t>axis labels, units, color bar; alt text</a:t>
            </a:r>
            <a:endParaRPr lang="en-US" sz="1000" dirty="0"/>
          </a:p>
        </p:txBody>
      </p:sp>
      <p:sp>
        <p:nvSpPr>
          <p:cNvPr id="25" name="Text 13"/>
          <p:cNvSpPr/>
          <p:nvPr>
            <p:ph idx="123" type="body" hasCustomPrompt="1"/>
          </p:nvPr>
        </p:nvSpPr>
        <p:spPr>
          <a:xfrm>
            <a:off x="4023360" y="4507992"/>
            <a:ext cx="3291840" cy="256032"/>
          </a:xfrm>
          <a:prstGeom prst="rect">
            <a:avLst/>
          </a:prstGeom>
          <a:noFill/>
          <a:ln/>
        </p:spPr>
        <p:txBody>
          <a:bodyPr wrap="square" lIns="0" tIns="0" rIns="0" bIns="0" rtlCol="0" anchor="t"/>
          <a:lstStyle>
            <a:lvl1pPr algn="l" indent="0" marL="0">
              <a:lnSpc>
                <a:spcPts val="1000"/>
              </a:lnSpc>
              <a:buNone/>
              <a:defRPr lang="en-US" sz="800" dirty="0">
                <a:solidFill>
                  <a:srgbClr val="4A5868"/>
                </a:solidFill>
                <a:latin typeface="Source Code Pro" pitchFamily="34" charset="0"/>
                <a:ea typeface="Source Code Pro" pitchFamily="34" charset="-122"/>
                <a:cs typeface="Source Code Pro" pitchFamily="34" charset="-120"/>
              </a:defRPr>
            </a:lvl1pPr>
          </a:lstStyle>
          <a:p>
            <a:pPr algn="l" indent="0" marL="0">
              <a:lnSpc>
                <a:spcPts val="1000"/>
              </a:lnSpc>
              <a:buNone/>
            </a:pPr>
            <a:r>
              <a:rPr lang="en-US" sz="800" dirty="0">
                <a:solidFill>
                  <a:srgbClr val="4A5868"/>
                </a:solidFill>
                <a:latin typeface="Source Code Pro" pitchFamily="34" charset="0"/>
                <a:ea typeface="Source Code Pro" pitchFamily="34" charset="-122"/>
                <a:cs typeface="Source Code Pro" pitchFamily="34" charset="-120"/>
              </a:rPr>
              <a:t>FIG. 01 // [What the figure shows, up to two lines]</a:t>
            </a:r>
            <a:endParaRPr lang="en-US" sz="800" dirty="0"/>
          </a:p>
        </p:txBody>
      </p:sp>
      <p:sp>
        <p:nvSpPr>
          <p:cNvPr id="26" name="Shape 13"/>
          <p:cNvSpPr/>
          <p:nvPr/>
        </p:nvSpPr>
        <p:spPr>
          <a:xfrm>
            <a:off x="4023360" y="4937760"/>
            <a:ext cx="329184" cy="329184"/>
          </a:xfrm>
          <a:prstGeom prst="rect">
            <a:avLst/>
          </a:prstGeom>
          <a:solidFill>
            <a:srgbClr val="003976"/>
          </a:solidFill>
          <a:ln w="12700">
            <a:solidFill>
              <a:srgbClr val="003976"/>
            </a:solidFill>
            <a:prstDash val="solid"/>
          </a:ln>
        </p:spPr>
      </p:sp>
      <p:sp>
        <p:nvSpPr>
          <p:cNvPr id="27" name="Text 14"/>
          <p:cNvSpPr txBox="1"/>
          <p:nvPr/>
        </p:nvSpPr>
        <p:spPr>
          <a:xfrm>
            <a:off x="4023360" y="4937760"/>
            <a:ext cx="329184" cy="329184"/>
          </a:xfrm>
          <a:prstGeom prst="rect">
            <a:avLst/>
          </a:prstGeom>
          <a:noFill/>
          <a:ln/>
        </p:spPr>
        <p:txBody>
          <a:bodyPr wrap="square" lIns="0" tIns="0" rIns="0" bIns="0" rtlCol="0" anchor="ctr"/>
          <a:lstStyle/>
          <a:p>
            <a:pPr algn="ctr" indent="0" marL="0">
              <a:buNone/>
            </a:pPr>
            <a:r>
              <a:rPr lang="en-US" sz="1200" b="1" dirty="0">
                <a:solidFill>
                  <a:srgbClr val="EFAB00"/>
                </a:solidFill>
                <a:latin typeface="Roboto Slab" pitchFamily="34" charset="0"/>
                <a:ea typeface="Roboto Slab" pitchFamily="34" charset="-122"/>
                <a:cs typeface="Roboto Slab" pitchFamily="34" charset="-120"/>
              </a:rPr>
              <a:t>03</a:t>
            </a:r>
            <a:endParaRPr lang="en-US" sz="1200" dirty="0"/>
          </a:p>
        </p:txBody>
      </p:sp>
      <p:sp>
        <p:nvSpPr>
          <p:cNvPr id="28" name="Text 15"/>
          <p:cNvSpPr txBox="1"/>
          <p:nvPr/>
        </p:nvSpPr>
        <p:spPr>
          <a:xfrm>
            <a:off x="4462272" y="4956048"/>
            <a:ext cx="2852928" cy="292608"/>
          </a:xfrm>
          <a:prstGeom prst="rect">
            <a:avLst/>
          </a:prstGeom>
          <a:noFill/>
          <a:ln/>
        </p:spPr>
        <p:txBody>
          <a:bodyPr wrap="square" lIns="0" tIns="0" rIns="0" bIns="0" rtlCol="0" anchor="ctr"/>
          <a:lstStyle/>
          <a:p>
            <a:pPr algn="l" indent="0" marL="0">
              <a:buNone/>
            </a:pPr>
            <a:r>
              <a:rPr lang="en-US" sz="1100" b="1" spc="198" kern="0" dirty="0">
                <a:solidFill>
                  <a:srgbClr val="8A6100"/>
                </a:solidFill>
                <a:latin typeface="Source Sans 3" pitchFamily="34" charset="0"/>
                <a:ea typeface="Source Sans 3" pitchFamily="34" charset="-122"/>
                <a:cs typeface="Source Sans 3" pitchFamily="34" charset="-120"/>
              </a:rPr>
              <a:t>RESULTS</a:t>
            </a:r>
            <a:endParaRPr lang="en-US" sz="1100" dirty="0"/>
          </a:p>
        </p:txBody>
      </p:sp>
      <p:sp>
        <p:nvSpPr>
          <p:cNvPr id="29" name="Shape 16"/>
          <p:cNvSpPr/>
          <p:nvPr/>
        </p:nvSpPr>
        <p:spPr>
          <a:xfrm>
            <a:off x="4023360" y="5349240"/>
            <a:ext cx="3291840" cy="1298448"/>
          </a:xfrm>
          <a:prstGeom prst="rect">
            <a:avLst/>
          </a:prstGeom>
          <a:solidFill>
            <a:srgbClr val="003976"/>
          </a:solidFill>
          <a:ln w="12700">
            <a:solidFill>
              <a:srgbClr val="003976"/>
            </a:solidFill>
            <a:prstDash val="solid"/>
          </a:ln>
        </p:spPr>
      </p:sp>
      <p:sp>
        <p:nvSpPr>
          <p:cNvPr id="30" name="Text 17"/>
          <p:cNvSpPr/>
          <p:nvPr>
            <p:ph idx="128" type="body" hasCustomPrompt="1"/>
          </p:nvPr>
        </p:nvSpPr>
        <p:spPr>
          <a:xfrm>
            <a:off x="4251960" y="5495544"/>
            <a:ext cx="1828800" cy="190500"/>
          </a:xfrm>
          <a:prstGeom prst="rect">
            <a:avLst/>
          </a:prstGeom>
          <a:noFill/>
          <a:ln/>
        </p:spPr>
        <p:txBody>
          <a:bodyPr wrap="square" lIns="0" tIns="0" rIns="0" bIns="0" rtlCol="0" anchor="ctr"/>
          <a:lstStyle>
            <a:lvl1pPr algn="l" indent="0" marL="0">
              <a:buNone/>
              <a:defRPr lang="en-US" sz="1000" b="1" spc="180" kern="0" dirty="0">
                <a:solidFill>
                  <a:srgbClr val="EFAB00"/>
                </a:solidFill>
                <a:latin typeface="Source Sans 3" pitchFamily="34" charset="0"/>
                <a:ea typeface="Source Sans 3" pitchFamily="34" charset="-122"/>
                <a:cs typeface="Source Sans 3" pitchFamily="34" charset="-120"/>
              </a:defRPr>
            </a:lvl1pPr>
          </a:lstStyle>
          <a:p>
            <a:pPr algn="l" indent="0" marL="0">
              <a:buNone/>
            </a:pPr>
            <a:r>
              <a:rPr lang="en-US" sz="1000" b="1" spc="180" kern="0" dirty="0">
                <a:solidFill>
                  <a:srgbClr val="EFAB00"/>
                </a:solidFill>
                <a:latin typeface="Source Sans 3" pitchFamily="34" charset="0"/>
                <a:ea typeface="Source Sans 3" pitchFamily="34" charset="-122"/>
                <a:cs typeface="Source Sans 3" pitchFamily="34" charset="-120"/>
              </a:rPr>
              <a:t>KEY RESULT</a:t>
            </a:r>
            <a:endParaRPr lang="en-US" sz="1000" dirty="0"/>
          </a:p>
        </p:txBody>
      </p:sp>
      <p:sp>
        <p:nvSpPr>
          <p:cNvPr id="31" name="Text 17"/>
          <p:cNvSpPr/>
          <p:nvPr>
            <p:ph idx="129" type="body" hasCustomPrompt="1"/>
          </p:nvPr>
        </p:nvSpPr>
        <p:spPr>
          <a:xfrm>
            <a:off x="4251960" y="5715000"/>
            <a:ext cx="1143000" cy="548640"/>
          </a:xfrm>
          <a:prstGeom prst="rect">
            <a:avLst/>
          </a:prstGeom>
          <a:noFill/>
          <a:ln/>
        </p:spPr>
        <p:txBody>
          <a:bodyPr wrap="square" lIns="0" tIns="0" rIns="0" bIns="0" rtlCol="0" anchor="ctr">
            <a:normAutofit/>
          </a:bodyPr>
          <a:lstStyle>
            <a:lvl1pPr algn="l" indent="0" marL="0">
              <a:buNone/>
              <a:defRPr lang="en-US" sz="3200" b="1" spc="-50" kern="0" dirty="0">
                <a:solidFill>
                  <a:srgbClr val="EFAB00"/>
                </a:solidFill>
                <a:latin typeface="Roboto Slab" pitchFamily="34" charset="0"/>
                <a:ea typeface="Roboto Slab" pitchFamily="34" charset="-122"/>
                <a:cs typeface="Roboto Slab" pitchFamily="34" charset="-120"/>
              </a:defRPr>
            </a:lvl1pPr>
          </a:lstStyle>
          <a:p>
            <a:pPr algn="l" indent="0" marL="0">
              <a:buNone/>
            </a:pPr>
            <a:r>
              <a:rPr lang="en-US" sz="3200" b="1" spc="-50" kern="0" dirty="0">
                <a:solidFill>
                  <a:srgbClr val="EFAB00"/>
                </a:solidFill>
                <a:latin typeface="Roboto Slab" pitchFamily="34" charset="0"/>
                <a:ea typeface="Roboto Slab" pitchFamily="34" charset="-122"/>
                <a:cs typeface="Roboto Slab" pitchFamily="34" charset="-120"/>
              </a:rPr>
              <a:t>[38%]</a:t>
            </a:r>
            <a:endParaRPr lang="en-US" sz="3200" dirty="0"/>
          </a:p>
        </p:txBody>
      </p:sp>
      <p:sp>
        <p:nvSpPr>
          <p:cNvPr id="32" name="Text 17"/>
          <p:cNvSpPr/>
          <p:nvPr>
            <p:ph idx="130" type="body" hasCustomPrompt="1"/>
          </p:nvPr>
        </p:nvSpPr>
        <p:spPr>
          <a:xfrm>
            <a:off x="5440680" y="5696712"/>
            <a:ext cx="1645920" cy="621792"/>
          </a:xfrm>
          <a:prstGeom prst="rect">
            <a:avLst/>
          </a:prstGeom>
          <a:noFill/>
          <a:ln/>
        </p:spPr>
        <p:txBody>
          <a:bodyPr wrap="square" lIns="0" tIns="0" rIns="0" bIns="0" rtlCol="0" anchor="t">
            <a:normAutofit/>
          </a:bodyPr>
          <a:lstStyle>
            <a:lvl1pPr algn="l" indent="0" marL="0">
              <a:lnSpc>
                <a:spcPts val="1400"/>
              </a:lnSpc>
              <a:buNone/>
              <a:defRPr lang="en-US" sz="1050" dirty="0">
                <a:solidFill>
                  <a:srgbClr val="FFFFFF"/>
                </a:solidFill>
                <a:latin typeface="Source Sans 3" pitchFamily="34" charset="0"/>
                <a:ea typeface="Source Sans 3" pitchFamily="34" charset="-122"/>
                <a:cs typeface="Source Sans 3" pitchFamily="34" charset="-120"/>
              </a:defRPr>
            </a:lvl1pPr>
          </a:lstStyle>
          <a:p>
            <a:pPr algn="l" indent="0" marL="0">
              <a:lnSpc>
                <a:spcPts val="1400"/>
              </a:lnSpc>
              <a:buNone/>
            </a:pPr>
            <a:r>
              <a:rPr lang="en-US" sz="1050" dirty="0">
                <a:solidFill>
                  <a:srgbClr val="FFFFFF"/>
                </a:solidFill>
                <a:latin typeface="Source Sans 3" pitchFamily="34" charset="0"/>
                <a:ea typeface="Source Sans 3" pitchFamily="34" charset="-122"/>
                <a:cs typeface="Source Sans 3" pitchFamily="34" charset="-120"/>
              </a:rPr>
              <a:t>[what the number means, compared with what]</a:t>
            </a:r>
            <a:endParaRPr lang="en-US" sz="1050" dirty="0"/>
          </a:p>
        </p:txBody>
      </p:sp>
      <p:sp>
        <p:nvSpPr>
          <p:cNvPr id="33" name="Text 17"/>
          <p:cNvSpPr/>
          <p:nvPr>
            <p:ph idx="131" type="body" hasCustomPrompt="1"/>
          </p:nvPr>
        </p:nvSpPr>
        <p:spPr>
          <a:xfrm>
            <a:off x="4251960" y="6373368"/>
            <a:ext cx="2834640" cy="164592"/>
          </a:xfrm>
          <a:prstGeom prst="rect">
            <a:avLst/>
          </a:prstGeom>
          <a:noFill/>
          <a:ln/>
        </p:spPr>
        <p:txBody>
          <a:bodyPr wrap="square" lIns="0" tIns="0" rIns="0" bIns="0" rtlCol="0" anchor="ctr"/>
          <a:lstStyle>
            <a:lvl1pPr algn="l" indent="0" marL="0">
              <a:buNone/>
              <a:defRPr lang="en-US" sz="800" dirty="0">
                <a:solidFill>
                  <a:srgbClr val="EFAB00"/>
                </a:solidFill>
                <a:latin typeface="Source Code Pro" pitchFamily="34" charset="0"/>
                <a:ea typeface="Source Code Pro" pitchFamily="34" charset="-122"/>
                <a:cs typeface="Source Code Pro" pitchFamily="34" charset="-120"/>
              </a:defRPr>
            </a:lvl1pPr>
          </a:lstStyle>
          <a:p>
            <a:pPr algn="l" indent="0" marL="0">
              <a:buNone/>
            </a:pPr>
            <a:r>
              <a:rPr lang="en-US" sz="800" dirty="0">
                <a:solidFill>
                  <a:srgbClr val="EFAB00"/>
                </a:solidFill>
                <a:latin typeface="Source Code Pro" pitchFamily="34" charset="0"/>
                <a:ea typeface="Source Code Pro" pitchFamily="34" charset="-122"/>
                <a:cs typeface="Source Code Pro" pitchFamily="34" charset="-120"/>
              </a:rPr>
              <a:t>SOURCE // [study], n = [N]</a:t>
            </a:r>
            <a:endParaRPr lang="en-US" sz="800" dirty="0"/>
          </a:p>
        </p:txBody>
      </p:sp>
      <p:sp>
        <p:nvSpPr>
          <p:cNvPr id="34" name="Text 17"/>
          <p:cNvSpPr/>
          <p:nvPr>
            <p:ph idx="132" type="body" hasCustomPrompt="1"/>
          </p:nvPr>
        </p:nvSpPr>
        <p:spPr>
          <a:xfrm>
            <a:off x="4023360" y="6739128"/>
            <a:ext cx="3291840" cy="731520"/>
          </a:xfrm>
          <a:prstGeom prst="rect">
            <a:avLst/>
          </a:prstGeom>
          <a:noFill/>
          <a:ln/>
        </p:spPr>
        <p:txBody>
          <a:bodyPr wrap="square" lIns="0" tIns="0" rIns="0" bIns="0" rtlCol="0" anchor="t"/>
          <a:lstStyle>
            <a:lvl1pPr algn="l" indent="0" marL="0">
              <a:lnSpc>
                <a:spcPts val="1500"/>
              </a:lnSpc>
              <a:buNone/>
              <a:defRPr lang="en-US" sz="1100" dirty="0">
                <a:solidFill>
                  <a:srgbClr val="1B2533"/>
                </a:solidFill>
                <a:latin typeface="Source Sans 3" pitchFamily="34" charset="0"/>
                <a:ea typeface="Source Sans 3" pitchFamily="34" charset="-122"/>
                <a:cs typeface="Source Sans 3" pitchFamily="34" charset="-120"/>
              </a:defRPr>
            </a:lvl1pPr>
          </a:lstStyle>
          <a:p>
            <a:pPr algn="l" indent="0" marL="0">
              <a:lnSpc>
                <a:spcPts val="1500"/>
              </a:lnSpc>
              <a:buNone/>
            </a:pPr>
            <a:r>
              <a:rPr lang="en-US" sz="1100" dirty="0">
                <a:solidFill>
                  <a:srgbClr val="1B2533"/>
                </a:solidFill>
                <a:latin typeface="Source Sans 3" pitchFamily="34" charset="0"/>
                <a:ea typeface="Source Sans 3" pitchFamily="34" charset="-122"/>
                <a:cs typeface="Source Sans 3" pitchFamily="34" charset="-120"/>
              </a:rPr>
              <a:t>[Finding 1, with the metric and its direction (lower is better)]</a:t>
            </a:r>
            <a:endParaRPr lang="en-US" sz="1100" dirty="0"/>
          </a:p>
          <a:p>
            <a:pPr algn="l" indent="0" marL="0">
              <a:lnSpc>
                <a:spcPts val="1500"/>
              </a:lnSpc>
              <a:buNone/>
            </a:pPr>
            <a:r>
              <a:rPr lang="en-US" sz="1100" dirty="0">
                <a:solidFill>
                  <a:srgbClr val="1B2533"/>
                </a:solidFill>
                <a:latin typeface="Source Sans 3" pitchFamily="34" charset="0"/>
                <a:ea typeface="Source Sans 3" pitchFamily="34" charset="-122"/>
                <a:cs typeface="Source Sans 3" pitchFamily="34" charset="-120"/>
              </a:rPr>
              <a:t>[Finding 2, and what it enables next]</a:t>
            </a:r>
            <a:endParaRPr lang="en-US" sz="1100" dirty="0"/>
          </a:p>
        </p:txBody>
      </p:sp>
      <p:sp>
        <p:nvSpPr>
          <p:cNvPr id="35" name="Shape 17"/>
          <p:cNvSpPr/>
          <p:nvPr/>
        </p:nvSpPr>
        <p:spPr>
          <a:xfrm>
            <a:off x="457200" y="7635240"/>
            <a:ext cx="329184" cy="329184"/>
          </a:xfrm>
          <a:prstGeom prst="rect">
            <a:avLst/>
          </a:prstGeom>
          <a:solidFill>
            <a:srgbClr val="003976"/>
          </a:solidFill>
          <a:ln w="12700">
            <a:solidFill>
              <a:srgbClr val="003976"/>
            </a:solidFill>
            <a:prstDash val="solid"/>
          </a:ln>
        </p:spPr>
      </p:sp>
      <p:sp>
        <p:nvSpPr>
          <p:cNvPr id="36" name="Text 18"/>
          <p:cNvSpPr txBox="1"/>
          <p:nvPr/>
        </p:nvSpPr>
        <p:spPr>
          <a:xfrm>
            <a:off x="457200" y="7635240"/>
            <a:ext cx="329184" cy="329184"/>
          </a:xfrm>
          <a:prstGeom prst="rect">
            <a:avLst/>
          </a:prstGeom>
          <a:noFill/>
          <a:ln/>
        </p:spPr>
        <p:txBody>
          <a:bodyPr wrap="square" lIns="0" tIns="0" rIns="0" bIns="0" rtlCol="0" anchor="ctr"/>
          <a:lstStyle/>
          <a:p>
            <a:pPr algn="ctr" indent="0" marL="0">
              <a:buNone/>
            </a:pPr>
            <a:r>
              <a:rPr lang="en-US" sz="1200" b="1" dirty="0">
                <a:solidFill>
                  <a:srgbClr val="EFAB00"/>
                </a:solidFill>
                <a:latin typeface="Roboto Slab" pitchFamily="34" charset="0"/>
                <a:ea typeface="Roboto Slab" pitchFamily="34" charset="-122"/>
                <a:cs typeface="Roboto Slab" pitchFamily="34" charset="-120"/>
              </a:rPr>
              <a:t>04</a:t>
            </a:r>
            <a:endParaRPr lang="en-US" sz="1200" dirty="0"/>
          </a:p>
        </p:txBody>
      </p:sp>
      <p:sp>
        <p:nvSpPr>
          <p:cNvPr id="37" name="Text 19"/>
          <p:cNvSpPr txBox="1"/>
          <p:nvPr/>
        </p:nvSpPr>
        <p:spPr>
          <a:xfrm>
            <a:off x="896112" y="7653528"/>
            <a:ext cx="6419088" cy="292608"/>
          </a:xfrm>
          <a:prstGeom prst="rect">
            <a:avLst/>
          </a:prstGeom>
          <a:noFill/>
          <a:ln/>
        </p:spPr>
        <p:txBody>
          <a:bodyPr wrap="square" lIns="0" tIns="0" rIns="0" bIns="0" rtlCol="0" anchor="ctr"/>
          <a:lstStyle/>
          <a:p>
            <a:pPr algn="l" indent="0" marL="0">
              <a:buNone/>
            </a:pPr>
            <a:r>
              <a:rPr lang="en-US" sz="1100" b="1" spc="198" kern="0" dirty="0">
                <a:solidFill>
                  <a:srgbClr val="8A6100"/>
                </a:solidFill>
                <a:latin typeface="Source Sans 3" pitchFamily="34" charset="0"/>
                <a:ea typeface="Source Sans 3" pitchFamily="34" charset="-122"/>
                <a:cs typeface="Source Sans 3" pitchFamily="34" charset="-120"/>
              </a:rPr>
              <a:t>THE ASK</a:t>
            </a:r>
            <a:endParaRPr lang="en-US" sz="1100" dirty="0"/>
          </a:p>
        </p:txBody>
      </p:sp>
      <p:sp>
        <p:nvSpPr>
          <p:cNvPr id="38" name="Shape 20"/>
          <p:cNvSpPr/>
          <p:nvPr/>
        </p:nvSpPr>
        <p:spPr>
          <a:xfrm>
            <a:off x="457200" y="8046720"/>
            <a:ext cx="6858000" cy="987552"/>
          </a:xfrm>
          <a:prstGeom prst="rect">
            <a:avLst/>
          </a:prstGeom>
          <a:solidFill>
            <a:srgbClr val="003976"/>
          </a:solidFill>
          <a:ln w="12700">
            <a:solidFill>
              <a:srgbClr val="003976"/>
            </a:solidFill>
            <a:prstDash val="solid"/>
          </a:ln>
        </p:spPr>
      </p:sp>
      <p:sp>
        <p:nvSpPr>
          <p:cNvPr id="39" name="Text 21"/>
          <p:cNvSpPr/>
          <p:nvPr>
            <p:ph idx="137" type="body" hasCustomPrompt="1"/>
          </p:nvPr>
        </p:nvSpPr>
        <p:spPr>
          <a:xfrm>
            <a:off x="685800" y="8229600"/>
            <a:ext cx="4206240" cy="640080"/>
          </a:xfrm>
          <a:prstGeom prst="rect">
            <a:avLst/>
          </a:prstGeom>
          <a:noFill/>
          <a:ln/>
        </p:spPr>
        <p:txBody>
          <a:bodyPr wrap="square" lIns="0" tIns="0" rIns="0" bIns="0" rtlCol="0" anchor="t">
            <a:normAutofit/>
          </a:bodyPr>
          <a:lstStyle>
            <a:lvl1pPr algn="l" indent="0" marL="0">
              <a:lnSpc>
                <a:spcPts val="1500"/>
              </a:lnSpc>
              <a:buNone/>
              <a:defRPr lang="en-US" sz="1150" dirty="0">
                <a:solidFill>
                  <a:srgbClr val="FFFFFF"/>
                </a:solidFill>
                <a:latin typeface="Source Sans 3" pitchFamily="34" charset="0"/>
                <a:ea typeface="Source Sans 3" pitchFamily="34" charset="-122"/>
                <a:cs typeface="Source Sans 3" pitchFamily="34" charset="-120"/>
              </a:defRPr>
            </a:lvl1pPr>
          </a:lstStyle>
          <a:p>
            <a:pPr algn="l" indent="0" marL="0">
              <a:lnSpc>
                <a:spcPts val="1500"/>
              </a:lnSpc>
              <a:buNone/>
            </a:pPr>
            <a:r>
              <a:rPr lang="en-US" sz="1150" dirty="0">
                <a:solidFill>
                  <a:srgbClr val="FFFFFF"/>
                </a:solidFill>
                <a:latin typeface="Source Sans 3" pitchFamily="34" charset="0"/>
                <a:ea typeface="Source Sans 3" pitchFamily="34" charset="-122"/>
                <a:cs typeface="Source Sans 3" pitchFamily="34" charset="-120"/>
              </a:rPr>
              <a:t>[What you need from the reader: $[X] over [N] months, access to [facility or data], a pilot with [partner] or a letter of support. One or two sentences.]</a:t>
            </a:r>
            <a:endParaRPr lang="en-US" sz="1150" dirty="0"/>
          </a:p>
        </p:txBody>
      </p:sp>
      <p:sp>
        <p:nvSpPr>
          <p:cNvPr id="40" name="Text 21"/>
          <p:cNvSpPr/>
          <p:nvPr>
            <p:ph idx="138" type="body" hasCustomPrompt="1"/>
          </p:nvPr>
        </p:nvSpPr>
        <p:spPr>
          <a:xfrm>
            <a:off x="5120640" y="8174736"/>
            <a:ext cx="2011680" cy="329184"/>
          </a:xfrm>
          <a:prstGeom prst="rect">
            <a:avLst/>
          </a:prstGeom>
          <a:noFill/>
          <a:ln/>
        </p:spPr>
        <p:txBody>
          <a:bodyPr wrap="square" lIns="0" tIns="0" rIns="0" bIns="0" rtlCol="0" anchor="t">
            <a:normAutofit/>
          </a:bodyPr>
          <a:lstStyle>
            <a:lvl1pPr algn="l" indent="0" marL="0">
              <a:lnSpc>
                <a:spcPts val="1300"/>
              </a:lnSpc>
              <a:buNone/>
              <a:defRPr lang="en-US" sz="1100" b="1" dirty="0">
                <a:solidFill>
                  <a:srgbClr val="FFFFFF"/>
                </a:solidFill>
                <a:latin typeface="Source Sans 3" pitchFamily="34" charset="0"/>
                <a:ea typeface="Source Sans 3" pitchFamily="34" charset="-122"/>
                <a:cs typeface="Source Sans 3" pitchFamily="34" charset="-120"/>
              </a:defRPr>
            </a:lvl1pPr>
          </a:lstStyle>
          <a:p>
            <a:pPr algn="l" indent="0" marL="0">
              <a:lnSpc>
                <a:spcPts val="1300"/>
              </a:lnSpc>
              <a:buNone/>
            </a:pPr>
            <a:r>
              <a:rPr lang="en-US" sz="1100" b="1" dirty="0">
                <a:solidFill>
                  <a:srgbClr val="FFFFFF"/>
                </a:solidFill>
                <a:latin typeface="Source Sans 3" pitchFamily="34" charset="0"/>
                <a:ea typeface="Source Sans 3" pitchFamily="34" charset="-122"/>
                <a:cs typeface="Source Sans 3" pitchFamily="34" charset="-120"/>
              </a:rPr>
              <a:t>[PI Name], [title]</a:t>
            </a:r>
            <a:endParaRPr lang="en-US" sz="1100" dirty="0"/>
          </a:p>
        </p:txBody>
      </p:sp>
      <p:sp>
        <p:nvSpPr>
          <p:cNvPr id="41" name="Text 21"/>
          <p:cNvSpPr/>
          <p:nvPr>
            <p:ph idx="139" type="body" hasCustomPrompt="1"/>
          </p:nvPr>
        </p:nvSpPr>
        <p:spPr>
          <a:xfrm>
            <a:off x="5120640" y="8503920"/>
            <a:ext cx="2011680" cy="164592"/>
          </a:xfrm>
          <a:prstGeom prst="rect">
            <a:avLst/>
          </a:prstGeom>
          <a:noFill/>
          <a:ln/>
        </p:spPr>
        <p:txBody>
          <a:bodyPr wrap="square" lIns="0" tIns="0" rIns="0" bIns="0" rtlCol="0" anchor="ctr"/>
          <a:lstStyle>
            <a:lvl1pPr algn="l" indent="0" marL="0">
              <a:buNone/>
              <a:defRPr lang="en-US" sz="950" dirty="0">
                <a:solidFill>
                  <a:srgbClr val="EFAB00"/>
                </a:solidFill>
                <a:latin typeface="Source Code Pro" pitchFamily="34" charset="0"/>
                <a:ea typeface="Source Code Pro" pitchFamily="34" charset="-122"/>
                <a:cs typeface="Source Code Pro" pitchFamily="34" charset="-120"/>
              </a:defRPr>
            </a:lvl1pPr>
          </a:lstStyle>
          <a:p>
            <a:pPr algn="l" indent="0" marL="0">
              <a:buNone/>
            </a:pPr>
            <a:r>
              <a:rPr lang="en-US" sz="950" dirty="0">
                <a:solidFill>
                  <a:srgbClr val="EFAB00"/>
                </a:solidFill>
                <a:latin typeface="Source Code Pro" pitchFamily="34" charset="0"/>
                <a:ea typeface="Source Code Pro" pitchFamily="34" charset="-122"/>
                <a:cs typeface="Source Code Pro" pitchFamily="34" charset="-120"/>
              </a:rPr>
              <a:t>[name]@kent.edu</a:t>
            </a:r>
            <a:endParaRPr lang="en-US" sz="950" dirty="0"/>
          </a:p>
        </p:txBody>
      </p:sp>
      <p:sp>
        <p:nvSpPr>
          <p:cNvPr id="42" name="Text 21"/>
          <p:cNvSpPr/>
          <p:nvPr>
            <p:ph idx="140" type="body" hasCustomPrompt="1"/>
          </p:nvPr>
        </p:nvSpPr>
        <p:spPr>
          <a:xfrm>
            <a:off x="5120640" y="8668512"/>
            <a:ext cx="2011680" cy="164592"/>
          </a:xfrm>
          <a:prstGeom prst="rect">
            <a:avLst/>
          </a:prstGeom>
          <a:noFill/>
          <a:ln/>
        </p:spPr>
        <p:txBody>
          <a:bodyPr wrap="square" lIns="0" tIns="0" rIns="0" bIns="0" rtlCol="0" anchor="ctr"/>
          <a:lstStyle>
            <a:lvl1pPr algn="l" indent="0" marL="0">
              <a:buNone/>
              <a:defRPr lang="en-US" sz="1000" dirty="0">
                <a:solidFill>
                  <a:srgbClr val="FFFFFF"/>
                </a:solidFill>
                <a:latin typeface="Source Sans 3" pitchFamily="34" charset="0"/>
                <a:ea typeface="Source Sans 3" pitchFamily="34" charset="-122"/>
                <a:cs typeface="Source Sans 3" pitchFamily="34" charset="-120"/>
              </a:defRPr>
            </a:lvl1pPr>
          </a:lstStyle>
          <a:p>
            <a:pPr algn="l" indent="0" marL="0">
              <a:buNone/>
            </a:pPr>
            <a:r>
              <a:rPr lang="en-US" sz="1000" dirty="0">
                <a:solidFill>
                  <a:srgbClr val="FFFFFF"/>
                </a:solidFill>
                <a:latin typeface="Source Sans 3" pitchFamily="34" charset="0"/>
                <a:ea typeface="Source Sans 3" pitchFamily="34" charset="-122"/>
                <a:cs typeface="Source Sans 3" pitchFamily="34" charset="-120"/>
              </a:rPr>
              <a:t>330-672-[xxxx]</a:t>
            </a:r>
            <a:endParaRPr lang="en-US" sz="1000" dirty="0"/>
          </a:p>
        </p:txBody>
      </p:sp>
      <p:sp>
        <p:nvSpPr>
          <p:cNvPr id="43" name="Text 21"/>
          <p:cNvSpPr/>
          <p:nvPr>
            <p:ph idx="141" type="body" hasCustomPrompt="1"/>
          </p:nvPr>
        </p:nvSpPr>
        <p:spPr>
          <a:xfrm>
            <a:off x="5120640" y="8833104"/>
            <a:ext cx="2011680" cy="164592"/>
          </a:xfrm>
          <a:prstGeom prst="rect">
            <a:avLst/>
          </a:prstGeom>
          <a:noFill/>
          <a:ln/>
        </p:spPr>
        <p:txBody>
          <a:bodyPr wrap="square" lIns="0" tIns="0" rIns="0" bIns="0" rtlCol="0" anchor="ctr"/>
          <a:lstStyle>
            <a:lvl1pPr algn="l" indent="0" marL="0">
              <a:buNone/>
              <a:defRPr lang="en-US" sz="950" dirty="0">
                <a:solidFill>
                  <a:srgbClr val="EFAB00"/>
                </a:solidFill>
                <a:latin typeface="Source Code Pro" pitchFamily="34" charset="0"/>
                <a:ea typeface="Source Code Pro" pitchFamily="34" charset="-122"/>
                <a:cs typeface="Source Code Pro" pitchFamily="34" charset="-120"/>
              </a:defRPr>
            </a:lvl1pPr>
          </a:lstStyle>
          <a:p>
            <a:pPr algn="l" indent="0" marL="0">
              <a:buNone/>
            </a:pPr>
            <a:r>
              <a:rPr lang="en-US" sz="950" dirty="0">
                <a:solidFill>
                  <a:srgbClr val="EFAB00"/>
                </a:solidFill>
                <a:latin typeface="Source Code Pro" pitchFamily="34" charset="0"/>
                <a:ea typeface="Source Code Pro" pitchFamily="34" charset="-122"/>
                <a:cs typeface="Source Code Pro" pitchFamily="34" charset="-120"/>
              </a:rPr>
              <a:t>atr.cs.kent.edu</a:t>
            </a:r>
            <a:endParaRPr lang="en-US" sz="9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ne-pager back">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74542" y="569168"/>
            <a:ext cx="332244" cy="342991"/>
          </a:xfrm>
          <a:prstGeom prst="rect">
            <a:avLst/>
          </a:prstGeom>
        </p:spPr>
      </p:pic>
      <p:pic>
        <p:nvPicPr>
          <p:cNvPr id="4" name="Image 1" descr="Kent State University wordmark">    </p:cNvPr>
          <p:cNvPicPr>
            <a:picLocks noChangeAspect="1"/>
          </p:cNvPicPr>
          <p:nvPr/>
        </p:nvPicPr>
        <p:blipFill>
          <a:blip r:embed="rId2"/>
          <a:stretch>
            <a:fillRect/>
          </a:stretch>
        </p:blipFill>
        <p:spPr>
          <a:xfrm>
            <a:off x="6348128" y="8101584"/>
            <a:ext cx="967072" cy="923544"/>
          </a:xfrm>
          <a:prstGeom prst="rect">
            <a:avLst/>
          </a:prstGeom>
        </p:spPr>
      </p:pic>
      <p:sp>
        <p:nvSpPr>
          <p:cNvPr id="5" name="Shape 1"/>
          <p:cNvSpPr/>
          <p:nvPr/>
        </p:nvSpPr>
        <p:spPr>
          <a:xfrm>
            <a:off x="457200" y="9308592"/>
            <a:ext cx="6858000" cy="0"/>
          </a:xfrm>
          <a:prstGeom prst="line">
            <a:avLst/>
          </a:prstGeom>
          <a:noFill/>
          <a:ln w="9525">
            <a:solidFill>
              <a:srgbClr val="D6DEE8"/>
            </a:solidFill>
            <a:prstDash val="solid"/>
          </a:ln>
        </p:spPr>
      </p:sp>
      <p:sp>
        <p:nvSpPr>
          <p:cNvPr id="6" name="Text 2"/>
          <p:cNvSpPr txBox="1"/>
          <p:nvPr/>
        </p:nvSpPr>
        <p:spPr>
          <a:xfrm>
            <a:off x="457200" y="9363456"/>
            <a:ext cx="5669280" cy="164592"/>
          </a:xfrm>
          <a:prstGeom prst="rect">
            <a:avLst/>
          </a:prstGeom>
          <a:noFill/>
          <a:ln/>
        </p:spPr>
        <p:txBody>
          <a:bodyPr wrap="square" lIns="0" tIns="0" rIns="0" bIns="0" rtlCol="0" anchor="ctr"/>
          <a:lstStyle/>
          <a:p>
            <a:pPr algn="l" indent="0" marL="0">
              <a:buNone/>
            </a:pPr>
            <a:r>
              <a:rPr lang="en-US" sz="900" dirty="0">
                <a:solidFill>
                  <a:srgbClr val="4A5868"/>
                </a:solidFill>
                <a:latin typeface="Source Sans 3" pitchFamily="34" charset="0"/>
                <a:ea typeface="Source Sans 3" pitchFamily="34" charset="-122"/>
                <a:cs typeface="Source Sans 3" pitchFamily="34" charset="-120"/>
              </a:rPr>
              <a:t>Advanced Telerobotics Research Lab  ·  Department of Computer Science  ·  Kent State University</a:t>
            </a:r>
            <a:endParaRPr lang="en-US" sz="900" dirty="0"/>
          </a:p>
        </p:txBody>
      </p:sp>
      <p:sp>
        <p:nvSpPr>
          <p:cNvPr id="7" name="Text 3"/>
          <p:cNvSpPr txBox="1"/>
          <p:nvPr/>
        </p:nvSpPr>
        <p:spPr>
          <a:xfrm>
            <a:off x="457200" y="9528048"/>
            <a:ext cx="5669280" cy="164592"/>
          </a:xfrm>
          <a:prstGeom prst="rect">
            <a:avLst/>
          </a:prstGeom>
          <a:noFill/>
          <a:ln/>
        </p:spPr>
        <p:txBody>
          <a:bodyPr wrap="square" lIns="0" tIns="0" rIns="0" bIns="0" rtlCol="0" anchor="ctr"/>
          <a:lstStyle/>
          <a:p>
            <a:pPr algn="l" indent="0" marL="0">
              <a:buNone/>
            </a:pPr>
            <a:r>
              <a:rPr lang="en-US" sz="900" dirty="0">
                <a:solidFill>
                  <a:srgbClr val="4A5868"/>
                </a:solidFill>
                <a:latin typeface="Source Sans 3" pitchFamily="34" charset="0"/>
                <a:ea typeface="Source Sans 3" pitchFamily="34" charset="-122"/>
                <a:cs typeface="Source Sans 3" pitchFamily="34" charset="-120"/>
              </a:rPr>
              <a:t>atr.cs.kent.edu  ·  atrlab.kent@gmail.com  ·  @atrlab_kent on X  ·  github.com/ATR-Lab</a:t>
            </a:r>
            <a:endParaRPr lang="en-US" sz="900" dirty="0"/>
          </a:p>
        </p:txBody>
      </p:sp>
      <p:sp>
        <p:nvSpPr>
          <p:cNvPr id="8" name="Text 4"/>
          <p:cNvSpPr txBox="1"/>
          <p:nvPr/>
        </p:nvSpPr>
        <p:spPr>
          <a:xfrm>
            <a:off x="457200" y="9692640"/>
            <a:ext cx="6858000" cy="128016"/>
          </a:xfrm>
          <a:prstGeom prst="rect">
            <a:avLst/>
          </a:prstGeom>
          <a:noFill/>
          <a:ln/>
        </p:spPr>
        <p:txBody>
          <a:bodyPr wrap="square" lIns="0" tIns="0" rIns="0" bIns="0" rtlCol="0" anchor="ctr"/>
          <a:lstStyle/>
          <a:p>
            <a:pPr algn="l" indent="0" marL="0">
              <a:buNone/>
            </a:pPr>
            <a:r>
              <a:rPr lang="en-US" sz="800" dirty="0">
                <a:solidFill>
                  <a:srgbClr val="4A5868"/>
                </a:solidFill>
                <a:latin typeface="Source Sans 3" pitchFamily="34" charset="0"/>
                <a:ea typeface="Source Sans 3" pitchFamily="34" charset="-122"/>
                <a:cs typeface="Source Sans 3" pitchFamily="34" charset="-120"/>
              </a:rPr>
              <a:t>Kent State University, Kent State and KSU are registered trademarks and may not be used without permission.</a:t>
            </a:r>
            <a:endParaRPr lang="en-US" sz="800" dirty="0"/>
          </a:p>
        </p:txBody>
      </p:sp>
      <p:sp>
        <p:nvSpPr>
          <p:cNvPr id="9" name="Text 5"/>
          <p:cNvSpPr/>
          <p:nvPr>
            <p:ph idx="107" type="body" hasCustomPrompt="1"/>
          </p:nvPr>
        </p:nvSpPr>
        <p:spPr>
          <a:xfrm>
            <a:off x="1207008" y="420624"/>
            <a:ext cx="4937760" cy="209550"/>
          </a:xfrm>
          <a:prstGeom prst="rect">
            <a:avLst/>
          </a:prstGeom>
          <a:noFill/>
          <a:ln/>
        </p:spPr>
        <p:txBody>
          <a:bodyPr wrap="square" lIns="0" tIns="0" rIns="0" bIns="0" rtlCol="0" anchor="ctr"/>
          <a:lstStyle>
            <a:lvl1pPr algn="l" indent="0" marL="0">
              <a:buNone/>
              <a:defRPr lang="en-US" sz="1100" b="1" spc="198" kern="0" dirty="0">
                <a:solidFill>
                  <a:srgbClr val="8A6100"/>
                </a:solidFill>
                <a:latin typeface="Source Sans 3" pitchFamily="34" charset="0"/>
                <a:ea typeface="Source Sans 3" pitchFamily="34" charset="-122"/>
                <a:cs typeface="Source Sans 3" pitchFamily="34" charset="-120"/>
              </a:defRPr>
            </a:lvl1pPr>
          </a:lstStyle>
          <a:p>
            <a:pPr algn="l" indent="0" marL="0">
              <a:buNone/>
            </a:pPr>
            <a:r>
              <a:rPr lang="en-US" sz="1100" b="1" spc="198" kern="0" dirty="0">
                <a:solidFill>
                  <a:srgbClr val="8A6100"/>
                </a:solidFill>
                <a:latin typeface="Source Sans 3" pitchFamily="34" charset="0"/>
                <a:ea typeface="Source Sans 3" pitchFamily="34" charset="-122"/>
                <a:cs typeface="Source Sans 3" pitchFamily="34" charset="-120"/>
              </a:rPr>
              <a:t>PROJECT ONE-PAGER  ·  BACK</a:t>
            </a:r>
            <a:endParaRPr lang="en-US" sz="1100" dirty="0"/>
          </a:p>
        </p:txBody>
      </p:sp>
      <p:sp>
        <p:nvSpPr>
          <p:cNvPr id="10" name="Text 5"/>
          <p:cNvSpPr/>
          <p:nvPr>
            <p:ph idx="108" type="title" hasCustomPrompt="1"/>
          </p:nvPr>
        </p:nvSpPr>
        <p:spPr>
          <a:xfrm>
            <a:off x="1207008" y="676656"/>
            <a:ext cx="5943600" cy="457200"/>
          </a:xfrm>
          <a:prstGeom prst="rect">
            <a:avLst/>
          </a:prstGeom>
          <a:noFill/>
          <a:ln/>
        </p:spPr>
        <p:txBody>
          <a:bodyPr wrap="square" lIns="0" tIns="0" rIns="0" bIns="0" rtlCol="0" anchor="t">
            <a:normAutofit/>
          </a:bodyPr>
          <a:lstStyle>
            <a:lvl1pPr algn="l" indent="0" marL="0">
              <a:buNone/>
              <a:defRPr lang="en-US" sz="2600" b="1" dirty="0">
                <a:solidFill>
                  <a:srgbClr val="003976"/>
                </a:solidFill>
                <a:latin typeface="Source Sans 3" pitchFamily="34" charset="0"/>
                <a:ea typeface="Source Sans 3" pitchFamily="34" charset="-122"/>
                <a:cs typeface="Source Sans 3" pitchFamily="34" charset="-120"/>
              </a:defRPr>
            </a:lvl1pPr>
          </a:lstStyle>
          <a:p>
            <a:pPr algn="l" indent="0" marL="0">
              <a:buNone/>
            </a:pPr>
            <a:r>
              <a:rPr lang="en-US" sz="2600" b="1" dirty="0">
                <a:solidFill>
                  <a:srgbClr val="003976"/>
                </a:solidFill>
                <a:latin typeface="Source Sans 3" pitchFamily="34" charset="0"/>
                <a:ea typeface="Source Sans 3" pitchFamily="34" charset="-122"/>
                <a:cs typeface="Source Sans 3" pitchFamily="34" charset="-120"/>
              </a:rPr>
              <a:t>About the lab, funding and contact</a:t>
            </a:r>
            <a:endParaRPr lang="en-US" sz="2600" dirty="0"/>
          </a:p>
        </p:txBody>
      </p:sp>
      <p:sp>
        <p:nvSpPr>
          <p:cNvPr id="11" name="Text 5"/>
          <p:cNvSpPr txBox="1"/>
          <p:nvPr/>
        </p:nvSpPr>
        <p:spPr>
          <a:xfrm>
            <a:off x="457200" y="1463040"/>
            <a:ext cx="6858000" cy="209550"/>
          </a:xfrm>
          <a:prstGeom prst="rect">
            <a:avLst/>
          </a:prstGeom>
          <a:noFill/>
          <a:ln/>
        </p:spPr>
        <p:txBody>
          <a:bodyPr wrap="square" lIns="0" tIns="0" rIns="0" bIns="0" rtlCol="0" anchor="ctr"/>
          <a:lstStyle/>
          <a:p>
            <a:pPr algn="l" indent="0" marL="0">
              <a:buNone/>
            </a:pPr>
            <a:r>
              <a:rPr lang="en-US" sz="1100" b="1" spc="198" kern="0" dirty="0">
                <a:solidFill>
                  <a:srgbClr val="8A6100"/>
                </a:solidFill>
                <a:latin typeface="Source Sans 3" pitchFamily="34" charset="0"/>
                <a:ea typeface="Source Sans 3" pitchFamily="34" charset="-122"/>
                <a:cs typeface="Source Sans 3" pitchFamily="34" charset="-120"/>
              </a:rPr>
              <a:t>ABOUT THE LAB</a:t>
            </a:r>
            <a:endParaRPr lang="en-US" sz="1100" dirty="0"/>
          </a:p>
        </p:txBody>
      </p:sp>
      <p:sp>
        <p:nvSpPr>
          <p:cNvPr id="12" name="Text 6"/>
          <p:cNvSpPr/>
          <p:nvPr>
            <p:ph idx="110" type="body" hasCustomPrompt="1"/>
          </p:nvPr>
        </p:nvSpPr>
        <p:spPr>
          <a:xfrm>
            <a:off x="457200" y="1737360"/>
            <a:ext cx="6858000" cy="1234440"/>
          </a:xfrm>
          <a:prstGeom prst="rect">
            <a:avLst/>
          </a:prstGeom>
          <a:noFill/>
          <a:ln/>
        </p:spPr>
        <p:txBody>
          <a:bodyPr wrap="square" lIns="0" tIns="0" rIns="0" bIns="0" rtlCol="0" anchor="t">
            <a:normAutofit/>
          </a:bodyPr>
          <a:lstStyle>
            <a:lvl1pPr algn="l" indent="0" marL="0">
              <a:lnSpc>
                <a:spcPts val="1500"/>
              </a:lnSpc>
              <a:buNone/>
              <a:defRPr lang="en-US" sz="1100" dirty="0">
                <a:solidFill>
                  <a:srgbClr val="1B2533"/>
                </a:solidFill>
                <a:latin typeface="Source Sans 3" pitchFamily="34" charset="0"/>
                <a:ea typeface="Source Sans 3" pitchFamily="34" charset="-122"/>
                <a:cs typeface="Source Sans 3" pitchFamily="34" charset="-120"/>
              </a:defRPr>
            </a:lvl1pPr>
          </a:lstStyle>
          <a:p>
            <a:pPr algn="l" indent="0" marL="0">
              <a:lnSpc>
                <a:spcPts val="1500"/>
              </a:lnSpc>
              <a:buNone/>
            </a:pPr>
            <a:r>
              <a:rPr lang="en-US" sz="1100" dirty="0">
                <a:solidFill>
                  <a:srgbClr val="1B2533"/>
                </a:solidFill>
                <a:latin typeface="Source Sans 3" pitchFamily="34" charset="0"/>
                <a:ea typeface="Source Sans 3" pitchFamily="34" charset="-122"/>
                <a:cs typeface="Source Sans 3" pitchFamily="34" charset="-120"/>
              </a:rPr>
              <a:t>[About the lab: verified facts only.]</a:t>
            </a:r>
            <a:endParaRPr lang="en-US" sz="1100" dirty="0"/>
          </a:p>
        </p:txBody>
      </p:sp>
      <p:sp>
        <p:nvSpPr>
          <p:cNvPr id="13" name="Text 6"/>
          <p:cNvSpPr txBox="1"/>
          <p:nvPr/>
        </p:nvSpPr>
        <p:spPr>
          <a:xfrm>
            <a:off x="457200" y="3200400"/>
            <a:ext cx="5120640" cy="209550"/>
          </a:xfrm>
          <a:prstGeom prst="rect">
            <a:avLst/>
          </a:prstGeom>
          <a:noFill/>
          <a:ln/>
        </p:spPr>
        <p:txBody>
          <a:bodyPr wrap="square" lIns="0" tIns="0" rIns="0" bIns="0" rtlCol="0" anchor="ctr"/>
          <a:lstStyle/>
          <a:p>
            <a:pPr algn="l" indent="0" marL="0">
              <a:buNone/>
            </a:pPr>
            <a:r>
              <a:rPr lang="en-US" sz="1100" b="1" spc="198" kern="0" dirty="0">
                <a:solidFill>
                  <a:srgbClr val="8A6100"/>
                </a:solidFill>
                <a:latin typeface="Source Sans 3" pitchFamily="34" charset="0"/>
                <a:ea typeface="Source Sans 3" pitchFamily="34" charset="-122"/>
                <a:cs typeface="Source Sans 3" pitchFamily="34" charset="-120"/>
              </a:rPr>
              <a:t>FUNDING AND ACKNOWLEDGEMENTS</a:t>
            </a:r>
            <a:endParaRPr lang="en-US" sz="1100" dirty="0"/>
          </a:p>
        </p:txBody>
      </p:sp>
      <p:sp>
        <p:nvSpPr>
          <p:cNvPr id="14" name="Text 7"/>
          <p:cNvSpPr/>
          <p:nvPr>
            <p:ph idx="112" type="body" hasCustomPrompt="1"/>
          </p:nvPr>
        </p:nvSpPr>
        <p:spPr>
          <a:xfrm>
            <a:off x="457200" y="3474720"/>
            <a:ext cx="5257800" cy="1600200"/>
          </a:xfrm>
          <a:prstGeom prst="rect">
            <a:avLst/>
          </a:prstGeom>
          <a:noFill/>
          <a:ln/>
        </p:spPr>
        <p:txBody>
          <a:bodyPr wrap="square" lIns="0" tIns="0" rIns="0" bIns="0" rtlCol="0" anchor="t">
            <a:normAutofit/>
          </a:bodyPr>
          <a:lstStyle>
            <a:lvl1pPr algn="l" indent="0" marL="0">
              <a:lnSpc>
                <a:spcPts val="1350"/>
              </a:lnSpc>
              <a:buNone/>
              <a:defRPr lang="en-US" sz="1000" dirty="0">
                <a:solidFill>
                  <a:srgbClr val="1B2533"/>
                </a:solidFill>
                <a:latin typeface="Source Sans 3" pitchFamily="34" charset="0"/>
                <a:ea typeface="Source Sans 3" pitchFamily="34" charset="-122"/>
                <a:cs typeface="Source Sans 3" pitchFamily="34" charset="-120"/>
              </a:defRPr>
            </a:lvl1pPr>
          </a:lstStyle>
          <a:p>
            <a:pPr algn="l" indent="0" marL="0">
              <a:lnSpc>
                <a:spcPts val="1350"/>
              </a:lnSpc>
              <a:buNone/>
            </a:pPr>
            <a:r>
              <a:rPr lang="en-US" sz="1000" dirty="0">
                <a:solidFill>
                  <a:srgbClr val="1B2533"/>
                </a:solidFill>
                <a:latin typeface="Source Sans 3" pitchFamily="34" charset="0"/>
                <a:ea typeface="Source Sans 3" pitchFamily="34" charset="-122"/>
                <a:cs typeface="Source Sans 3" pitchFamily="34" charset="-120"/>
              </a:rPr>
              <a:t>[Sponsor acknowledgement sentence and disclaimer, exact wording.]</a:t>
            </a:r>
            <a:endParaRPr lang="en-US" sz="1000" dirty="0"/>
          </a:p>
        </p:txBody>
      </p:sp>
      <p:sp>
        <p:nvSpPr>
          <p:cNvPr id="15" name="Shape 7"/>
          <p:cNvSpPr/>
          <p:nvPr/>
        </p:nvSpPr>
        <p:spPr>
          <a:xfrm>
            <a:off x="6035040" y="3474720"/>
            <a:ext cx="1280160" cy="1280160"/>
          </a:xfrm>
          <a:prstGeom prst="rect">
            <a:avLst/>
          </a:prstGeom>
          <a:solidFill>
            <a:srgbClr val="F3F6FA"/>
          </a:solidFill>
          <a:ln w="12700">
            <a:solidFill>
              <a:srgbClr val="F3F6FA"/>
            </a:solidFill>
            <a:prstDash val="solid"/>
          </a:ln>
        </p:spPr>
      </p:sp>
      <p:sp>
        <p:nvSpPr>
          <p:cNvPr id="16" name="Text 8"/>
          <p:cNvSpPr/>
          <p:nvPr>
            <p:ph idx="114" type="body" hasCustomPrompt="1"/>
          </p:nvPr>
        </p:nvSpPr>
        <p:spPr>
          <a:xfrm>
            <a:off x="6108192" y="3547872"/>
            <a:ext cx="1133856" cy="1133856"/>
          </a:xfrm>
          <a:prstGeom prst="rect">
            <a:avLst/>
          </a:prstGeom>
          <a:noFill/>
          <a:ln/>
        </p:spPr>
        <p:txBody>
          <a:bodyPr wrap="square" lIns="0" tIns="0" rIns="0" bIns="0" rtlCol="0" anchor="ctr"/>
          <a:lstStyle>
            <a:lvl1pPr algn="ctr" indent="0" marL="0">
              <a:lnSpc>
                <a:spcPts val="1000"/>
              </a:lnSpc>
              <a:buNone/>
              <a:defRPr lang="en-US" sz="800" dirty="0">
                <a:solidFill>
                  <a:srgbClr val="4A5868"/>
                </a:solidFill>
                <a:latin typeface="Source Sans 3" pitchFamily="34" charset="0"/>
                <a:ea typeface="Source Sans 3" pitchFamily="34" charset="-122"/>
                <a:cs typeface="Source Sans 3" pitchFamily="34" charset="-120"/>
              </a:defRPr>
            </a:lvl1pPr>
          </a:lstStyle>
          <a:p>
            <a:pPr algn="ctr" indent="0" marL="0">
              <a:lnSpc>
                <a:spcPts val="1000"/>
              </a:lnSpc>
              <a:buNone/>
            </a:pPr>
            <a:r>
              <a:rPr lang="en-US" sz="800" dirty="0">
                <a:solidFill>
                  <a:srgbClr val="4A5868"/>
                </a:solidFill>
                <a:latin typeface="Source Sans 3" pitchFamily="34" charset="0"/>
                <a:ea typeface="Source Sans 3" pitchFamily="34" charset="-122"/>
                <a:cs typeface="Source Sans 3" pitchFamily="34" charset="-120"/>
              </a:rPr>
              <a:t>[NSF full-color logo, at least 0.625 in, only when NSF-funded; delete otherwise]</a:t>
            </a:r>
            <a:endParaRPr lang="en-US" sz="800" dirty="0"/>
          </a:p>
        </p:txBody>
      </p:sp>
      <p:sp>
        <p:nvSpPr>
          <p:cNvPr id="17" name="Text 8"/>
          <p:cNvSpPr txBox="1"/>
          <p:nvPr/>
        </p:nvSpPr>
        <p:spPr>
          <a:xfrm>
            <a:off x="457200" y="5257800"/>
            <a:ext cx="6858000" cy="209550"/>
          </a:xfrm>
          <a:prstGeom prst="rect">
            <a:avLst/>
          </a:prstGeom>
          <a:noFill/>
          <a:ln/>
        </p:spPr>
        <p:txBody>
          <a:bodyPr wrap="square" lIns="0" tIns="0" rIns="0" bIns="0" rtlCol="0" anchor="ctr"/>
          <a:lstStyle/>
          <a:p>
            <a:pPr algn="l" indent="0" marL="0">
              <a:buNone/>
            </a:pPr>
            <a:r>
              <a:rPr lang="en-US" sz="1100" b="1" spc="198" kern="0" dirty="0">
                <a:solidFill>
                  <a:srgbClr val="8A6100"/>
                </a:solidFill>
                <a:latin typeface="Source Sans 3" pitchFamily="34" charset="0"/>
                <a:ea typeface="Source Sans 3" pitchFamily="34" charset="-122"/>
                <a:cs typeface="Source Sans 3" pitchFamily="34" charset="-120"/>
              </a:rPr>
              <a:t>REFERENCES</a:t>
            </a:r>
            <a:endParaRPr lang="en-US" sz="1100" dirty="0"/>
          </a:p>
        </p:txBody>
      </p:sp>
      <p:sp>
        <p:nvSpPr>
          <p:cNvPr id="18" name="Text 9"/>
          <p:cNvSpPr/>
          <p:nvPr>
            <p:ph idx="116" type="body" hasCustomPrompt="1"/>
          </p:nvPr>
        </p:nvSpPr>
        <p:spPr>
          <a:xfrm>
            <a:off x="457200" y="5532120"/>
            <a:ext cx="6858000" cy="685800"/>
          </a:xfrm>
          <a:prstGeom prst="rect">
            <a:avLst/>
          </a:prstGeom>
          <a:noFill/>
          <a:ln/>
        </p:spPr>
        <p:txBody>
          <a:bodyPr wrap="square" lIns="0" tIns="0" rIns="0" bIns="0" rtlCol="0" anchor="t">
            <a:normAutofit/>
          </a:bodyPr>
          <a:lstStyle>
            <a:lvl1pPr algn="l" indent="0" marL="0">
              <a:lnSpc>
                <a:spcPts val="1200"/>
              </a:lnSpc>
              <a:buNone/>
              <a:defRPr lang="en-US" sz="900" dirty="0">
                <a:solidFill>
                  <a:srgbClr val="1B2533"/>
                </a:solidFill>
                <a:latin typeface="Source Sans 3" pitchFamily="34" charset="0"/>
                <a:ea typeface="Source Sans 3" pitchFamily="34" charset="-122"/>
                <a:cs typeface="Source Sans 3" pitchFamily="34" charset="-120"/>
              </a:defRPr>
            </a:lvl1pPr>
          </a:lstStyle>
          <a:p>
            <a:pPr algn="l" indent="0" marL="0">
              <a:lnSpc>
                <a:spcPts val="1200"/>
              </a:lnSpc>
              <a:buNone/>
            </a:pPr>
            <a:r>
              <a:rPr lang="en-US" sz="900" dirty="0">
                <a:solidFill>
                  <a:srgbClr val="1B2533"/>
                </a:solidFill>
                <a:latin typeface="Source Sans 3" pitchFamily="34" charset="0"/>
                <a:ea typeface="Source Sans 3" pitchFamily="34" charset="-122"/>
                <a:cs typeface="Source Sans 3" pitchFamily="34" charset="-120"/>
              </a:rPr>
              <a:t>[1] [Reference in IEEE style]</a:t>
            </a:r>
            <a:endParaRPr lang="en-US" sz="900" dirty="0"/>
          </a:p>
        </p:txBody>
      </p:sp>
      <p:sp>
        <p:nvSpPr>
          <p:cNvPr id="19" name="Text 9"/>
          <p:cNvSpPr txBox="1"/>
          <p:nvPr/>
        </p:nvSpPr>
        <p:spPr>
          <a:xfrm>
            <a:off x="457200" y="6400800"/>
            <a:ext cx="6858000" cy="209550"/>
          </a:xfrm>
          <a:prstGeom prst="rect">
            <a:avLst/>
          </a:prstGeom>
          <a:noFill/>
          <a:ln/>
        </p:spPr>
        <p:txBody>
          <a:bodyPr wrap="square" lIns="0" tIns="0" rIns="0" bIns="0" rtlCol="0" anchor="ctr"/>
          <a:lstStyle/>
          <a:p>
            <a:pPr algn="l" indent="0" marL="0">
              <a:buNone/>
            </a:pPr>
            <a:r>
              <a:rPr lang="en-US" sz="1100" b="1" spc="198" kern="0" dirty="0">
                <a:solidFill>
                  <a:srgbClr val="8A6100"/>
                </a:solidFill>
                <a:latin typeface="Source Sans 3" pitchFamily="34" charset="0"/>
                <a:ea typeface="Source Sans 3" pitchFamily="34" charset="-122"/>
                <a:cs typeface="Source Sans 3" pitchFamily="34" charset="-120"/>
              </a:rPr>
              <a:t>CONTACT</a:t>
            </a:r>
            <a:endParaRPr lang="en-US" sz="1100" dirty="0"/>
          </a:p>
        </p:txBody>
      </p:sp>
      <p:sp>
        <p:nvSpPr>
          <p:cNvPr id="20" name="Text 10"/>
          <p:cNvSpPr txBox="1"/>
          <p:nvPr/>
        </p:nvSpPr>
        <p:spPr>
          <a:xfrm>
            <a:off x="457200" y="6675120"/>
            <a:ext cx="914400" cy="237744"/>
          </a:xfrm>
          <a:prstGeom prst="rect">
            <a:avLst/>
          </a:prstGeom>
          <a:noFill/>
          <a:ln/>
        </p:spPr>
        <p:txBody>
          <a:bodyPr wrap="square" lIns="0" tIns="0" rIns="0" bIns="0" rtlCol="0" anchor="ctr"/>
          <a:lstStyle/>
          <a:p>
            <a:pPr algn="l" indent="0" marL="0">
              <a:buNone/>
            </a:pPr>
            <a:r>
              <a:rPr lang="en-US" sz="900" b="1" spc="162" kern="0" dirty="0">
                <a:solidFill>
                  <a:srgbClr val="8A6100"/>
                </a:solidFill>
                <a:latin typeface="Source Sans 3" pitchFamily="34" charset="0"/>
                <a:ea typeface="Source Sans 3" pitchFamily="34" charset="-122"/>
                <a:cs typeface="Source Sans 3" pitchFamily="34" charset="-120"/>
              </a:rPr>
              <a:t>WEB</a:t>
            </a:r>
            <a:endParaRPr lang="en-US" sz="900" dirty="0"/>
          </a:p>
        </p:txBody>
      </p:sp>
      <p:sp>
        <p:nvSpPr>
          <p:cNvPr id="21" name="Text 11"/>
          <p:cNvSpPr/>
          <p:nvPr>
            <p:ph idx="119" type="body" hasCustomPrompt="1"/>
          </p:nvPr>
        </p:nvSpPr>
        <p:spPr>
          <a:xfrm>
            <a:off x="1371600" y="6675120"/>
            <a:ext cx="4480560" cy="237744"/>
          </a:xfrm>
          <a:prstGeom prst="rect">
            <a:avLst/>
          </a:prstGeom>
          <a:noFill/>
          <a:ln/>
        </p:spPr>
        <p:txBody>
          <a:bodyPr wrap="square" lIns="0" tIns="0" rIns="0" bIns="0" rtlCol="0" anchor="ctr"/>
          <a:lstStyle>
            <a:lvl1pPr algn="l" indent="0" marL="0">
              <a:lnSpc>
                <a:spcPts val="1400"/>
              </a:lnSpc>
              <a:buNone/>
              <a:defRPr lang="en-US" sz="1050" dirty="0">
                <a:solidFill>
                  <a:srgbClr val="1B2533"/>
                </a:solidFill>
                <a:latin typeface="Source Sans 3" pitchFamily="34" charset="0"/>
                <a:ea typeface="Source Sans 3" pitchFamily="34" charset="-122"/>
                <a:cs typeface="Source Sans 3" pitchFamily="34" charset="-120"/>
              </a:defRPr>
            </a:lvl1pPr>
          </a:lstStyle>
          <a:p>
            <a:pPr algn="l" indent="0" marL="0">
              <a:lnSpc>
                <a:spcPts val="1400"/>
              </a:lnSpc>
              <a:buNone/>
            </a:pPr>
            <a:r>
              <a:rPr lang="en-US" sz="1050" dirty="0">
                <a:solidFill>
                  <a:srgbClr val="1B2533"/>
                </a:solidFill>
                <a:latin typeface="Source Sans 3" pitchFamily="34" charset="0"/>
                <a:ea typeface="Source Sans 3" pitchFamily="34" charset="-122"/>
                <a:cs typeface="Source Sans 3" pitchFamily="34" charset="-120"/>
              </a:rPr>
              <a:t>[web]</a:t>
            </a:r>
            <a:endParaRPr lang="en-US" sz="1050" dirty="0"/>
          </a:p>
        </p:txBody>
      </p:sp>
      <p:sp>
        <p:nvSpPr>
          <p:cNvPr id="22" name="Text 11"/>
          <p:cNvSpPr txBox="1"/>
          <p:nvPr/>
        </p:nvSpPr>
        <p:spPr>
          <a:xfrm>
            <a:off x="457200" y="6949440"/>
            <a:ext cx="914400" cy="237744"/>
          </a:xfrm>
          <a:prstGeom prst="rect">
            <a:avLst/>
          </a:prstGeom>
          <a:noFill/>
          <a:ln/>
        </p:spPr>
        <p:txBody>
          <a:bodyPr wrap="square" lIns="0" tIns="0" rIns="0" bIns="0" rtlCol="0" anchor="ctr"/>
          <a:lstStyle/>
          <a:p>
            <a:pPr algn="l" indent="0" marL="0">
              <a:buNone/>
            </a:pPr>
            <a:r>
              <a:rPr lang="en-US" sz="900" b="1" spc="162" kern="0" dirty="0">
                <a:solidFill>
                  <a:srgbClr val="8A6100"/>
                </a:solidFill>
                <a:latin typeface="Source Sans 3" pitchFamily="34" charset="0"/>
                <a:ea typeface="Source Sans 3" pitchFamily="34" charset="-122"/>
                <a:cs typeface="Source Sans 3" pitchFamily="34" charset="-120"/>
              </a:rPr>
              <a:t>EMAIL</a:t>
            </a:r>
            <a:endParaRPr lang="en-US" sz="900" dirty="0"/>
          </a:p>
        </p:txBody>
      </p:sp>
      <p:sp>
        <p:nvSpPr>
          <p:cNvPr id="23" name="Text 12"/>
          <p:cNvSpPr/>
          <p:nvPr>
            <p:ph idx="121" type="body" hasCustomPrompt="1"/>
          </p:nvPr>
        </p:nvSpPr>
        <p:spPr>
          <a:xfrm>
            <a:off x="1371600" y="6949440"/>
            <a:ext cx="4480560" cy="237744"/>
          </a:xfrm>
          <a:prstGeom prst="rect">
            <a:avLst/>
          </a:prstGeom>
          <a:noFill/>
          <a:ln/>
        </p:spPr>
        <p:txBody>
          <a:bodyPr wrap="square" lIns="0" tIns="0" rIns="0" bIns="0" rtlCol="0" anchor="ctr"/>
          <a:lstStyle>
            <a:lvl1pPr algn="l" indent="0" marL="0">
              <a:lnSpc>
                <a:spcPts val="1400"/>
              </a:lnSpc>
              <a:buNone/>
              <a:defRPr lang="en-US" sz="1050" dirty="0">
                <a:solidFill>
                  <a:srgbClr val="1B2533"/>
                </a:solidFill>
                <a:latin typeface="Source Sans 3" pitchFamily="34" charset="0"/>
                <a:ea typeface="Source Sans 3" pitchFamily="34" charset="-122"/>
                <a:cs typeface="Source Sans 3" pitchFamily="34" charset="-120"/>
              </a:defRPr>
            </a:lvl1pPr>
          </a:lstStyle>
          <a:p>
            <a:pPr algn="l" indent="0" marL="0">
              <a:lnSpc>
                <a:spcPts val="1400"/>
              </a:lnSpc>
              <a:buNone/>
            </a:pPr>
            <a:r>
              <a:rPr lang="en-US" sz="1050" dirty="0">
                <a:solidFill>
                  <a:srgbClr val="1B2533"/>
                </a:solidFill>
                <a:latin typeface="Source Sans 3" pitchFamily="34" charset="0"/>
                <a:ea typeface="Source Sans 3" pitchFamily="34" charset="-122"/>
                <a:cs typeface="Source Sans 3" pitchFamily="34" charset="-120"/>
              </a:rPr>
              <a:t>[email]</a:t>
            </a:r>
            <a:endParaRPr lang="en-US" sz="1050" dirty="0"/>
          </a:p>
        </p:txBody>
      </p:sp>
      <p:sp>
        <p:nvSpPr>
          <p:cNvPr id="24" name="Text 12"/>
          <p:cNvSpPr txBox="1"/>
          <p:nvPr/>
        </p:nvSpPr>
        <p:spPr>
          <a:xfrm>
            <a:off x="457200" y="7223760"/>
            <a:ext cx="914400" cy="237744"/>
          </a:xfrm>
          <a:prstGeom prst="rect">
            <a:avLst/>
          </a:prstGeom>
          <a:noFill/>
          <a:ln/>
        </p:spPr>
        <p:txBody>
          <a:bodyPr wrap="square" lIns="0" tIns="0" rIns="0" bIns="0" rtlCol="0" anchor="ctr"/>
          <a:lstStyle/>
          <a:p>
            <a:pPr algn="l" indent="0" marL="0">
              <a:buNone/>
            </a:pPr>
            <a:r>
              <a:rPr lang="en-US" sz="900" b="1" spc="162" kern="0" dirty="0">
                <a:solidFill>
                  <a:srgbClr val="8A6100"/>
                </a:solidFill>
                <a:latin typeface="Source Sans 3" pitchFamily="34" charset="0"/>
                <a:ea typeface="Source Sans 3" pitchFamily="34" charset="-122"/>
                <a:cs typeface="Source Sans 3" pitchFamily="34" charset="-120"/>
              </a:rPr>
              <a:t>X</a:t>
            </a:r>
            <a:endParaRPr lang="en-US" sz="900" dirty="0"/>
          </a:p>
        </p:txBody>
      </p:sp>
      <p:sp>
        <p:nvSpPr>
          <p:cNvPr id="25" name="Text 13"/>
          <p:cNvSpPr/>
          <p:nvPr>
            <p:ph idx="123" type="body" hasCustomPrompt="1"/>
          </p:nvPr>
        </p:nvSpPr>
        <p:spPr>
          <a:xfrm>
            <a:off x="1371600" y="7223760"/>
            <a:ext cx="4480560" cy="237744"/>
          </a:xfrm>
          <a:prstGeom prst="rect">
            <a:avLst/>
          </a:prstGeom>
          <a:noFill/>
          <a:ln/>
        </p:spPr>
        <p:txBody>
          <a:bodyPr wrap="square" lIns="0" tIns="0" rIns="0" bIns="0" rtlCol="0" anchor="ctr"/>
          <a:lstStyle>
            <a:lvl1pPr algn="l" indent="0" marL="0">
              <a:lnSpc>
                <a:spcPts val="1400"/>
              </a:lnSpc>
              <a:buNone/>
              <a:defRPr lang="en-US" sz="1050" dirty="0">
                <a:solidFill>
                  <a:srgbClr val="1B2533"/>
                </a:solidFill>
                <a:latin typeface="Source Sans 3" pitchFamily="34" charset="0"/>
                <a:ea typeface="Source Sans 3" pitchFamily="34" charset="-122"/>
                <a:cs typeface="Source Sans 3" pitchFamily="34" charset="-120"/>
              </a:defRPr>
            </a:lvl1pPr>
          </a:lstStyle>
          <a:p>
            <a:pPr algn="l" indent="0" marL="0">
              <a:lnSpc>
                <a:spcPts val="1400"/>
              </a:lnSpc>
              <a:buNone/>
            </a:pPr>
            <a:r>
              <a:rPr lang="en-US" sz="1050" dirty="0">
                <a:solidFill>
                  <a:srgbClr val="1B2533"/>
                </a:solidFill>
                <a:latin typeface="Source Sans 3" pitchFamily="34" charset="0"/>
                <a:ea typeface="Source Sans 3" pitchFamily="34" charset="-122"/>
                <a:cs typeface="Source Sans 3" pitchFamily="34" charset="-120"/>
              </a:rPr>
              <a:t>[x]</a:t>
            </a:r>
            <a:endParaRPr lang="en-US" sz="1050" dirty="0"/>
          </a:p>
        </p:txBody>
      </p:sp>
      <p:sp>
        <p:nvSpPr>
          <p:cNvPr id="26" name="Text 13"/>
          <p:cNvSpPr txBox="1"/>
          <p:nvPr/>
        </p:nvSpPr>
        <p:spPr>
          <a:xfrm>
            <a:off x="457200" y="7498080"/>
            <a:ext cx="914400" cy="237744"/>
          </a:xfrm>
          <a:prstGeom prst="rect">
            <a:avLst/>
          </a:prstGeom>
          <a:noFill/>
          <a:ln/>
        </p:spPr>
        <p:txBody>
          <a:bodyPr wrap="square" lIns="0" tIns="0" rIns="0" bIns="0" rtlCol="0" anchor="ctr"/>
          <a:lstStyle/>
          <a:p>
            <a:pPr algn="l" indent="0" marL="0">
              <a:buNone/>
            </a:pPr>
            <a:r>
              <a:rPr lang="en-US" sz="900" b="1" spc="162" kern="0" dirty="0">
                <a:solidFill>
                  <a:srgbClr val="8A6100"/>
                </a:solidFill>
                <a:latin typeface="Source Sans 3" pitchFamily="34" charset="0"/>
                <a:ea typeface="Source Sans 3" pitchFamily="34" charset="-122"/>
                <a:cs typeface="Source Sans 3" pitchFamily="34" charset="-120"/>
              </a:rPr>
              <a:t>GITHUB</a:t>
            </a:r>
            <a:endParaRPr lang="en-US" sz="900" dirty="0"/>
          </a:p>
        </p:txBody>
      </p:sp>
      <p:sp>
        <p:nvSpPr>
          <p:cNvPr id="27" name="Text 14"/>
          <p:cNvSpPr/>
          <p:nvPr>
            <p:ph idx="125" type="body" hasCustomPrompt="1"/>
          </p:nvPr>
        </p:nvSpPr>
        <p:spPr>
          <a:xfrm>
            <a:off x="1371600" y="7498080"/>
            <a:ext cx="4480560" cy="237744"/>
          </a:xfrm>
          <a:prstGeom prst="rect">
            <a:avLst/>
          </a:prstGeom>
          <a:noFill/>
          <a:ln/>
        </p:spPr>
        <p:txBody>
          <a:bodyPr wrap="square" lIns="0" tIns="0" rIns="0" bIns="0" rtlCol="0" anchor="ctr"/>
          <a:lstStyle>
            <a:lvl1pPr algn="l" indent="0" marL="0">
              <a:lnSpc>
                <a:spcPts val="1400"/>
              </a:lnSpc>
              <a:buNone/>
              <a:defRPr lang="en-US" sz="1050" dirty="0">
                <a:solidFill>
                  <a:srgbClr val="1B2533"/>
                </a:solidFill>
                <a:latin typeface="Source Sans 3" pitchFamily="34" charset="0"/>
                <a:ea typeface="Source Sans 3" pitchFamily="34" charset="-122"/>
                <a:cs typeface="Source Sans 3" pitchFamily="34" charset="-120"/>
              </a:defRPr>
            </a:lvl1pPr>
          </a:lstStyle>
          <a:p>
            <a:pPr algn="l" indent="0" marL="0">
              <a:lnSpc>
                <a:spcPts val="1400"/>
              </a:lnSpc>
              <a:buNone/>
            </a:pPr>
            <a:r>
              <a:rPr lang="en-US" sz="1050" dirty="0">
                <a:solidFill>
                  <a:srgbClr val="1B2533"/>
                </a:solidFill>
                <a:latin typeface="Source Sans 3" pitchFamily="34" charset="0"/>
                <a:ea typeface="Source Sans 3" pitchFamily="34" charset="-122"/>
                <a:cs typeface="Source Sans 3" pitchFamily="34" charset="-120"/>
              </a:rPr>
              <a:t>[github]</a:t>
            </a:r>
            <a:endParaRPr lang="en-US" sz="1050" dirty="0"/>
          </a:p>
        </p:txBody>
      </p:sp>
      <p:sp>
        <p:nvSpPr>
          <p:cNvPr id="28" name="Text 14"/>
          <p:cNvSpPr txBox="1"/>
          <p:nvPr/>
        </p:nvSpPr>
        <p:spPr>
          <a:xfrm>
            <a:off x="457200" y="7772400"/>
            <a:ext cx="914400" cy="237744"/>
          </a:xfrm>
          <a:prstGeom prst="rect">
            <a:avLst/>
          </a:prstGeom>
          <a:noFill/>
          <a:ln/>
        </p:spPr>
        <p:txBody>
          <a:bodyPr wrap="square" lIns="0" tIns="0" rIns="0" bIns="0" rtlCol="0" anchor="ctr"/>
          <a:lstStyle/>
          <a:p>
            <a:pPr algn="l" indent="0" marL="0">
              <a:buNone/>
            </a:pPr>
            <a:r>
              <a:rPr lang="en-US" sz="900" b="1" spc="162" kern="0" dirty="0">
                <a:solidFill>
                  <a:srgbClr val="8A6100"/>
                </a:solidFill>
                <a:latin typeface="Source Sans 3" pitchFamily="34" charset="0"/>
                <a:ea typeface="Source Sans 3" pitchFamily="34" charset="-122"/>
                <a:cs typeface="Source Sans 3" pitchFamily="34" charset="-120"/>
              </a:rPr>
              <a:t>VISIT</a:t>
            </a:r>
            <a:endParaRPr lang="en-US" sz="900" dirty="0"/>
          </a:p>
        </p:txBody>
      </p:sp>
      <p:sp>
        <p:nvSpPr>
          <p:cNvPr id="29" name="Text 15"/>
          <p:cNvSpPr/>
          <p:nvPr>
            <p:ph idx="127" type="body" hasCustomPrompt="1"/>
          </p:nvPr>
        </p:nvSpPr>
        <p:spPr>
          <a:xfrm>
            <a:off x="1371600" y="7772400"/>
            <a:ext cx="4480560" cy="548640"/>
          </a:xfrm>
          <a:prstGeom prst="rect">
            <a:avLst/>
          </a:prstGeom>
          <a:noFill/>
          <a:ln/>
        </p:spPr>
        <p:txBody>
          <a:bodyPr wrap="square" lIns="0" tIns="0" rIns="0" bIns="0" rtlCol="0" anchor="t"/>
          <a:lstStyle>
            <a:lvl1pPr algn="l" indent="0" marL="0">
              <a:lnSpc>
                <a:spcPts val="1400"/>
              </a:lnSpc>
              <a:buNone/>
              <a:defRPr lang="en-US" sz="1050" dirty="0">
                <a:solidFill>
                  <a:srgbClr val="1B2533"/>
                </a:solidFill>
                <a:latin typeface="Source Sans 3" pitchFamily="34" charset="0"/>
                <a:ea typeface="Source Sans 3" pitchFamily="34" charset="-122"/>
                <a:cs typeface="Source Sans 3" pitchFamily="34" charset="-120"/>
              </a:defRPr>
            </a:lvl1pPr>
          </a:lstStyle>
          <a:p>
            <a:pPr algn="l" indent="0" marL="0">
              <a:lnSpc>
                <a:spcPts val="1400"/>
              </a:lnSpc>
              <a:buNone/>
            </a:pPr>
            <a:r>
              <a:rPr lang="en-US" sz="1050" dirty="0">
                <a:solidFill>
                  <a:srgbClr val="1B2533"/>
                </a:solidFill>
                <a:latin typeface="Source Sans 3" pitchFamily="34" charset="0"/>
                <a:ea typeface="Source Sans 3" pitchFamily="34" charset="-122"/>
                <a:cs typeface="Source Sans 3" pitchFamily="34" charset="-120"/>
              </a:rPr>
              <a:t>[visit]</a:t>
            </a:r>
            <a:endParaRPr lang="en-US" sz="1050"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5"/>
          <p:cNvSpPr/>
          <p:nvPr>
            <p:ph idx="107" type="body" hasCustomPrompt="1"/>
          </p:nvPr>
        </p:nvSpPr>
        <p:spPr>
          <a:xfrm>
            <a:off x="1207008" y="420624"/>
            <a:ext cx="4800600" cy="209550"/>
          </a:xfrm>
          <a:prstGeom prst="rect">
            <a:avLst/>
          </a:prstGeom>
          <a:noFill/>
          <a:ln/>
        </p:spPr>
        <p:txBody>
          <a:bodyPr wrap="square" lIns="0" tIns="0" rIns="0" bIns="0" rtlCol="0" anchor="ctr"/>
          <a:lstStyle/>
          <a:p>
            <a:pPr algn="l" indent="0" marL="0">
              <a:buNone/>
            </a:pPr>
            <a:r>
              <a:rPr lang="en-US" sz="1100" b="1" spc="198" kern="0" dirty="0">
                <a:solidFill>
                  <a:srgbClr val="8A6100"/>
                </a:solidFill>
                <a:latin typeface="Source Sans 3" pitchFamily="34" charset="0"/>
                <a:ea typeface="Source Sans 3" pitchFamily="34" charset="-122"/>
                <a:cs typeface="Source Sans 3" pitchFamily="34" charset="-120"/>
              </a:rPr>
              <a:t>ONE-PAGER  ·  [SPONSOR]  ·  [SEPT. 2026]</a:t>
            </a:r>
            <a:endParaRPr lang="en-US" sz="1100" dirty="0"/>
          </a:p>
        </p:txBody>
      </p:sp>
      <p:sp>
        <p:nvSpPr>
          <p:cNvPr id="3" name="Text 5"/>
          <p:cNvSpPr/>
          <p:nvPr>
            <p:ph idx="108" type="title" hasCustomPrompt="1"/>
          </p:nvPr>
        </p:nvSpPr>
        <p:spPr>
          <a:xfrm>
            <a:off x="1207008" y="676656"/>
            <a:ext cx="4800600" cy="777240"/>
          </a:xfrm>
          <a:prstGeom prst="rect">
            <a:avLst/>
          </a:prstGeom>
          <a:noFill/>
          <a:ln/>
        </p:spPr>
        <p:txBody>
          <a:bodyPr wrap="square" lIns="0" tIns="0" rIns="0" bIns="0" rtlCol="0" anchor="t">
            <a:normAutofit/>
          </a:bodyPr>
          <a:lstStyle/>
          <a:p>
            <a:pPr algn="l" indent="0" marL="0">
              <a:lnSpc>
                <a:spcPts val="3000"/>
              </a:lnSpc>
              <a:buNone/>
            </a:pPr>
            <a:r>
              <a:rPr lang="en-US" sz="2600" b="1" dirty="0">
                <a:solidFill>
                  <a:srgbClr val="003976"/>
                </a:solidFill>
                <a:latin typeface="Source Sans 3" pitchFamily="34" charset="0"/>
                <a:ea typeface="Source Sans 3" pitchFamily="34" charset="-122"/>
                <a:cs typeface="Source Sans 3" pitchFamily="34" charset="-120"/>
              </a:rPr>
              <a:t>[Project title: a finding or a goal, not a paper title]</a:t>
            </a:r>
            <a:endParaRPr lang="en-US" sz="2600" dirty="0"/>
          </a:p>
        </p:txBody>
      </p:sp>
      <p:sp>
        <p:nvSpPr>
          <p:cNvPr id="4" name="Text 5"/>
          <p:cNvSpPr/>
          <p:nvPr>
            <p:ph idx="109" type="body" hasCustomPrompt="1"/>
          </p:nvPr>
        </p:nvSpPr>
        <p:spPr>
          <a:xfrm>
            <a:off x="457200" y="1682496"/>
            <a:ext cx="6858000" cy="457200"/>
          </a:xfrm>
          <a:prstGeom prst="rect">
            <a:avLst/>
          </a:prstGeom>
          <a:noFill/>
          <a:ln/>
        </p:spPr>
        <p:txBody>
          <a:bodyPr wrap="square" lIns="0" tIns="0" rIns="0" bIns="0" rtlCol="0" anchor="t">
            <a:normAutofit/>
          </a:bodyPr>
          <a:lstStyle/>
          <a:p>
            <a:pPr algn="l" indent="0" marL="0">
              <a:lnSpc>
                <a:spcPts val="1700"/>
              </a:lnSpc>
              <a:buNone/>
            </a:pPr>
            <a:r>
              <a:rPr lang="en-US" sz="1300" b="1" dirty="0">
                <a:solidFill>
                  <a:srgbClr val="003976"/>
                </a:solidFill>
                <a:latin typeface="Source Sans 3" pitchFamily="34" charset="0"/>
                <a:ea typeface="Source Sans 3" pitchFamily="34" charset="-122"/>
                <a:cs typeface="Source Sans 3" pitchFamily="34" charset="-120"/>
              </a:rPr>
              <a:t>[One sentence: what the project does, for whom and why it matters. Keep it to two lines.]</a:t>
            </a:r>
            <a:endParaRPr lang="en-US" sz="1300" dirty="0"/>
          </a:p>
        </p:txBody>
      </p:sp>
      <p:sp>
        <p:nvSpPr>
          <p:cNvPr id="5" name="Text 8"/>
          <p:cNvSpPr/>
          <p:nvPr>
            <p:ph idx="113" type="body" hasCustomPrompt="1"/>
          </p:nvPr>
        </p:nvSpPr>
        <p:spPr>
          <a:xfrm>
            <a:off x="457200" y="2743200"/>
            <a:ext cx="3291840" cy="1371600"/>
          </a:xfrm>
          <a:prstGeom prst="rect">
            <a:avLst/>
          </a:prstGeom>
          <a:noFill/>
          <a:ln/>
        </p:spPr>
        <p:txBody>
          <a:bodyPr wrap="square" lIns="0" tIns="0" rIns="0" bIns="0" rtlCol="0" anchor="t">
            <a:normAutofit/>
          </a:bodyPr>
          <a:lstStyle/>
          <a:p>
            <a:pPr algn="l" indent="0" marL="0">
              <a:lnSpc>
                <a:spcPts val="1500"/>
              </a:lnSpc>
              <a:buNone/>
            </a:pPr>
            <a:r>
              <a:rPr lang="en-US" sz="1100" dirty="0">
                <a:solidFill>
                  <a:srgbClr val="1B2533"/>
                </a:solidFill>
                <a:latin typeface="Source Sans 3" pitchFamily="34" charset="0"/>
                <a:ea typeface="Source Sans 3" pitchFamily="34" charset="-122"/>
                <a:cs typeface="Source Sans 3" pitchFamily="34" charset="-120"/>
              </a:rPr>
              <a:t>[Two or three sentences on the need: who has this problem, what it costs them today and what changes if it is solved. Cite one number with its source.]</a:t>
            </a:r>
            <a:endParaRPr lang="en-US" sz="1100" dirty="0"/>
          </a:p>
        </p:txBody>
      </p:sp>
      <p:sp>
        <p:nvSpPr>
          <p:cNvPr id="6" name="Text 11"/>
          <p:cNvSpPr/>
          <p:nvPr>
            <p:ph idx="117" type="body" hasCustomPrompt="1"/>
          </p:nvPr>
        </p:nvSpPr>
        <p:spPr>
          <a:xfrm>
            <a:off x="457200" y="4754880"/>
            <a:ext cx="3291840" cy="457200"/>
          </a:xfrm>
          <a:prstGeom prst="rect">
            <a:avLst/>
          </a:prstGeom>
          <a:noFill/>
          <a:ln/>
        </p:spPr>
        <p:txBody>
          <a:bodyPr wrap="square" lIns="0" tIns="0" rIns="0" bIns="0" rtlCol="0" anchor="t"/>
          <a:lstStyle/>
          <a:p>
            <a:pPr algn="l" indent="0" marL="0">
              <a:lnSpc>
                <a:spcPts val="1500"/>
              </a:lnSpc>
              <a:buNone/>
            </a:pPr>
            <a:r>
              <a:rPr lang="en-US" sz="1100" dirty="0">
                <a:solidFill>
                  <a:srgbClr val="1B2533"/>
                </a:solidFill>
                <a:latin typeface="Source Sans 3" pitchFamily="34" charset="0"/>
                <a:ea typeface="Source Sans 3" pitchFamily="34" charset="-122"/>
                <a:cs typeface="Source Sans 3" pitchFamily="34" charset="-120"/>
              </a:rPr>
              <a:t>[One sentence on the method and why it is the right one.]</a:t>
            </a:r>
            <a:endParaRPr lang="en-US" sz="1100" dirty="0"/>
          </a:p>
        </p:txBody>
      </p:sp>
      <p:sp>
        <p:nvSpPr>
          <p:cNvPr id="7" name="Text 11"/>
          <p:cNvSpPr/>
          <p:nvPr>
            <p:ph idx="118" type="body" hasCustomPrompt="1"/>
          </p:nvPr>
        </p:nvSpPr>
        <p:spPr>
          <a:xfrm>
            <a:off x="457200" y="5257800"/>
            <a:ext cx="3291840" cy="1188720"/>
          </a:xfrm>
          <a:prstGeom prst="rect">
            <a:avLst/>
          </a:prstGeom>
          <a:noFill/>
          <a:ln/>
        </p:spPr>
        <p:txBody>
          <a:bodyPr wrap="square" lIns="0" tIns="0" rIns="0" bIns="0" rtlCol="0" anchor="t"/>
          <a:lstStyle/>
          <a:p>
            <a:pPr algn="l" marL="152400" indent="-152400">
              <a:lnSpc>
                <a:spcPts val="1400"/>
              </a:lnSpc>
              <a:spcAft>
                <a:spcPts val="500"/>
              </a:spcAft>
              <a:buSzPct val="100000"/>
              <a:buChar char="▸"/>
            </a:pPr>
            <a:r>
              <a:rPr lang="en-US" sz="1100" dirty="0">
                <a:solidFill>
                  <a:srgbClr val="1B2533"/>
                </a:solidFill>
                <a:latin typeface="Source Sans 3" pitchFamily="34" charset="0"/>
                <a:ea typeface="Source Sans 3" pitchFamily="34" charset="-122"/>
                <a:cs typeface="Source Sans 3" pitchFamily="34" charset="-120"/>
              </a:rPr>
              <a:t>[Method or system component 1]</a:t>
            </a:r>
            <a:endParaRPr lang="en-US" sz="1100" dirty="0"/>
          </a:p>
          <a:p>
            <a:pPr algn="l" marL="152400" indent="-152400">
              <a:lnSpc>
                <a:spcPts val="1400"/>
              </a:lnSpc>
              <a:spcAft>
                <a:spcPts val="500"/>
              </a:spcAft>
              <a:buSzPct val="100000"/>
              <a:buChar char="▸"/>
            </a:pPr>
            <a:r>
              <a:rPr lang="en-US" sz="1100" dirty="0">
                <a:solidFill>
                  <a:srgbClr val="1B2533"/>
                </a:solidFill>
                <a:latin typeface="Source Sans 3" pitchFamily="34" charset="0"/>
                <a:ea typeface="Source Sans 3" pitchFamily="34" charset="-122"/>
                <a:cs typeface="Source Sans 3" pitchFamily="34" charset="-120"/>
              </a:rPr>
              <a:t>[Method or system component 2]</a:t>
            </a:r>
            <a:endParaRPr lang="en-US" sz="1100" dirty="0"/>
          </a:p>
          <a:p>
            <a:pPr algn="l" marL="152400" indent="-152400">
              <a:lnSpc>
                <a:spcPts val="1400"/>
              </a:lnSpc>
              <a:spcAft>
                <a:spcPts val="500"/>
              </a:spcAft>
              <a:buSzPct val="100000"/>
              <a:buChar char="▸"/>
            </a:pPr>
            <a:r>
              <a:rPr lang="en-US" sz="1100" dirty="0">
                <a:solidFill>
                  <a:srgbClr val="1B2533"/>
                </a:solidFill>
                <a:latin typeface="Source Sans 3" pitchFamily="34" charset="0"/>
                <a:ea typeface="Source Sans 3" pitchFamily="34" charset="-122"/>
                <a:cs typeface="Source Sans 3" pitchFamily="34" charset="-120"/>
              </a:rPr>
              <a:t>[Evaluation: task, participants, metric]</a:t>
            </a:r>
            <a:endParaRPr lang="en-US" sz="1100" dirty="0"/>
          </a:p>
        </p:txBody>
      </p:sp>
      <p:sp>
        <p:nvSpPr>
          <p:cNvPr id="8" name="Text 12"/>
          <p:cNvSpPr/>
          <p:nvPr>
            <p:ph idx="120" type="body" hasCustomPrompt="1"/>
          </p:nvPr>
        </p:nvSpPr>
        <p:spPr>
          <a:xfrm>
            <a:off x="457200" y="6812280"/>
            <a:ext cx="3291840" cy="548640"/>
          </a:xfrm>
          <a:prstGeom prst="rect">
            <a:avLst/>
          </a:prstGeom>
          <a:noFill/>
          <a:ln/>
        </p:spPr>
        <p:txBody>
          <a:bodyPr wrap="square" lIns="0" tIns="0" rIns="0" bIns="0" rtlCol="0" anchor="t"/>
          <a:lstStyle/>
          <a:p>
            <a:pPr algn="l" indent="0" marL="0">
              <a:lnSpc>
                <a:spcPts val="1400"/>
              </a:lnSpc>
              <a:buNone/>
            </a:pPr>
            <a:r>
              <a:rPr lang="en-US" sz="1050" dirty="0">
                <a:solidFill>
                  <a:srgbClr val="4A5868"/>
                </a:solidFill>
                <a:latin typeface="Source Sans 3" pitchFamily="34" charset="0"/>
                <a:ea typeface="Source Sans 3" pitchFamily="34" charset="-122"/>
                <a:cs typeface="Source Sans 3" pitchFamily="34" charset="-120"/>
              </a:rPr>
              <a:t>[PI Name], [Co-I Name], [N] graduate and [N] undergraduate researchers, Advanced Telerobotics Research Lab</a:t>
            </a:r>
            <a:endParaRPr lang="en-US" sz="1050" dirty="0"/>
          </a:p>
        </p:txBody>
      </p:sp>
      <p:sp>
        <p:nvSpPr>
          <p:cNvPr id="9" name="Text 13"/>
          <p:cNvSpPr/>
          <p:nvPr>
            <p:ph idx="122" type="body" hasCustomPrompt="1"/>
          </p:nvPr>
        </p:nvSpPr>
        <p:spPr>
          <a:xfrm>
            <a:off x="4297680" y="2606040"/>
            <a:ext cx="2743200" cy="1554480"/>
          </a:xfrm>
          <a:prstGeom prst="rect">
            <a:avLst/>
          </a:prstGeom>
          <a:noFill/>
          <a:ln/>
        </p:spPr>
        <p:txBody>
          <a:bodyPr wrap="square" lIns="0" tIns="0" rIns="0" bIns="0" rtlCol="0" anchor="ctr"/>
          <a:lstStyle/>
          <a:p>
            <a:pPr algn="ctr" indent="0" marL="0">
              <a:lnSpc>
                <a:spcPts val="1400"/>
              </a:lnSpc>
              <a:buNone/>
            </a:pPr>
            <a:r>
              <a:rPr lang="en-US" sz="1000" dirty="0">
                <a:solidFill>
                  <a:srgbClr val="4A5868"/>
                </a:solidFill>
                <a:latin typeface="Source Sans 3" pitchFamily="34" charset="0"/>
                <a:ea typeface="Source Sans 3" pitchFamily="34" charset="-122"/>
                <a:cs typeface="Source Sans 3" pitchFamily="34" charset="-120"/>
              </a:rPr>
              <a:t>[Figure or real lab photo]</a:t>
            </a:r>
            <a:endParaRPr lang="en-US" sz="1000" dirty="0"/>
          </a:p>
          <a:p>
            <a:pPr algn="ctr" indent="0" marL="0">
              <a:lnSpc>
                <a:spcPts val="1400"/>
              </a:lnSpc>
              <a:buNone/>
            </a:pPr>
            <a:r>
              <a:rPr lang="en-US" sz="1000" dirty="0">
                <a:solidFill>
                  <a:srgbClr val="4A5868"/>
                </a:solidFill>
                <a:latin typeface="Source Sans 3" pitchFamily="34" charset="0"/>
                <a:ea typeface="Source Sans 3" pitchFamily="34" charset="-122"/>
                <a:cs typeface="Source Sans 3" pitchFamily="34" charset="-120"/>
              </a:rPr>
              <a:t>axis labels, units, color bar; alt text</a:t>
            </a:r>
            <a:endParaRPr lang="en-US" sz="1000" dirty="0"/>
          </a:p>
        </p:txBody>
      </p:sp>
      <p:sp>
        <p:nvSpPr>
          <p:cNvPr id="10" name="Text 13"/>
          <p:cNvSpPr/>
          <p:nvPr>
            <p:ph idx="123" type="body" hasCustomPrompt="1"/>
          </p:nvPr>
        </p:nvSpPr>
        <p:spPr>
          <a:xfrm>
            <a:off x="4023360" y="4507992"/>
            <a:ext cx="3291840" cy="256032"/>
          </a:xfrm>
          <a:prstGeom prst="rect">
            <a:avLst/>
          </a:prstGeom>
          <a:noFill/>
          <a:ln/>
        </p:spPr>
        <p:txBody>
          <a:bodyPr wrap="square" lIns="0" tIns="0" rIns="0" bIns="0" rtlCol="0" anchor="t"/>
          <a:lstStyle/>
          <a:p>
            <a:pPr algn="l" indent="0" marL="0">
              <a:lnSpc>
                <a:spcPts val="1000"/>
              </a:lnSpc>
              <a:buNone/>
            </a:pPr>
            <a:r>
              <a:rPr lang="en-US" sz="800" dirty="0">
                <a:solidFill>
                  <a:srgbClr val="4A5868"/>
                </a:solidFill>
                <a:latin typeface="Source Code Pro" pitchFamily="34" charset="0"/>
                <a:ea typeface="Source Code Pro" pitchFamily="34" charset="-122"/>
                <a:cs typeface="Source Code Pro" pitchFamily="34" charset="-120"/>
              </a:rPr>
              <a:t>FIG. 01 // [What the figure shows, up to two lines]</a:t>
            </a:r>
            <a:endParaRPr lang="en-US" sz="800" dirty="0"/>
          </a:p>
        </p:txBody>
      </p:sp>
      <p:sp>
        <p:nvSpPr>
          <p:cNvPr id="11" name="Text 17"/>
          <p:cNvSpPr/>
          <p:nvPr>
            <p:ph idx="128" type="body" hasCustomPrompt="1"/>
          </p:nvPr>
        </p:nvSpPr>
        <p:spPr>
          <a:xfrm>
            <a:off x="4251960" y="5495544"/>
            <a:ext cx="1828800" cy="190500"/>
          </a:xfrm>
          <a:prstGeom prst="rect">
            <a:avLst/>
          </a:prstGeom>
          <a:noFill/>
          <a:ln/>
        </p:spPr>
        <p:txBody>
          <a:bodyPr wrap="square" lIns="0" tIns="0" rIns="0" bIns="0" rtlCol="0" anchor="ctr"/>
          <a:lstStyle/>
          <a:p>
            <a:pPr algn="l" indent="0" marL="0">
              <a:buNone/>
            </a:pPr>
            <a:r>
              <a:rPr lang="en-US" sz="1000" b="1" spc="180" kern="0" dirty="0">
                <a:solidFill>
                  <a:srgbClr val="EFAB00"/>
                </a:solidFill>
                <a:latin typeface="Source Sans 3" pitchFamily="34" charset="0"/>
                <a:ea typeface="Source Sans 3" pitchFamily="34" charset="-122"/>
                <a:cs typeface="Source Sans 3" pitchFamily="34" charset="-120"/>
              </a:rPr>
              <a:t>KEY RESULT</a:t>
            </a:r>
            <a:endParaRPr lang="en-US" sz="1000" dirty="0"/>
          </a:p>
        </p:txBody>
      </p:sp>
      <p:sp>
        <p:nvSpPr>
          <p:cNvPr id="12" name="Text 17"/>
          <p:cNvSpPr/>
          <p:nvPr>
            <p:ph idx="129" type="body" hasCustomPrompt="1"/>
          </p:nvPr>
        </p:nvSpPr>
        <p:spPr>
          <a:xfrm>
            <a:off x="4251960" y="5715000"/>
            <a:ext cx="1143000" cy="548640"/>
          </a:xfrm>
          <a:prstGeom prst="rect">
            <a:avLst/>
          </a:prstGeom>
          <a:noFill/>
          <a:ln/>
        </p:spPr>
        <p:txBody>
          <a:bodyPr wrap="square" lIns="0" tIns="0" rIns="0" bIns="0" rtlCol="0" anchor="ctr">
            <a:normAutofit/>
          </a:bodyPr>
          <a:lstStyle/>
          <a:p>
            <a:pPr algn="l" indent="0" marL="0">
              <a:buNone/>
            </a:pPr>
            <a:r>
              <a:rPr lang="en-US" sz="3200" b="1" spc="-50" kern="0" dirty="0">
                <a:solidFill>
                  <a:srgbClr val="EFAB00"/>
                </a:solidFill>
                <a:latin typeface="Roboto Slab" pitchFamily="34" charset="0"/>
                <a:ea typeface="Roboto Slab" pitchFamily="34" charset="-122"/>
                <a:cs typeface="Roboto Slab" pitchFamily="34" charset="-120"/>
              </a:rPr>
              <a:t>[38%]</a:t>
            </a:r>
            <a:endParaRPr lang="en-US" sz="3200" dirty="0"/>
          </a:p>
        </p:txBody>
      </p:sp>
      <p:sp>
        <p:nvSpPr>
          <p:cNvPr id="13" name="Text 17"/>
          <p:cNvSpPr/>
          <p:nvPr>
            <p:ph idx="130" type="body" hasCustomPrompt="1"/>
          </p:nvPr>
        </p:nvSpPr>
        <p:spPr>
          <a:xfrm>
            <a:off x="5440680" y="5696712"/>
            <a:ext cx="1645920" cy="621792"/>
          </a:xfrm>
          <a:prstGeom prst="rect">
            <a:avLst/>
          </a:prstGeom>
          <a:noFill/>
          <a:ln/>
        </p:spPr>
        <p:txBody>
          <a:bodyPr wrap="square" lIns="0" tIns="0" rIns="0" bIns="0" rtlCol="0" anchor="t">
            <a:normAutofit/>
          </a:bodyPr>
          <a:lstStyle/>
          <a:p>
            <a:pPr algn="l" indent="0" marL="0">
              <a:lnSpc>
                <a:spcPts val="1400"/>
              </a:lnSpc>
              <a:buNone/>
            </a:pPr>
            <a:r>
              <a:rPr lang="en-US" sz="1050" dirty="0">
                <a:solidFill>
                  <a:srgbClr val="FFFFFF"/>
                </a:solidFill>
                <a:latin typeface="Source Sans 3" pitchFamily="34" charset="0"/>
                <a:ea typeface="Source Sans 3" pitchFamily="34" charset="-122"/>
                <a:cs typeface="Source Sans 3" pitchFamily="34" charset="-120"/>
              </a:rPr>
              <a:t>[what the number means, compared with what]</a:t>
            </a:r>
            <a:endParaRPr lang="en-US" sz="1050" dirty="0"/>
          </a:p>
        </p:txBody>
      </p:sp>
      <p:sp>
        <p:nvSpPr>
          <p:cNvPr id="14" name="Text 17"/>
          <p:cNvSpPr/>
          <p:nvPr>
            <p:ph idx="131" type="body" hasCustomPrompt="1"/>
          </p:nvPr>
        </p:nvSpPr>
        <p:spPr>
          <a:xfrm>
            <a:off x="4251960" y="6373368"/>
            <a:ext cx="2834640" cy="164592"/>
          </a:xfrm>
          <a:prstGeom prst="rect">
            <a:avLst/>
          </a:prstGeom>
          <a:noFill/>
          <a:ln/>
        </p:spPr>
        <p:txBody>
          <a:bodyPr wrap="square" lIns="0" tIns="0" rIns="0" bIns="0" rtlCol="0" anchor="ctr"/>
          <a:lstStyle/>
          <a:p>
            <a:pPr algn="l" indent="0" marL="0">
              <a:buNone/>
            </a:pPr>
            <a:r>
              <a:rPr lang="en-US" sz="800" dirty="0">
                <a:solidFill>
                  <a:srgbClr val="EFAB00"/>
                </a:solidFill>
                <a:latin typeface="Source Code Pro" pitchFamily="34" charset="0"/>
                <a:ea typeface="Source Code Pro" pitchFamily="34" charset="-122"/>
                <a:cs typeface="Source Code Pro" pitchFamily="34" charset="-120"/>
              </a:rPr>
              <a:t>SOURCE // [study], n = [N]</a:t>
            </a:r>
            <a:endParaRPr lang="en-US" sz="800" dirty="0"/>
          </a:p>
        </p:txBody>
      </p:sp>
      <p:sp>
        <p:nvSpPr>
          <p:cNvPr id="15" name="Text 17"/>
          <p:cNvSpPr/>
          <p:nvPr>
            <p:ph idx="132" type="body" hasCustomPrompt="1"/>
          </p:nvPr>
        </p:nvSpPr>
        <p:spPr>
          <a:xfrm>
            <a:off x="4023360" y="6739128"/>
            <a:ext cx="3291840" cy="731520"/>
          </a:xfrm>
          <a:prstGeom prst="rect">
            <a:avLst/>
          </a:prstGeom>
          <a:noFill/>
          <a:ln/>
        </p:spPr>
        <p:txBody>
          <a:bodyPr wrap="square" lIns="0" tIns="0" rIns="0" bIns="0" rtlCol="0" anchor="t"/>
          <a:lstStyle/>
          <a:p>
            <a:pPr algn="l" marL="152400" indent="-152400">
              <a:lnSpc>
                <a:spcPts val="1400"/>
              </a:lnSpc>
              <a:spcAft>
                <a:spcPts val="500"/>
              </a:spcAft>
              <a:buSzPct val="100000"/>
              <a:buChar char="▸"/>
            </a:pPr>
            <a:r>
              <a:rPr lang="en-US" sz="1100" dirty="0">
                <a:solidFill>
                  <a:srgbClr val="1B2533"/>
                </a:solidFill>
                <a:latin typeface="Source Sans 3" pitchFamily="34" charset="0"/>
                <a:ea typeface="Source Sans 3" pitchFamily="34" charset="-122"/>
                <a:cs typeface="Source Sans 3" pitchFamily="34" charset="-120"/>
              </a:rPr>
              <a:t>[Finding 1, with the metric and its direction (lower is better)]</a:t>
            </a:r>
            <a:endParaRPr lang="en-US" sz="1100" dirty="0"/>
          </a:p>
          <a:p>
            <a:pPr algn="l" marL="152400" indent="-152400">
              <a:lnSpc>
                <a:spcPts val="1400"/>
              </a:lnSpc>
              <a:spcAft>
                <a:spcPts val="500"/>
              </a:spcAft>
              <a:buSzPct val="100000"/>
              <a:buChar char="▸"/>
            </a:pPr>
            <a:r>
              <a:rPr lang="en-US" sz="1100" dirty="0">
                <a:solidFill>
                  <a:srgbClr val="1B2533"/>
                </a:solidFill>
                <a:latin typeface="Source Sans 3" pitchFamily="34" charset="0"/>
                <a:ea typeface="Source Sans 3" pitchFamily="34" charset="-122"/>
                <a:cs typeface="Source Sans 3" pitchFamily="34" charset="-120"/>
              </a:rPr>
              <a:t>[Finding 2, and what it enables next]</a:t>
            </a:r>
            <a:endParaRPr lang="en-US" sz="1100" dirty="0"/>
          </a:p>
        </p:txBody>
      </p:sp>
      <p:sp>
        <p:nvSpPr>
          <p:cNvPr id="16" name="Text 21"/>
          <p:cNvSpPr/>
          <p:nvPr>
            <p:ph idx="137" type="body" hasCustomPrompt="1"/>
          </p:nvPr>
        </p:nvSpPr>
        <p:spPr>
          <a:xfrm>
            <a:off x="685800" y="8229600"/>
            <a:ext cx="4206240" cy="640080"/>
          </a:xfrm>
          <a:prstGeom prst="rect">
            <a:avLst/>
          </a:prstGeom>
          <a:noFill/>
          <a:ln/>
        </p:spPr>
        <p:txBody>
          <a:bodyPr wrap="square" lIns="0" tIns="0" rIns="0" bIns="0" rtlCol="0" anchor="t">
            <a:normAutofit/>
          </a:bodyPr>
          <a:lstStyle/>
          <a:p>
            <a:pPr algn="l" indent="0" marL="0">
              <a:lnSpc>
                <a:spcPts val="1500"/>
              </a:lnSpc>
              <a:buNone/>
            </a:pPr>
            <a:r>
              <a:rPr lang="en-US" sz="1150" dirty="0">
                <a:solidFill>
                  <a:srgbClr val="FFFFFF"/>
                </a:solidFill>
                <a:latin typeface="Source Sans 3" pitchFamily="34" charset="0"/>
                <a:ea typeface="Source Sans 3" pitchFamily="34" charset="-122"/>
                <a:cs typeface="Source Sans 3" pitchFamily="34" charset="-120"/>
              </a:rPr>
              <a:t>[What you need from the reader: $[X] over [N] months, access to [facility or data], a pilot with [partner] or a letter of support. One or two sentences.]</a:t>
            </a:r>
            <a:endParaRPr lang="en-US" sz="1150" dirty="0"/>
          </a:p>
        </p:txBody>
      </p:sp>
      <p:sp>
        <p:nvSpPr>
          <p:cNvPr id="17" name="Text 21"/>
          <p:cNvSpPr/>
          <p:nvPr>
            <p:ph idx="138" type="body" hasCustomPrompt="1"/>
          </p:nvPr>
        </p:nvSpPr>
        <p:spPr>
          <a:xfrm>
            <a:off x="5120640" y="8174736"/>
            <a:ext cx="2011680" cy="329184"/>
          </a:xfrm>
          <a:prstGeom prst="rect">
            <a:avLst/>
          </a:prstGeom>
          <a:noFill/>
          <a:ln/>
        </p:spPr>
        <p:txBody>
          <a:bodyPr wrap="square" lIns="0" tIns="0" rIns="0" bIns="0" rtlCol="0" anchor="t">
            <a:normAutofit/>
          </a:bodyPr>
          <a:lstStyle/>
          <a:p>
            <a:pPr algn="l" indent="0" marL="0">
              <a:lnSpc>
                <a:spcPts val="1300"/>
              </a:lnSpc>
              <a:buNone/>
            </a:pPr>
            <a:r>
              <a:rPr lang="en-US" sz="1100" b="1" dirty="0">
                <a:solidFill>
                  <a:srgbClr val="FFFFFF"/>
                </a:solidFill>
                <a:latin typeface="Source Sans 3" pitchFamily="34" charset="0"/>
                <a:ea typeface="Source Sans 3" pitchFamily="34" charset="-122"/>
                <a:cs typeface="Source Sans 3" pitchFamily="34" charset="-120"/>
              </a:rPr>
              <a:t>[PI Name], [title]</a:t>
            </a:r>
            <a:endParaRPr lang="en-US" sz="1100" dirty="0"/>
          </a:p>
        </p:txBody>
      </p:sp>
      <p:sp>
        <p:nvSpPr>
          <p:cNvPr id="18" name="Text 21"/>
          <p:cNvSpPr/>
          <p:nvPr>
            <p:ph idx="139" type="body" hasCustomPrompt="1"/>
          </p:nvPr>
        </p:nvSpPr>
        <p:spPr>
          <a:xfrm>
            <a:off x="5120640" y="8503920"/>
            <a:ext cx="2011680" cy="164592"/>
          </a:xfrm>
          <a:prstGeom prst="rect">
            <a:avLst/>
          </a:prstGeom>
          <a:noFill/>
          <a:ln/>
        </p:spPr>
        <p:txBody>
          <a:bodyPr wrap="square" lIns="0" tIns="0" rIns="0" bIns="0" rtlCol="0" anchor="ctr"/>
          <a:lstStyle/>
          <a:p>
            <a:pPr algn="l" indent="0" marL="0">
              <a:buNone/>
            </a:pPr>
            <a:r>
              <a:rPr lang="en-US" sz="950" dirty="0">
                <a:solidFill>
                  <a:srgbClr val="EFAB00"/>
                </a:solidFill>
                <a:latin typeface="Source Code Pro" pitchFamily="34" charset="0"/>
                <a:ea typeface="Source Code Pro" pitchFamily="34" charset="-122"/>
                <a:cs typeface="Source Code Pro" pitchFamily="34" charset="-120"/>
              </a:rPr>
              <a:t>[name]@kent.edu</a:t>
            </a:r>
            <a:endParaRPr lang="en-US" sz="950" dirty="0"/>
          </a:p>
        </p:txBody>
      </p:sp>
      <p:sp>
        <p:nvSpPr>
          <p:cNvPr id="19" name="Text 21"/>
          <p:cNvSpPr/>
          <p:nvPr>
            <p:ph idx="140" type="body" hasCustomPrompt="1"/>
          </p:nvPr>
        </p:nvSpPr>
        <p:spPr>
          <a:xfrm>
            <a:off x="5120640" y="8668512"/>
            <a:ext cx="2011680" cy="164592"/>
          </a:xfrm>
          <a:prstGeom prst="rect">
            <a:avLst/>
          </a:prstGeom>
          <a:noFill/>
          <a:ln/>
        </p:spPr>
        <p:txBody>
          <a:bodyPr wrap="square" lIns="0" tIns="0" rIns="0" bIns="0" rtlCol="0" anchor="ctr"/>
          <a:lstStyle/>
          <a:p>
            <a:pPr algn="l" indent="0" marL="0">
              <a:buNone/>
            </a:pPr>
            <a:r>
              <a:rPr lang="en-US" sz="1000" dirty="0">
                <a:solidFill>
                  <a:srgbClr val="FFFFFF"/>
                </a:solidFill>
                <a:latin typeface="Source Sans 3" pitchFamily="34" charset="0"/>
                <a:ea typeface="Source Sans 3" pitchFamily="34" charset="-122"/>
                <a:cs typeface="Source Sans 3" pitchFamily="34" charset="-120"/>
              </a:rPr>
              <a:t>330-672-[xxxx]</a:t>
            </a:r>
            <a:endParaRPr lang="en-US" sz="1000" dirty="0"/>
          </a:p>
        </p:txBody>
      </p:sp>
      <p:sp>
        <p:nvSpPr>
          <p:cNvPr id="20" name="Text 21"/>
          <p:cNvSpPr/>
          <p:nvPr>
            <p:ph idx="141" type="body" hasCustomPrompt="1"/>
          </p:nvPr>
        </p:nvSpPr>
        <p:spPr>
          <a:xfrm>
            <a:off x="5120640" y="8833104"/>
            <a:ext cx="2011680" cy="164592"/>
          </a:xfrm>
          <a:prstGeom prst="rect">
            <a:avLst/>
          </a:prstGeom>
          <a:noFill/>
          <a:ln/>
        </p:spPr>
        <p:txBody>
          <a:bodyPr wrap="square" lIns="0" tIns="0" rIns="0" bIns="0" rtlCol="0" anchor="ctr"/>
          <a:lstStyle/>
          <a:p>
            <a:pPr algn="l" indent="0" marL="0">
              <a:buNone/>
            </a:pPr>
            <a:r>
              <a:rPr lang="en-US" sz="950" dirty="0">
                <a:solidFill>
                  <a:srgbClr val="EFAB00"/>
                </a:solidFill>
                <a:latin typeface="Source Code Pro" pitchFamily="34" charset="0"/>
                <a:ea typeface="Source Code Pro" pitchFamily="34" charset="-122"/>
                <a:cs typeface="Source Code Pro" pitchFamily="34" charset="-120"/>
              </a:rPr>
              <a:t>atr.cs.kent.edu</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p:nvPr>
            <p:ph idx="107" type="body" hasCustomPrompt="1"/>
          </p:nvPr>
        </p:nvSpPr>
        <p:spPr>
          <a:xfrm>
            <a:off x="1207008" y="420624"/>
            <a:ext cx="4937760" cy="209550"/>
          </a:xfrm>
          <a:prstGeom prst="rect">
            <a:avLst/>
          </a:prstGeom>
          <a:noFill/>
          <a:ln/>
        </p:spPr>
        <p:txBody>
          <a:bodyPr wrap="square" lIns="0" tIns="0" rIns="0" bIns="0" rtlCol="0" anchor="ctr"/>
          <a:lstStyle/>
          <a:p>
            <a:pPr algn="l" indent="0" marL="0">
              <a:buNone/>
            </a:pPr>
            <a:r>
              <a:rPr lang="en-US" sz="1100" b="1" spc="198" kern="0" dirty="0">
                <a:solidFill>
                  <a:srgbClr val="8A6100"/>
                </a:solidFill>
                <a:latin typeface="Source Sans 3" pitchFamily="34" charset="0"/>
                <a:ea typeface="Source Sans 3" pitchFamily="34" charset="-122"/>
                <a:cs typeface="Source Sans 3" pitchFamily="34" charset="-120"/>
              </a:rPr>
              <a:t>PROJECT ONE-PAGER  ·  BACK</a:t>
            </a:r>
            <a:endParaRPr lang="en-US" sz="1100" dirty="0"/>
          </a:p>
        </p:txBody>
      </p:sp>
      <p:sp>
        <p:nvSpPr>
          <p:cNvPr id="3" name="Text 5"/>
          <p:cNvSpPr/>
          <p:nvPr>
            <p:ph idx="108" type="title" hasCustomPrompt="1"/>
          </p:nvPr>
        </p:nvSpPr>
        <p:spPr>
          <a:xfrm>
            <a:off x="1207008" y="676656"/>
            <a:ext cx="5943600" cy="457200"/>
          </a:xfrm>
          <a:prstGeom prst="rect">
            <a:avLst/>
          </a:prstGeom>
          <a:noFill/>
          <a:ln/>
        </p:spPr>
        <p:txBody>
          <a:bodyPr wrap="square" lIns="0" tIns="0" rIns="0" bIns="0" rtlCol="0" anchor="t">
            <a:normAutofit/>
          </a:bodyPr>
          <a:lstStyle/>
          <a:p>
            <a:pPr algn="l" indent="0" marL="0">
              <a:buNone/>
            </a:pPr>
            <a:r>
              <a:rPr lang="en-US" sz="2600" b="1" dirty="0">
                <a:solidFill>
                  <a:srgbClr val="003976"/>
                </a:solidFill>
                <a:latin typeface="Source Sans 3" pitchFamily="34" charset="0"/>
                <a:ea typeface="Source Sans 3" pitchFamily="34" charset="-122"/>
                <a:cs typeface="Source Sans 3" pitchFamily="34" charset="-120"/>
              </a:rPr>
              <a:t>About the lab, funding and contact</a:t>
            </a:r>
            <a:endParaRPr lang="en-US" sz="2600" dirty="0"/>
          </a:p>
        </p:txBody>
      </p:sp>
      <p:sp>
        <p:nvSpPr>
          <p:cNvPr id="4" name="Text 6"/>
          <p:cNvSpPr/>
          <p:nvPr>
            <p:ph idx="110" type="body" hasCustomPrompt="1"/>
          </p:nvPr>
        </p:nvSpPr>
        <p:spPr>
          <a:xfrm>
            <a:off x="457200" y="1737360"/>
            <a:ext cx="6858000" cy="1234440"/>
          </a:xfrm>
          <a:prstGeom prst="rect">
            <a:avLst/>
          </a:prstGeom>
          <a:noFill/>
          <a:ln/>
        </p:spPr>
        <p:txBody>
          <a:bodyPr wrap="square" lIns="0" tIns="0" rIns="0" bIns="0" rtlCol="0" anchor="t">
            <a:normAutofit/>
          </a:bodyPr>
          <a:lstStyle/>
          <a:p>
            <a:pPr algn="l" indent="0" marL="0">
              <a:lnSpc>
                <a:spcPts val="1500"/>
              </a:lnSpc>
              <a:buNone/>
            </a:pPr>
            <a:r>
              <a:rPr lang="en-US" sz="1100" dirty="0">
                <a:solidFill>
                  <a:srgbClr val="1B2533"/>
                </a:solidFill>
                <a:latin typeface="Source Sans 3" pitchFamily="34" charset="0"/>
                <a:ea typeface="Source Sans 3" pitchFamily="34" charset="-122"/>
                <a:cs typeface="Source Sans 3" pitchFamily="34" charset="-120"/>
              </a:rPr>
              <a:t>The Advanced Telerobotics Research Lab in the Department of Computer Science at Kent State University is an innovation research laboratory focused on exploring the frontiers of telepresence robotics, tele-embodiment, autonomy and artificial intelligence. The lab competed in the World Robot Summit (Tokyo, 2018; 2021 finalist and the only U.S. team, with a Distinguished Paper Award) and in NASA SUITS (a top-10 onsite team in 2020). It runs undergraduate and graduate research, a summer internship for high school students and a summer workshop for middle school students.</a:t>
            </a:r>
            <a:endParaRPr lang="en-US" sz="1100" dirty="0"/>
          </a:p>
        </p:txBody>
      </p:sp>
      <p:sp>
        <p:nvSpPr>
          <p:cNvPr id="5" name="Text 7"/>
          <p:cNvSpPr/>
          <p:nvPr>
            <p:ph idx="112" type="body" hasCustomPrompt="1"/>
          </p:nvPr>
        </p:nvSpPr>
        <p:spPr>
          <a:xfrm>
            <a:off x="457200" y="3474720"/>
            <a:ext cx="5257800" cy="1600200"/>
          </a:xfrm>
          <a:prstGeom prst="rect">
            <a:avLst/>
          </a:prstGeom>
          <a:noFill/>
          <a:ln/>
        </p:spPr>
        <p:txBody>
          <a:bodyPr wrap="square" lIns="0" tIns="0" rIns="0" bIns="0" rtlCol="0" anchor="t">
            <a:normAutofit/>
          </a:bodyPr>
          <a:lstStyle/>
          <a:p>
            <a:pPr algn="l" indent="0" marL="0">
              <a:lnSpc>
                <a:spcPts val="1350"/>
              </a:lnSpc>
              <a:buNone/>
            </a:pPr>
            <a:r>
              <a:rPr lang="en-US" sz="1000" dirty="0">
                <a:solidFill>
                  <a:srgbClr val="1B2533"/>
                </a:solidFill>
                <a:latin typeface="Source Sans 3" pitchFamily="34" charset="0"/>
                <a:ea typeface="Source Sans 3" pitchFamily="34" charset="-122"/>
                <a:cs typeface="Source Sans 3" pitchFamily="34" charset="-120"/>
              </a:rPr>
              <a:t>This material is based upon work supported by the U.S. National Science Foundation under award No. [NSF award number]. Any opinions, findings and conclusions or recommendations expressed in this material are those of the author(s) and do not necessarily reflect the views of the U.S. National Science Foundation.</a:t>
            </a:r>
            <a:endParaRPr lang="en-US" sz="1000" dirty="0"/>
          </a:p>
          <a:p>
            <a:pPr algn="l" indent="0" marL="0">
              <a:lnSpc>
                <a:spcPts val="1350"/>
              </a:lnSpc>
              <a:buNone/>
            </a:pPr>
            <a:r>
              <a:rPr lang="en-US" sz="1000" dirty="0">
                <a:solidFill>
                  <a:srgbClr val="1B2533"/>
                </a:solidFill>
                <a:latin typeface="Source Sans 3" pitchFamily="34" charset="0"/>
                <a:ea typeface="Source Sans 3" pitchFamily="34" charset="-122"/>
                <a:cs typeface="Source Sans 3" pitchFamily="34" charset="-120"/>
              </a:rPr>
              <a:t>[Or the sponsor's exact acknowledgement sentence, e.g. NASA: "This work was supported by the National Aeronautics and Space Administration under Grant/Contract/Agreement No. [xxxx] and was part of the NASA [program name] program."]</a:t>
            </a:r>
            <a:endParaRPr lang="en-US" sz="1000" dirty="0"/>
          </a:p>
        </p:txBody>
      </p:sp>
      <p:sp>
        <p:nvSpPr>
          <p:cNvPr id="6" name="Text 8"/>
          <p:cNvSpPr/>
          <p:nvPr>
            <p:ph idx="114" type="body" hasCustomPrompt="1"/>
          </p:nvPr>
        </p:nvSpPr>
        <p:spPr>
          <a:xfrm>
            <a:off x="6108192" y="3547872"/>
            <a:ext cx="1133856" cy="1133856"/>
          </a:xfrm>
          <a:prstGeom prst="rect">
            <a:avLst/>
          </a:prstGeom>
          <a:noFill/>
          <a:ln/>
        </p:spPr>
        <p:txBody>
          <a:bodyPr wrap="square" lIns="0" tIns="0" rIns="0" bIns="0" rtlCol="0" anchor="ctr"/>
          <a:lstStyle/>
          <a:p>
            <a:pPr algn="ctr" indent="0" marL="0">
              <a:lnSpc>
                <a:spcPts val="1000"/>
              </a:lnSpc>
              <a:buNone/>
            </a:pPr>
            <a:r>
              <a:rPr lang="en-US" sz="800" dirty="0">
                <a:solidFill>
                  <a:srgbClr val="4A5868"/>
                </a:solidFill>
                <a:latin typeface="Source Sans 3" pitchFamily="34" charset="0"/>
                <a:ea typeface="Source Sans 3" pitchFamily="34" charset="-122"/>
                <a:cs typeface="Source Sans 3" pitchFamily="34" charset="-120"/>
              </a:rPr>
              <a:t>[NSF full-color logo, at least 0.625 in, only when NSF-funded; delete otherwise]</a:t>
            </a:r>
            <a:endParaRPr lang="en-US" sz="800" dirty="0"/>
          </a:p>
        </p:txBody>
      </p:sp>
      <p:sp>
        <p:nvSpPr>
          <p:cNvPr id="7" name="Text 9"/>
          <p:cNvSpPr/>
          <p:nvPr>
            <p:ph idx="116" type="body" hasCustomPrompt="1"/>
          </p:nvPr>
        </p:nvSpPr>
        <p:spPr>
          <a:xfrm>
            <a:off x="457200" y="5532120"/>
            <a:ext cx="6858000" cy="685800"/>
          </a:xfrm>
          <a:prstGeom prst="rect">
            <a:avLst/>
          </a:prstGeom>
          <a:noFill/>
          <a:ln/>
        </p:spPr>
        <p:txBody>
          <a:bodyPr wrap="square" lIns="0" tIns="0" rIns="0" bIns="0" rtlCol="0" anchor="t">
            <a:normAutofit/>
          </a:bodyPr>
          <a:lstStyle/>
          <a:p>
            <a:pPr algn="l" indent="0" marL="0">
              <a:lnSpc>
                <a:spcPts val="1200"/>
              </a:lnSpc>
              <a:buNone/>
            </a:pPr>
            <a:r>
              <a:rPr lang="en-US" sz="900" dirty="0">
                <a:solidFill>
                  <a:srgbClr val="1B2533"/>
                </a:solidFill>
                <a:latin typeface="Source Sans 3" pitchFamily="34" charset="0"/>
                <a:ea typeface="Source Sans 3" pitchFamily="34" charset="-122"/>
                <a:cs typeface="Source Sans 3" pitchFamily="34" charset="-120"/>
              </a:rPr>
              <a:t>[1] [Author], [Author] and [Author], "[Title]," in [Venue], [Year], pp. [x-y], doi:[10.xxxx/xxxxx].</a:t>
            </a:r>
            <a:endParaRPr lang="en-US" sz="900" dirty="0"/>
          </a:p>
          <a:p>
            <a:pPr algn="l" indent="0" marL="0">
              <a:lnSpc>
                <a:spcPts val="1200"/>
              </a:lnSpc>
              <a:buNone/>
            </a:pPr>
            <a:r>
              <a:rPr lang="en-US" sz="900" dirty="0">
                <a:solidFill>
                  <a:srgbClr val="1B2533"/>
                </a:solidFill>
                <a:latin typeface="Source Sans 3" pitchFamily="34" charset="0"/>
                <a:ea typeface="Source Sans 3" pitchFamily="34" charset="-122"/>
                <a:cs typeface="Source Sans 3" pitchFamily="34" charset="-120"/>
              </a:rPr>
              <a:t>[2] [Author] et al., "[Title]," [Journal], vol. [v], no. [n], [Year].</a:t>
            </a:r>
            <a:endParaRPr lang="en-US" sz="900" dirty="0"/>
          </a:p>
        </p:txBody>
      </p:sp>
      <p:sp>
        <p:nvSpPr>
          <p:cNvPr id="8" name="Text 11"/>
          <p:cNvSpPr/>
          <p:nvPr>
            <p:ph idx="119" type="body" hasCustomPrompt="1"/>
          </p:nvPr>
        </p:nvSpPr>
        <p:spPr>
          <a:xfrm>
            <a:off x="1371600" y="6675120"/>
            <a:ext cx="4480560" cy="237744"/>
          </a:xfrm>
          <a:prstGeom prst="rect">
            <a:avLst/>
          </a:prstGeom>
          <a:noFill/>
          <a:ln/>
        </p:spPr>
        <p:txBody>
          <a:bodyPr wrap="square" lIns="0" tIns="0" rIns="0" bIns="0" rtlCol="0" anchor="ctr"/>
          <a:lstStyle/>
          <a:p>
            <a:pPr algn="l" indent="0" marL="0">
              <a:lnSpc>
                <a:spcPts val="1400"/>
              </a:lnSpc>
              <a:buNone/>
            </a:pPr>
            <a:r>
              <a:rPr lang="en-US" sz="1050" dirty="0">
                <a:solidFill>
                  <a:srgbClr val="1B2533"/>
                </a:solidFill>
                <a:latin typeface="Source Sans 3" pitchFamily="34" charset="0"/>
                <a:ea typeface="Source Sans 3" pitchFamily="34" charset="-122"/>
                <a:cs typeface="Source Sans 3" pitchFamily="34" charset="-120"/>
              </a:rPr>
              <a:t>www.atr.cs.kent.edu</a:t>
            </a:r>
            <a:endParaRPr lang="en-US" sz="1050" dirty="0"/>
          </a:p>
        </p:txBody>
      </p:sp>
      <p:sp>
        <p:nvSpPr>
          <p:cNvPr id="9" name="Text 12"/>
          <p:cNvSpPr/>
          <p:nvPr>
            <p:ph idx="121" type="body" hasCustomPrompt="1"/>
          </p:nvPr>
        </p:nvSpPr>
        <p:spPr>
          <a:xfrm>
            <a:off x="1371600" y="6949440"/>
            <a:ext cx="4480560" cy="237744"/>
          </a:xfrm>
          <a:prstGeom prst="rect">
            <a:avLst/>
          </a:prstGeom>
          <a:noFill/>
          <a:ln/>
        </p:spPr>
        <p:txBody>
          <a:bodyPr wrap="square" lIns="0" tIns="0" rIns="0" bIns="0" rtlCol="0" anchor="ctr"/>
          <a:lstStyle/>
          <a:p>
            <a:pPr algn="l" indent="0" marL="0">
              <a:lnSpc>
                <a:spcPts val="1400"/>
              </a:lnSpc>
              <a:buNone/>
            </a:pPr>
            <a:r>
              <a:rPr lang="en-US" sz="1050" dirty="0">
                <a:solidFill>
                  <a:srgbClr val="1B2533"/>
                </a:solidFill>
                <a:latin typeface="Source Sans 3" pitchFamily="34" charset="0"/>
                <a:ea typeface="Source Sans 3" pitchFamily="34" charset="-122"/>
                <a:cs typeface="Source Sans 3" pitchFamily="34" charset="-120"/>
              </a:rPr>
              <a:t>[name]@kent.edu  ·  atrlab.kent@gmail.com</a:t>
            </a:r>
            <a:endParaRPr lang="en-US" sz="1050" dirty="0"/>
          </a:p>
        </p:txBody>
      </p:sp>
      <p:sp>
        <p:nvSpPr>
          <p:cNvPr id="10" name="Text 13"/>
          <p:cNvSpPr/>
          <p:nvPr>
            <p:ph idx="123" type="body" hasCustomPrompt="1"/>
          </p:nvPr>
        </p:nvSpPr>
        <p:spPr>
          <a:xfrm>
            <a:off x="1371600" y="7223760"/>
            <a:ext cx="4480560" cy="237744"/>
          </a:xfrm>
          <a:prstGeom prst="rect">
            <a:avLst/>
          </a:prstGeom>
          <a:noFill/>
          <a:ln/>
        </p:spPr>
        <p:txBody>
          <a:bodyPr wrap="square" lIns="0" tIns="0" rIns="0" bIns="0" rtlCol="0" anchor="ctr"/>
          <a:lstStyle/>
          <a:p>
            <a:pPr algn="l" indent="0" marL="0">
              <a:lnSpc>
                <a:spcPts val="1400"/>
              </a:lnSpc>
              <a:buNone/>
            </a:pPr>
            <a:r>
              <a:rPr lang="en-US" sz="1050" dirty="0">
                <a:solidFill>
                  <a:srgbClr val="1B2533"/>
                </a:solidFill>
                <a:latin typeface="Source Sans 3" pitchFamily="34" charset="0"/>
                <a:ea typeface="Source Sans 3" pitchFamily="34" charset="-122"/>
                <a:cs typeface="Source Sans 3" pitchFamily="34" charset="-120"/>
              </a:rPr>
              <a:t>@atrlab_kent</a:t>
            </a:r>
            <a:endParaRPr lang="en-US" sz="1050" dirty="0"/>
          </a:p>
        </p:txBody>
      </p:sp>
      <p:sp>
        <p:nvSpPr>
          <p:cNvPr id="11" name="Text 14"/>
          <p:cNvSpPr/>
          <p:nvPr>
            <p:ph idx="125" type="body" hasCustomPrompt="1"/>
          </p:nvPr>
        </p:nvSpPr>
        <p:spPr>
          <a:xfrm>
            <a:off x="1371600" y="7498080"/>
            <a:ext cx="4480560" cy="237744"/>
          </a:xfrm>
          <a:prstGeom prst="rect">
            <a:avLst/>
          </a:prstGeom>
          <a:noFill/>
          <a:ln/>
        </p:spPr>
        <p:txBody>
          <a:bodyPr wrap="square" lIns="0" tIns="0" rIns="0" bIns="0" rtlCol="0" anchor="ctr"/>
          <a:lstStyle/>
          <a:p>
            <a:pPr algn="l" indent="0" marL="0">
              <a:lnSpc>
                <a:spcPts val="1400"/>
              </a:lnSpc>
              <a:buNone/>
            </a:pPr>
            <a:r>
              <a:rPr lang="en-US" sz="1050" dirty="0">
                <a:solidFill>
                  <a:srgbClr val="1B2533"/>
                </a:solidFill>
                <a:latin typeface="Source Sans 3" pitchFamily="34" charset="0"/>
                <a:ea typeface="Source Sans 3" pitchFamily="34" charset="-122"/>
                <a:cs typeface="Source Sans 3" pitchFamily="34" charset="-120"/>
              </a:rPr>
              <a:t>github.com/ATR-Lab</a:t>
            </a:r>
            <a:endParaRPr lang="en-US" sz="1050" dirty="0"/>
          </a:p>
        </p:txBody>
      </p:sp>
      <p:sp>
        <p:nvSpPr>
          <p:cNvPr id="12" name="Text 15"/>
          <p:cNvSpPr/>
          <p:nvPr>
            <p:ph idx="127" type="body" hasCustomPrompt="1"/>
          </p:nvPr>
        </p:nvSpPr>
        <p:spPr>
          <a:xfrm>
            <a:off x="1371600" y="7772400"/>
            <a:ext cx="4480560" cy="548640"/>
          </a:xfrm>
          <a:prstGeom prst="rect">
            <a:avLst/>
          </a:prstGeom>
          <a:noFill/>
          <a:ln/>
        </p:spPr>
        <p:txBody>
          <a:bodyPr wrap="square" lIns="0" tIns="0" rIns="0" bIns="0" rtlCol="0" anchor="t"/>
          <a:lstStyle/>
          <a:p>
            <a:pPr algn="l" indent="0" marL="0">
              <a:lnSpc>
                <a:spcPts val="1400"/>
              </a:lnSpc>
              <a:buNone/>
            </a:pPr>
            <a:r>
              <a:rPr lang="en-US" sz="1050" dirty="0">
                <a:solidFill>
                  <a:srgbClr val="1B2533"/>
                </a:solidFill>
                <a:latin typeface="Source Sans 3" pitchFamily="34" charset="0"/>
                <a:ea typeface="Source Sans 3" pitchFamily="34" charset="-122"/>
                <a:cs typeface="Source Sans 3" pitchFamily="34" charset="-120"/>
              </a:rPr>
              <a:t>Department of Computer Science, 241 Mathematical Sciences Building, 1300 Lefton Esplanade, Kent, OH 44242-0001  ·  Department office 330-672-9980</a:t>
            </a:r>
            <a:endParaRPr lang="en-US" sz="1050" dirty="0"/>
          </a:p>
        </p:txBody>
      </p:sp>
    </p:spTree>
  </p:cSld>
  <p:clrMapOvr>
    <a:masterClrMapping/>
  </p:clrMapOvr>
</p:sld>
</file>

<file path=ppt/theme/theme1.xml><?xml version="1.0" encoding="utf-8"?>
<a:theme xmlns:a="http://schemas.openxmlformats.org/drawingml/2006/main" xmlns:r="http://schemas.openxmlformats.org/officeDocument/2006/relationships" name="ATR Lab">
  <a:themeElements>
    <a:clrScheme name="ATR Lab">
      <a:dk1>
        <a:srgbClr val="1B2533"/>
      </a:dk1>
      <a:lt1>
        <a:srgbClr val="FFFFFF"/>
      </a:lt1>
      <a:dk2>
        <a:srgbClr val="003976"/>
      </a:dk2>
      <a:lt2>
        <a:srgbClr val="F3F6FA"/>
      </a:lt2>
      <a:accent1>
        <a:srgbClr val="003976"/>
      </a:accent1>
      <a:accent2>
        <a:srgbClr val="EFAB00"/>
      </a:accent2>
      <a:accent3>
        <a:srgbClr val="2C8ECD"/>
      </a:accent3>
      <a:accent4>
        <a:srgbClr val="B63B35"/>
      </a:accent4>
      <a:accent5>
        <a:srgbClr val="059583"/>
      </a:accent5>
      <a:accent6>
        <a:srgbClr val="DC7533"/>
      </a:accent6>
      <a:hlink>
        <a:srgbClr val="1D65B9"/>
      </a:hlink>
      <a:folHlink>
        <a:srgbClr val="663E9E"/>
      </a:folHlink>
    </a:clrScheme>
    <a:fontScheme name="ATR Lab">
      <a:majorFont>
        <a:latin typeface="Source Sans 3" panose="020B0503030403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B0503030403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R Lab">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TR Navy">
      <a:srgbClr val="003976"/>
    </a:custClr>
    <a:custClr name="ATR Gold">
      <a:srgbClr val="EFAB00"/>
    </a:custClr>
    <a:custClr name="Midnight">
      <a:srgbClr val="00295F"/>
    </a:custClr>
    <a:custClr name="Sky">
      <a:srgbClr val="2C8ECD"/>
    </a:custClr>
    <a:custClr name="Ink">
      <a:srgbClr val="1B2533"/>
    </a:custClr>
    <a:custClr name="Slate">
      <a:srgbClr val="4A5868"/>
    </a:custClr>
    <a:custClr name="Bronze">
      <a:srgbClr val="8A6100"/>
    </a:custClr>
    <a:custClr name="Mist">
      <a:srgbClr val="F3F6FA"/>
    </a:custClr>
    <a:custClr name="Line">
      <a:srgbClr val="D6DEE8"/>
    </a:custClr>
    <a:custClr name="Flash">
      <a:srgbClr val="FFD702"/>
    </a:custClr>
  </a:custClr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Kent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ATR Lab project one-pager template (Letter)</dc:title>
  <dc:subject>Project and sponsor one-pager, Advanced Telerobotics Research Lab, Kent State University</dc:subject>
  <dc:creator>Advanced Telerobotics Research Lab, Kent State University</dc:creator>
  <cp:lastModifiedBy>Advanced Telerobotics Research Lab, Kent State University</cp:lastModifiedBy>
  <cp:revision>1</cp:revision>
  <dcterms:created xsi:type="dcterms:W3CDTF">2026-09-29T05:19:29Z</dcterms:created>
  <dcterms:modified xsi:type="dcterms:W3CDTF">2026-09-29T05:19:29Z</dcterms:modified>
</cp:coreProperties>
</file>