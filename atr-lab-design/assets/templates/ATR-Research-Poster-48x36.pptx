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ATR Lab research poster, 48 x 36 in landscape (Kent State symposium size). ICRA landscape A0 is 46.8 x 33.1 in: print this file at 92 percent (the smaller of 46.8/48 and 33.1/36), scaled uniformly, and check both dimensions in the print dialog. Everything is real text, native shapes and placeholders; nothing here needs a design tool.
HOW TO USE. 1) Click each placeholder and type; the design (font, size, color, spacing, bullets) is on the layout, so typed text inherits it. Replace every [bracketed] item and delete what you do not need (second affiliation, sponsor slot, QR label). Reading order: header, then columns left to right, then footer. Use Home &gt; Reset to snap a moved placeholder back to the layout. The navy header, hazard band, lattice cluster, logos and footer rule live on the slide layout: View &gt; Slide Master to change the header height or remove the cluster; never place text over the band.
2) Type scale at 100 percent print size: title 96 pt Source Sans 3 Bold (two lines in this layout), authors 48, affiliations 32, section heads 60 on the 1.2 in station plates, lead statement 32 bold navy, body 32 ink, captions, references and acknowledgments 24 (the floor). Line spacing is exact points (96/104, 80/88, 48/54, 32/40, 24/30), so every box is lines x spacing. CHARACTER BUDGETS (with the Arial fallback; Source Sans 3 holds a little more): eyebrow 65; title 72 on two lines; authors 75 on one line (about four names); each affiliation 115; lead 150; context paragraph 260; each bullet 85 (two lines; one bullet per block may run to three); each finding 150; key-result label 105; each caption 95; each reference 115; thanks 60 before the sponsor sentences. A title of three lines or an author list of two lines: use the LONG TITLE slide (title 80 pt, 125 characters; authors 145 characters; three affiliation lines) instead of squeezing this one. The eyebrow shrinks automatically if a venue name is long; use the short name.
OVERFLOW RULE. Every box holds one spare line beyond its budget, and every placeholder is set to shrink text on overflow, so PowerPoint and Google Slides reduce the size instead of running one block into the next. Treat a shrink as a warning: first cut words, then set that block to 28 pt yourself (still above the 24 pt floor), then move a figure panel edge. Never let text run under the next station plate or under a figure panel, and never go below 24 pt (if a block has shrunk that far, shorten it). Dates in AP style: Sept. 23, 2026.
FIGURES. The mist panels are frames: drop in a plot exported with tokens/atr_plot.py (300 dpi at the printed size; 150 dpi minimum) or a photo of at least 150 dpi at the printed size, fill the panel edge to edge, no borders, shadows or rounded corners, legend and units on the plot, then delete the panel (each panel and its icon are one group, so one click selects both). Captions keep the mono figure number, FIG. NN //, and the SOURCE // line names the study and n. AI-generated images are never presented as real hardware, experiments or results: caption them "Concept illustration, not lab hardware". The KEY RESULT callout is one shape with four paragraphs: replace [38%] and its label (four lines at most) and delete the EXAMPLE FIGURE // REPLACE flag once the number is real.
COLOR. Navy is the frame, gold is a fill only (band, lattice, plate numerals, the one key-result numeral). Never gold text on white; bronze carries the small gold-family labels (REFERENCES, ACKNOWLEDGMENTS). Body text is ink, captions slate. One key-result callout per poster.
LOGOS. The ATR horizontal-short lockup and the Kent State academic wordmark are two separate signatures at equal height (2.66 in here); keep the clear space (0.88 in around the ATR lockup, the height of the K, 0.80 in, around the wordmark) and never restyle, recolor or stretch either. Kent State symposium rules require the university logo. For large-format print, replace the raster wordmark with the official vector file from kent.edu/brand/logos. Athletic marks are never used on lab material.
SPONSOR. NSF-funded work must carry the NSF full-color logo (at least 0.625 in, clear space one eighth of its width, furthest left of any funder logos) together with the award number and the disclaimer sentence already in the acknowledgments block; request NSF brand clearance before printing an exhibit piece. If the work is not NSF-funded, delete the sponsor slot and the two NSF sentences and name the sponsor as its terms require. NASA and DoD marks only with written approval.
QR. The code links to the lab website, https://www.atr.cs.kent.edu/, and its label SCAN FOR [THE PAPER] is a placeholder; the two are one group. Replace the code with one to the paper, code or video (navy on white, keep the white quiet zone, test it with a phone at print size) and fix the label in the same edit, or delete the group.
CONTACT LINE. Verified lab handles only: www.atr.cs.kent.edu (the address must include www; the bare host does not answer), atrlab.kent@gmail.com, github.com/ATR-Lab, @atrlab_kent on X. The handle printed in the old template footer does not exist; do not reuse it. Department mailing address if needed: 241 Mathematical Sciences Building, 1300 Lefton Esplanade, Kent, OH 44242-0001.
ACCESSIBILITY. Every picture keeps its alt text (Format Picture &gt; Alt Text); the band, lattice and header field are marked decorative and are skipped by screen readers; the poster title is a real title placeholder. Keep text at 24 pt or larger, left aligned, sentence case, and never rely on color alone. The online PDF must stay a real-text PDF (no flattened image) so it can pass WCAG 2.1 AA.
PRINT. File &gt; Export &gt; PDF at 100 percent (or File &gt; Save As &gt; PDF). Convert to CMYK only if the printer asks (navy C100 M72 Y0 K38, gold C7 M35 Y100 K0). Margins are 1.5 in and the band bleeds only to the trim; add a 0.125 in bleed only when the printer requests it. Kent State print jobs go to a contracted vendor or the IRC (max 36 in wide). Install the fonts from assets/fonts before editing, and embed them (File &gt; Options &gt; Save &gt; Embed fonts) or export a PDF before sending the file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TITLE AND AUTHOR LIST. Same poster with a header for a three-line title at 80 pt (about 125 characters), two author lines (about 145 characters, up to eight names) and three affiliation lines. The body is identical to the standard slide. Use it when the standard header does not hold your title or author list; delete the slide you do not use.
ATR Lab research poster, 48 x 36 in landscape (Kent State symposium size). ICRA landscape A0 is 46.8 x 33.1 in: print this file at 92 percent (the smaller of 46.8/48 and 33.1/36), scaled uniformly, and check both dimensions in the print dialog. Everything is real text, native shapes and placeholders; nothing here needs a design tool.
HOW TO USE. 1) Click each placeholder and type; the design (font, size, color, spacing, bullets) is on the layout, so typed text inherits it. Replace every [bracketed] item and delete what you do not need (second affiliation, sponsor slot, QR label). Reading order: header, then columns left to right, then footer. Use Home &gt; Reset to snap a moved placeholder back to the layout. The navy header, hazard band, lattice cluster, logos and footer rule live on the slide layout: View &gt; Slide Master to change the header height or remove the cluster; never place text over the band.
2) Type scale at 100 percent print size: title 96 pt Source Sans 3 Bold (two lines in this layout), authors 48, affiliations 32, section heads 60 on the 1.2 in station plates, lead statement 32 bold navy, body 32 ink, captions, references and acknowledgments 24 (the floor). Line spacing is exact points (96/104, 80/88, 48/54, 32/40, 24/30), so every box is lines x spacing. CHARACTER BUDGETS (with the Arial fallback; Source Sans 3 holds a little more): eyebrow 65; title 72 on two lines; authors 75 on one line (about four names); each affiliation 115; lead 150; context paragraph 260; each bullet 85 (two lines; one bullet per block may run to three); each finding 150; key-result label 105; each caption 95; each reference 115; thanks 60 before the sponsor sentences. A title of three lines or an author list of two lines: use the LONG TITLE slide (title 80 pt, 125 characters; authors 145 characters; three affiliation lines) instead of squeezing this one. The eyebrow shrinks automatically if a venue name is long; use the short name.
OVERFLOW RULE. Every box holds one spare line beyond its budget, and every placeholder is set to shrink text on overflow, so PowerPoint and Google Slides reduce the size instead of running one block into the next. Treat a shrink as a warning: first cut words, then set that block to 28 pt yourself (still above the 24 pt floor), then move a figure panel edge. Never let text run under the next station plate or under a figure panel, and never go below 24 pt (if a block has shrunk that far, shorten it). Dates in AP style: Sept. 23, 2026.
FIGURES. The mist panels are frames: drop in a plot exported with tokens/atr_plot.py (300 dpi at the printed size; 150 dpi minimum) or a photo of at least 150 dpi at the printed size, fill the panel edge to edge, no borders, shadows or rounded corners, legend and units on the plot, then delete the panel (each panel and its icon are one group, so one click selects both). Captions keep the mono figure number, FIG. NN //, and the SOURCE // line names the study and n. AI-generated images are never presented as real hardware, experiments or results: caption them "Concept illustration, not lab hardware". The KEY RESULT callout is one shape with four paragraphs: replace [38%] and its label (four lines at most) and delete the EXAMPLE FIGURE // REPLACE flag once the number is real.
COLOR. Navy is the frame, gold is a fill only (band, lattice, plate numerals, the one key-result numeral). Never gold text on white; bronze carries the small gold-family labels (REFERENCES, ACKNOWLEDGMENTS). Body text is ink, captions slate. One key-result callout per poster.
LOGOS. The ATR horizontal-short lockup and the Kent State academic wordmark are two separate signatures at equal height (2.66 in here); keep the clear space (0.88 in around the ATR lockup, the height of the K, 0.80 in, around the wordmark) and never restyle, recolor or stretch either. Kent State symposium rules require the university logo. For large-format print, replace the raster wordmark with the official vector file from kent.edu/brand/logos. Athletic marks are never used on lab material.
SPONSOR. NSF-funded work must carry the NSF full-color logo (at least 0.625 in, clear space one eighth of its width, furthest left of any funder logos) together with the award number and the disclaimer sentence already in the acknowledgments block; request NSF brand clearance before printing an exhibit piece. If the work is not NSF-funded, delete the sponsor slot and the two NSF sentences and name the sponsor as its terms require. NASA and DoD marks only with written approval.
QR. The code links to the lab website, https://www.atr.cs.kent.edu/, and its label SCAN FOR [THE PAPER] is a placeholder; the two are one group. Replace the code with one to the paper, code or video (navy on white, keep the white quiet zone, test it with a phone at print size) and fix the label in the same edit, or delete the group.
CONTACT LINE. Verified lab handles only: www.atr.cs.kent.edu (the address must include www; the bare host does not answer), atrlab.kent@gmail.com, github.com/ATR-Lab, @atrlab_kent on X. The handle printed in the old template footer does not exist; do not reuse it. Department mailing address if needed: 241 Mathematical Sciences Building, 1300 Lefton Esplanade, Kent, OH 44242-0001.
ACCESSIBILITY. Every picture keeps its alt text (Format Picture &gt; Alt Text); the band, lattice and header field are marked decorative and are skipped by screen readers; the poster title is a real title placeholder. Keep text at 24 pt or larger, left aligned, sentence case, and never rely on color alone. The online PDF must stay a real-text PDF (no flattened image) so it can pass WCAG 2.1 AA.
PRINT. File &gt; Export &gt; PDF at 100 percent (or File &gt; Save As &gt; PDF). Convert to CMYK only if the printer asks (navy C100 M72 Y0 K38, gold C7 M35 Y100 K0). Margins are 1.5 in and the band bleeds only to the trim; add a 0.125 in bleed only when the printer requests it. Kent State print jobs go to a contracted vendor or the IRC (max 36 in wide). Install the fonts from assets/fonts before editing, and embed them (File &gt; Options &gt; Save &gt; Embed fonts) or export a PDF before sending the file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THREAD-COLOR VARIANT. Same poster, with the station plates and the key-result panel filled in a research-thread color and their numerals in white. Use it when the lab shows several posters side by side or when one poster belongs to one thread: the color is a family badge, never the message.
Suggested threads and fills (all existing brand tokens, every pair at least 5.5:1 with white and on white): 1 Telepresence robotics: #003976 (white on it 11.4:1); 2 Tele-embodiment and immersive teleoperation: #B63B35 (white on it 5.7:1); 3 Autonomy and Physical AI: #7D4DAD (white on it 5.9:1); 4 Education and outreach: #8A6100 (white on it 5.5:1). Thread 1 (navy) is the standard poster. This example uses thread 2.
Rules: apply one thread color per poster (or per section on a lab overview poster); keep the numeral, the section title and the thread name as the redundant cues, never color alone; gold text does not sit on a brick, plum or bronze plate, so numerals, the KEY RESULT label and the EXAMPLE flag turn white on those fills; the header, band, lattice and body text do not change. To recolor: select the plate, Shape Format &gt; Shape Fill &gt; More Colors &gt; Hex, then set the numeral to white. Delete this slide if you only need the standard poster.
ATR Lab research poster, 48 x 36 in landscape (Kent State symposium size). ICRA landscape A0 is 46.8 x 33.1 in: print this file at 92 percent (the smaller of 46.8/48 and 33.1/36), scaled uniformly, and check both dimensions in the print dialog. Everything is real text, native shapes and placeholders; nothing here needs a design tool.
HOW TO USE. 1) Click each placeholder and type; the design (font, size, color, spacing, bullets) is on the layout, so typed text inherits it. Replace every [bracketed] item and delete what you do not need (second affiliation, sponsor slot, QR label). Reading order: header, then columns left to right, then footer. Use Home &gt; Reset to snap a moved placeholder back to the layout. The navy header, hazard band, lattice cluster, logos and footer rule live on the slide layout: View &gt; Slide Master to change the header height or remove the cluster; never place text over the band.
2) Type scale at 100 percent print size: title 96 pt Source Sans 3 Bold (two lines in this layout), authors 48, affiliations 32, section heads 60 on the 1.2 in station plates, lead statement 32 bold navy, body 32 ink, captions, references and acknowledgments 24 (the floor). Line spacing is exact points (96/104, 80/88, 48/54, 32/40, 24/30), so every box is lines x spacing. CHARACTER BUDGETS (with the Arial fallback; Source Sans 3 holds a little more): eyebrow 65; title 72 on two lines; authors 75 on one line (about four names); each affiliation 115; lead 150; context paragraph 260; each bullet 85 (two lines; one bullet per block may run to three); each finding 150; key-result label 105; each caption 95; each reference 115; thanks 60 before the sponsor sentences. A title of three lines or an author list of two lines: use the LONG TITLE slide (title 80 pt, 125 characters; authors 145 characters; three affiliation lines) instead of squeezing this one. The eyebrow shrinks automatically if a venue name is long; use the short name.
OVERFLOW RULE. Every box holds one spare line beyond its budget, and every placeholder is set to shrink text on overflow, so PowerPoint and Google Slides reduce the size instead of running one block into the next. Treat a shrink as a warning: first cut words, then set that block to 28 pt yourself (still above the 24 pt floor), then move a figure panel edge. Never let text run under the next station plate or under a figure panel, and never go below 24 pt (if a block has shrunk that far, shorten it). Dates in AP style: Sept. 23, 2026.
FIGURES. The mist panels are frames: drop in a plot exported with tokens/atr_plot.py (300 dpi at the printed size; 150 dpi minimum) or a photo of at least 150 dpi at the printed size, fill the panel edge to edge, no borders, shadows or rounded corners, legend and units on the plot, then delete the panel (each panel and its icon are one group, so one click selects both). Captions keep the mono figure number, FIG. NN //, and the SOURCE // line names the study and n. AI-generated images are never presented as real hardware, experiments or results: caption them "Concept illustration, not lab hardware". The KEY RESULT callout is one shape with four paragraphs: replace [38%] and its label (four lines at most) and delete the EXAMPLE FIGURE // REPLACE flag once the number is real.
COLOR. Navy is the frame, gold is a fill only (band, lattice, plate numerals, the one key-result numeral). Never gold text on white; bronze carries the small gold-family labels (REFERENCES, ACKNOWLEDGMENTS). Body text is ink, captions slate. One key-result callout per poster.
LOGOS. The ATR horizontal-short lockup and the Kent State academic wordmark are two separate signatures at equal height (2.66 in here); keep the clear space (0.88 in around the ATR lockup, the height of the K, 0.80 in, around the wordmark) and never restyle, recolor or stretch either. Kent State symposium rules require the university logo. For large-format print, replace the raster wordmark with the official vector file from kent.edu/brand/logos. Athletic marks are never used on lab material.
SPONSOR. NSF-funded work must carry the NSF full-color logo (at least 0.625 in, clear space one eighth of its width, furthest left of any funder logos) together with the award number and the disclaimer sentence already in the acknowledgments block; request NSF brand clearance before printing an exhibit piece. If the work is not NSF-funded, delete the sponsor slot and the two NSF sentences and name the sponsor as its terms require. NASA and DoD marks only with written approval.
QR. The code links to the lab website, https://www.atr.cs.kent.edu/, and its label SCAN FOR [THE PAPER] is a placeholder; the two are one group. Replace the code with one to the paper, code or video (navy on white, keep the white quiet zone, test it with a phone at print size) and fix the label in the same edit, or delete the group.
CONTACT LINE. Verified lab handles only: www.atr.cs.kent.edu (the address must include www; the bare host does not answer), atrlab.kent@gmail.com, github.com/ATR-Lab, @atrlab_kent on X. The handle printed in the old template footer does not exist; do not reuse it. Department mailing address if needed: 241 Mathematical Sciences Building, 1300 Lefton Esplanade, Kent, OH 44242-0001.
ACCESSIBILITY. Every picture keeps its alt text (Format Picture &gt; Alt Text); the band, lattice and header field are marked decorative and are skipped by screen readers; the poster title is a real title placeholder. Keep text at 24 pt or larger, left aligned, sentence case, and never rely on color alone. The online PDF must stay a real-text PDF (no flattened image) so it can pass WCAG 2.1 AA.
PRINT. File &gt; Export &gt; PDF at 100 percent (or File &gt; Save As &gt; PDF). Convert to CMYK only if the printer asks (navy C100 M72 Y0 K38, gold C7 M35 Y100 K0). Margins are 1.5 in and the band bleeds only to the trim; add a 0.125 in bleed only when the printer requests it. Kent State print jobs go to a contracted vendor or the IRC (max 36 in wide). Install the fonts from assets/fonts before editing, and embed them (File &gt; Options &gt; Save &gt; Embed fonts) or export a PDF before sending the file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image" Target="../media/image-1003-4.png"/><Relationship Id="rId5"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R Poster 48x36">
    <p:bg>
      <p:bgPr>
        <a:solidFill>
          <a:srgbClr val="FFFFFF"/>
        </a:solidFill>
      </p:bgPr>
    </p:bg>
    <p:spTree>
      <p:nvGrpSpPr>
        <p:cNvPr id="1" name=""/>
        <p:cNvGrpSpPr/>
        <p:nvPr/>
      </p:nvGrpSpPr>
      <p:grpSpPr>
        <a:xfrm>
          <a:off x="0" y="0"/>
          <a:ext cx="0" cy="0"/>
          <a:chOff x="0" y="0"/>
          <a:chExt cx="0" cy="0"/>
        </a:xfrm>
      </p:grpSpPr>
      <p:sp>
        <p:nvSpPr>
          <p:cNvPr id="2" name="Header field"/>
          <p:cNvSpPr/>
          <p:nvPr/>
        </p:nvSpPr>
        <p:spPr>
          <a:xfrm>
            <a:off x="0" y="0"/>
            <a:ext cx="43891200" cy="9418320"/>
          </a:xfrm>
          <a:prstGeom prst="rect">
            <a:avLst/>
          </a:prstGeom>
          <a:solidFill>
            <a:srgbClr val="003976"/>
          </a:solidFill>
          <a:ln w="12700">
            <a:solidFill>
              <a:srgbClr val="003976"/>
            </a:solidFill>
            <a:prstDash val="solid"/>
          </a:ln>
        </p:spPr>
      </p:sp>
      <p:pic>
        <p:nvPicPr>
          <p:cNvPr id="3" name="Lattice cluster"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7432000" y="0"/>
            <a:ext cx="16459200" cy="2651760"/>
          </a:xfrm>
          <a:prstGeom prst="rect">
            <a:avLst/>
          </a:prstGeom>
        </p:spPr>
      </p:pic>
      <p:pic>
        <p:nvPicPr>
          <p:cNvPr id="4" name="Hazard ba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8275320"/>
            <a:ext cx="43891200" cy="1143000"/>
          </a:xfrm>
          <a:prstGeom prst="rect">
            <a:avLst/>
          </a:prstGeom>
        </p:spPr>
      </p:pic>
      <p:pic>
        <p:nvPicPr>
          <p:cNvPr id="5" name="ATR logo" descr="Advanced Telerobotics Research logo">    </p:cNvPr>
          <p:cNvPicPr>
            <a:picLocks noChangeAspect="1"/>
          </p:cNvPicPr>
          <p:nvPr/>
        </p:nvPicPr>
        <p:blipFill>
          <a:blip r:embed="rId3"/>
          <a:stretch>
            <a:fillRect/>
          </a:stretch>
        </p:blipFill>
        <p:spPr>
          <a:xfrm>
            <a:off x="28441819" y="3127248"/>
            <a:ext cx="6400800" cy="2432304"/>
          </a:xfrm>
          <a:prstGeom prst="rect">
            <a:avLst/>
          </a:prstGeom>
        </p:spPr>
      </p:pic>
      <p:pic>
        <p:nvPicPr>
          <p:cNvPr id="6" name="Kent State wordmark" descr="Kent State University wordmark">    </p:cNvPr>
          <p:cNvPicPr>
            <a:picLocks noChangeAspect="1"/>
          </p:cNvPicPr>
          <p:nvPr/>
        </p:nvPicPr>
        <p:blipFill>
          <a:blip r:embed="rId4"/>
          <a:stretch>
            <a:fillRect/>
          </a:stretch>
        </p:blipFill>
        <p:spPr>
          <a:xfrm>
            <a:off x="39972659" y="3127248"/>
            <a:ext cx="2546941" cy="2432304"/>
          </a:xfrm>
          <a:prstGeom prst="rect">
            <a:avLst/>
          </a:prstGeom>
        </p:spPr>
      </p:pic>
      <p:sp>
        <p:nvSpPr>
          <p:cNvPr id="7" name="Footer rule"/>
          <p:cNvSpPr/>
          <p:nvPr/>
        </p:nvSpPr>
        <p:spPr>
          <a:xfrm>
            <a:off x="1371600" y="29809440"/>
            <a:ext cx="41148000" cy="0"/>
          </a:xfrm>
          <a:prstGeom prst="line">
            <a:avLst/>
          </a:prstGeom>
          <a:noFill/>
          <a:ln w="25400">
            <a:solidFill>
              <a:srgbClr val="D6DEE8"/>
            </a:solidFill>
            <a:prstDash val="solid"/>
          </a:ln>
        </p:spPr>
      </p:sp>
      <p:sp>
        <p:nvSpPr>
          <p:cNvPr id="8" name="eyebrow"/>
          <p:cNvSpPr>
            <a:spLocks noGrp="1"/>
          </p:cNvSpPr>
          <p:nvPr>
            <p:ph idx="106" type="body" hasCustomPrompt="1"/>
          </p:nvPr>
        </p:nvSpPr>
        <p:spPr>
          <a:xfrm>
            <a:off x="1371600" y="1717040"/>
            <a:ext cx="25603200" cy="548640"/>
          </a:xfrm>
          <a:prstGeom prst="rect">
            <a:avLst/>
          </a:prstGeom>
          <a:noFill/>
          <a:ln/>
        </p:spPr>
        <p:txBody>
          <a:bodyPr wrap="square" rtlCol="0" lIns="0" tIns="0" rIns="0" bIns="0" anchor="ctr">
            <a:normAutofit/>
          </a:bodyPr>
          <a:lstStyle>
            <a:lvl1pPr marL="0" indent="0" algn="l" defTabSz="914400" rtl="0" eaLnBrk="1" latinLnBrk="0" hangingPunct="1">
              <a:lnSpc>
                <a:spcPts val="4000"/>
              </a:lnSpc>
              <a:spcBef>
                <a:spcPts val="0"/>
              </a:spcBef>
              <a:spcAft>
                <a:spcPts val="0"/>
              </a:spcAft>
              <a:buNone/>
              <a:defRPr sz="3200" b="1" spc="50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city and AP date, all caps, up to 65 characters</a:t>
            </a:r>
            <a:endParaRPr lang="en-US" sz="3200" dirty="0"/>
          </a:p>
        </p:txBody>
      </p:sp>
      <p:sp>
        <p:nvSpPr>
          <p:cNvPr id="9" name="title"/>
          <p:cNvSpPr>
            <a:spLocks noGrp="1"/>
          </p:cNvSpPr>
          <p:nvPr>
            <p:ph idx="107" type="title" hasCustomPrompt="1"/>
          </p:nvPr>
        </p:nvSpPr>
        <p:spPr>
          <a:xfrm>
            <a:off x="1371600" y="2402840"/>
            <a:ext cx="25603200" cy="2641600"/>
          </a:xfrm>
          <a:prstGeom prst="rect">
            <a:avLst/>
          </a:prstGeom>
          <a:noFill/>
          <a:ln/>
        </p:spPr>
        <p:txBody>
          <a:bodyPr wrap="square" rtlCol="0" lIns="0" tIns="0" rIns="0" bIns="0" anchor="t">
            <a:normAutofit/>
          </a:bodyPr>
          <a:lstStyle>
            <a:lvl1pPr marL="0" indent="0" algn="l" defTabSz="914400" rtl="0" eaLnBrk="1" latinLnBrk="0" hangingPunct="1">
              <a:lnSpc>
                <a:spcPts val="10400"/>
              </a:lnSpc>
              <a:spcBef>
                <a:spcPts val="0"/>
              </a:spcBef>
              <a:spcAft>
                <a:spcPts val="0"/>
              </a:spcAft>
              <a:buNone/>
              <a:defRPr sz="96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10400"/>
              </a:lnSpc>
              <a:spcBef>
                <a:spcPts val="0"/>
              </a:spcBef>
              <a:spcAft>
                <a:spcPts val="0"/>
              </a:spcAft>
              <a:buNone/>
              <a:defRPr sz="96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10400"/>
              </a:lnSpc>
              <a:buNone/>
            </a:pPr>
            <a:r>
              <a:rPr lang="en-US" sz="9600" b="1" dirty="0">
                <a:solidFill>
                  <a:srgbClr val="FFFFFF"/>
                </a:solidFill>
                <a:latin typeface="Source Sans 3" pitchFamily="34" charset="0"/>
                <a:ea typeface="Source Sans 3" pitchFamily="34" charset="-122"/>
                <a:cs typeface="Source Sans 3" pitchFamily="34" charset="-120"/>
              </a:rPr>
              <a:t>Poster title, up to 2 lines at 96 pt (about 72 characters)</a:t>
            </a:r>
            <a:endParaRPr lang="en-US" sz="9600" dirty="0"/>
          </a:p>
        </p:txBody>
      </p:sp>
      <p:sp>
        <p:nvSpPr>
          <p:cNvPr id="10" name="authors"/>
          <p:cNvSpPr>
            <a:spLocks noGrp="1"/>
          </p:cNvSpPr>
          <p:nvPr>
            <p:ph idx="108" type="body" hasCustomPrompt="1"/>
          </p:nvPr>
        </p:nvSpPr>
        <p:spPr>
          <a:xfrm>
            <a:off x="1371600" y="5181600"/>
            <a:ext cx="25603200" cy="685800"/>
          </a:xfrm>
          <a:prstGeom prst="rect">
            <a:avLst/>
          </a:prstGeom>
          <a:noFill/>
          <a:ln/>
        </p:spPr>
        <p:txBody>
          <a:bodyPr wrap="square" rtlCol="0" lIns="0" tIns="0" rIns="0" bIns="0" anchor="t">
            <a:normAutofit/>
          </a:bodyPr>
          <a:lstStyle>
            <a:lvl1pPr marL="0" indent="0" algn="l" defTabSz="914400" rtl="0" eaLnBrk="1" latinLnBrk="0" hangingPunct="1">
              <a:lnSpc>
                <a:spcPts val="5400"/>
              </a:lnSpc>
              <a:spcBef>
                <a:spcPts val="0"/>
              </a:spcBef>
              <a:spcAft>
                <a:spcPts val="0"/>
              </a:spcAft>
              <a:buNone/>
              <a:defRPr sz="48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5400"/>
              </a:lnSpc>
              <a:spcBef>
                <a:spcPts val="0"/>
              </a:spcBef>
              <a:spcAft>
                <a:spcPts val="0"/>
              </a:spcAft>
              <a:buNone/>
              <a:defRPr sz="48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Authors with superscript affiliation marks, up to 1 line (about 75 characters); the faculty mentor last</a:t>
            </a:r>
            <a:endParaRPr lang="en-US" sz="4800" dirty="0"/>
          </a:p>
        </p:txBody>
      </p:sp>
      <p:sp>
        <p:nvSpPr>
          <p:cNvPr id="11" name="affiliations"/>
          <p:cNvSpPr>
            <a:spLocks noGrp="1"/>
          </p:cNvSpPr>
          <p:nvPr>
            <p:ph idx="109" type="body" hasCustomPrompt="1"/>
          </p:nvPr>
        </p:nvSpPr>
        <p:spPr>
          <a:xfrm>
            <a:off x="1371600" y="5958840"/>
            <a:ext cx="25603200" cy="101092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Affiliations, one per line, up to 2 lines (about 115 characters each)</a:t>
            </a:r>
            <a:endParaRPr lang="en-US" sz="3200" dirty="0"/>
          </a:p>
        </p:txBody>
      </p:sp>
      <p:sp>
        <p:nvSpPr>
          <p:cNvPr id="12" name="lead"/>
          <p:cNvSpPr>
            <a:spLocks noGrp="1"/>
          </p:cNvSpPr>
          <p:nvPr>
            <p:ph idx="110" type="body" hasCustomPrompt="1"/>
          </p:nvPr>
        </p:nvSpPr>
        <p:spPr>
          <a:xfrm>
            <a:off x="1371600" y="11658600"/>
            <a:ext cx="9601200" cy="2032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1" kern="1200" lang="en-US" dirty="0">
                <a:solidFill>
                  <a:srgbClr val="003976"/>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003976"/>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Lead statement: one sentence, bold navy, up to 150 characters (4 lines)</a:t>
            </a:r>
            <a:endParaRPr lang="en-US" sz="3200" dirty="0"/>
          </a:p>
        </p:txBody>
      </p:sp>
      <p:sp>
        <p:nvSpPr>
          <p:cNvPr id="13" name="paragraph"/>
          <p:cNvSpPr>
            <a:spLocks noGrp="1"/>
          </p:cNvSpPr>
          <p:nvPr>
            <p:ph idx="111" type="body" hasCustomPrompt="1"/>
          </p:nvPr>
        </p:nvSpPr>
        <p:spPr>
          <a:xfrm>
            <a:off x="1371600" y="13964920"/>
            <a:ext cx="9601200" cy="3048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Context paragraph, up to 260 characters (6 lines)</a:t>
            </a:r>
            <a:endParaRPr lang="en-US" sz="3200" dirty="0"/>
          </a:p>
        </p:txBody>
      </p:sp>
      <p:sp>
        <p:nvSpPr>
          <p:cNvPr id="14" name="approach"/>
          <p:cNvSpPr>
            <a:spLocks noGrp="1"/>
          </p:cNvSpPr>
          <p:nvPr>
            <p:ph idx="112" type="body" hasCustomPrompt="1"/>
          </p:nvPr>
        </p:nvSpPr>
        <p:spPr>
          <a:xfrm>
            <a:off x="1371600" y="18933160"/>
            <a:ext cx="9601200" cy="4368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bullets, up to 85 characters each (8 lines in all)</a:t>
            </a:r>
            <a:endParaRPr lang="en-US" sz="3200" dirty="0"/>
          </a:p>
        </p:txBody>
      </p:sp>
      <p:sp>
        <p:nvSpPr>
          <p:cNvPr id="15" name="caption1"/>
          <p:cNvSpPr>
            <a:spLocks noGrp="1"/>
          </p:cNvSpPr>
          <p:nvPr>
            <p:ph idx="113" type="body" hasCustomPrompt="1"/>
          </p:nvPr>
        </p:nvSpPr>
        <p:spPr>
          <a:xfrm>
            <a:off x="1371600" y="28434792"/>
            <a:ext cx="96012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01 // caption, up to 95 characters (2 lines)</a:t>
            </a:r>
            <a:endParaRPr lang="en-US" sz="2400" dirty="0"/>
          </a:p>
        </p:txBody>
      </p:sp>
      <p:sp>
        <p:nvSpPr>
          <p:cNvPr id="16" name="captionA"/>
          <p:cNvSpPr>
            <a:spLocks noGrp="1"/>
          </p:cNvSpPr>
          <p:nvPr>
            <p:ph idx="114" type="body" hasCustomPrompt="1"/>
          </p:nvPr>
        </p:nvSpPr>
        <p:spPr>
          <a:xfrm>
            <a:off x="11887200" y="20784312"/>
            <a:ext cx="96012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02 // caption, up to 95 characters (2 lines)</a:t>
            </a:r>
            <a:endParaRPr lang="en-US" sz="2400" dirty="0"/>
          </a:p>
        </p:txBody>
      </p:sp>
      <p:sp>
        <p:nvSpPr>
          <p:cNvPr id="17" name="captionB"/>
          <p:cNvSpPr>
            <a:spLocks noGrp="1"/>
          </p:cNvSpPr>
          <p:nvPr>
            <p:ph idx="115" type="body" hasCustomPrompt="1"/>
          </p:nvPr>
        </p:nvSpPr>
        <p:spPr>
          <a:xfrm>
            <a:off x="22402800" y="20784312"/>
            <a:ext cx="96012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03 // caption, up to 95 characters (2 lines)</a:t>
            </a:r>
            <a:endParaRPr lang="en-US" sz="2400" dirty="0"/>
          </a:p>
        </p:txBody>
      </p:sp>
      <p:sp>
        <p:nvSpPr>
          <p:cNvPr id="18" name="findings"/>
          <p:cNvSpPr>
            <a:spLocks noGrp="1"/>
          </p:cNvSpPr>
          <p:nvPr>
            <p:ph idx="116" type="body" hasCustomPrompt="1"/>
          </p:nvPr>
        </p:nvSpPr>
        <p:spPr>
          <a:xfrm>
            <a:off x="19888200" y="21976080"/>
            <a:ext cx="12115800" cy="65532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Four findings, up to 150 characters each (12 lines in all)</a:t>
            </a:r>
            <a:endParaRPr lang="en-US" sz="3200" dirty="0"/>
          </a:p>
        </p:txBody>
      </p:sp>
      <p:sp>
        <p:nvSpPr>
          <p:cNvPr id="19" name="source"/>
          <p:cNvSpPr>
            <a:spLocks noGrp="1"/>
          </p:cNvSpPr>
          <p:nvPr>
            <p:ph idx="117" type="body" hasCustomPrompt="1"/>
          </p:nvPr>
        </p:nvSpPr>
        <p:spPr>
          <a:xfrm>
            <a:off x="19888200" y="28803600"/>
            <a:ext cx="12115800" cy="457200"/>
          </a:xfrm>
          <a:prstGeom prst="rect">
            <a:avLst/>
          </a:prstGeom>
          <a:noFill/>
          <a:ln/>
        </p:spPr>
        <p:txBody>
          <a:bodyPr wrap="square" rtlCol="0" lIns="0" tIns="0" rIns="0" bIns="0" anchor="ctr">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2pP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20" name="conclusions"/>
          <p:cNvSpPr>
            <a:spLocks noGrp="1"/>
          </p:cNvSpPr>
          <p:nvPr>
            <p:ph idx="118" type="body" hasCustomPrompt="1"/>
          </p:nvPr>
        </p:nvSpPr>
        <p:spPr>
          <a:xfrm>
            <a:off x="32918400" y="11658600"/>
            <a:ext cx="9601200" cy="3860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takeaways, up to 85 characters each</a:t>
            </a:r>
            <a:endParaRPr lang="en-US" sz="3200" dirty="0"/>
          </a:p>
        </p:txBody>
      </p:sp>
      <p:sp>
        <p:nvSpPr>
          <p:cNvPr id="21" name="future"/>
          <p:cNvSpPr>
            <a:spLocks noGrp="1"/>
          </p:cNvSpPr>
          <p:nvPr>
            <p:ph idx="119" type="body" hasCustomPrompt="1"/>
          </p:nvPr>
        </p:nvSpPr>
        <p:spPr>
          <a:xfrm>
            <a:off x="32918400" y="17439640"/>
            <a:ext cx="9601200" cy="3352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next steps, up to 85 characters each</a:t>
            </a:r>
            <a:endParaRPr lang="en-US" sz="3200" dirty="0"/>
          </a:p>
        </p:txBody>
      </p:sp>
      <p:sp>
        <p:nvSpPr>
          <p:cNvPr id="22" name="references"/>
          <p:cNvSpPr>
            <a:spLocks noGrp="1"/>
          </p:cNvSpPr>
          <p:nvPr>
            <p:ph idx="120" type="body" hasCustomPrompt="1"/>
          </p:nvPr>
        </p:nvSpPr>
        <p:spPr>
          <a:xfrm>
            <a:off x="32918400" y="21798280"/>
            <a:ext cx="9601200" cy="281940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IEEE-form references, up to 115 characters (2 lines) each; three fit</a:t>
            </a:r>
            <a:endParaRPr lang="en-US" sz="2400" dirty="0"/>
          </a:p>
        </p:txBody>
      </p:sp>
      <p:sp>
        <p:nvSpPr>
          <p:cNvPr id="23" name="acknowledgments"/>
          <p:cNvSpPr>
            <a:spLocks noGrp="1"/>
          </p:cNvSpPr>
          <p:nvPr>
            <p:ph idx="121" type="body" hasCustomPrompt="1"/>
          </p:nvPr>
        </p:nvSpPr>
        <p:spPr>
          <a:xfrm>
            <a:off x="32918400" y="25532080"/>
            <a:ext cx="6858000" cy="372872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Thanks (up to 60 characters) followed by the sponsor's required sentences; 9 lines</a:t>
            </a:r>
            <a:endParaRPr lang="en-US" sz="2400" dirty="0"/>
          </a:p>
        </p:txBody>
      </p:sp>
      <p:sp>
        <p:nvSpPr>
          <p:cNvPr id="24" name="contact"/>
          <p:cNvSpPr>
            <a:spLocks noGrp="1"/>
          </p:cNvSpPr>
          <p:nvPr>
            <p:ph idx="122" type="body" hasCustomPrompt="1"/>
          </p:nvPr>
        </p:nvSpPr>
        <p:spPr>
          <a:xfrm>
            <a:off x="1371600" y="30038040"/>
            <a:ext cx="30175200" cy="155448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4A5868"/>
                </a:solidFill>
                <a:latin typeface="Source Sans 3" pitchFamily="34" charset="0"/>
                <a:ea typeface="Source Sans 3" pitchFamily="34" charset="-122"/>
                <a:cs typeface="Source Sans 3" pitchFamily="34" charset="-120"/>
              </a:rPr>
              <a:t>Presenter name, email, lab and university on one line; the verified handles on the second</a:t>
            </a:r>
            <a:endParaRPr lang="en-US" sz="3200" dirty="0"/>
          </a:p>
        </p:txBody>
      </p:sp>
      <p:sp>
        <p:nvSpPr>
          <p:cNvPr id="25" name="stamp"/>
          <p:cNvSpPr>
            <a:spLocks noGrp="1"/>
          </p:cNvSpPr>
          <p:nvPr>
            <p:ph idx="123" type="body" hasCustomPrompt="1"/>
          </p:nvPr>
        </p:nvSpPr>
        <p:spPr>
          <a:xfrm>
            <a:off x="32461200" y="30038040"/>
            <a:ext cx="10058400" cy="502920"/>
          </a:xfrm>
          <a:prstGeom prst="rect">
            <a:avLst/>
          </a:prstGeom>
          <a:noFill/>
          <a:ln/>
        </p:spPr>
        <p:txBody>
          <a:bodyPr wrap="square" rtlCol="0" lIns="0" tIns="0" rIns="0" bIns="0" anchor="t">
            <a:normAutofit/>
          </a:bodyPr>
          <a:lstStyle>
            <a:lvl1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1pPr>
            <a:lvl2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2pPr>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short name // date, up to 50 characters</a:t>
            </a: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R Poster 48x36 - Long title">
    <p:bg>
      <p:bgPr>
        <a:solidFill>
          <a:srgbClr val="FFFFFF"/>
        </a:solidFill>
      </p:bgPr>
    </p:bg>
    <p:spTree>
      <p:nvGrpSpPr>
        <p:cNvPr id="1" name=""/>
        <p:cNvGrpSpPr/>
        <p:nvPr/>
      </p:nvGrpSpPr>
      <p:grpSpPr>
        <a:xfrm>
          <a:off x="0" y="0"/>
          <a:ext cx="0" cy="0"/>
          <a:chOff x="0" y="0"/>
          <a:chExt cx="0" cy="0"/>
        </a:xfrm>
      </p:grpSpPr>
      <p:sp>
        <p:nvSpPr>
          <p:cNvPr id="2" name="Header field"/>
          <p:cNvSpPr/>
          <p:nvPr/>
        </p:nvSpPr>
        <p:spPr>
          <a:xfrm>
            <a:off x="0" y="0"/>
            <a:ext cx="43891200" cy="9418320"/>
          </a:xfrm>
          <a:prstGeom prst="rect">
            <a:avLst/>
          </a:prstGeom>
          <a:solidFill>
            <a:srgbClr val="003976"/>
          </a:solidFill>
          <a:ln w="12700">
            <a:solidFill>
              <a:srgbClr val="003976"/>
            </a:solidFill>
            <a:prstDash val="solid"/>
          </a:ln>
        </p:spPr>
      </p:sp>
      <p:pic>
        <p:nvPicPr>
          <p:cNvPr id="3" name="Lattice cluster"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7432000" y="0"/>
            <a:ext cx="16459200" cy="2651760"/>
          </a:xfrm>
          <a:prstGeom prst="rect">
            <a:avLst/>
          </a:prstGeom>
        </p:spPr>
      </p:pic>
      <p:pic>
        <p:nvPicPr>
          <p:cNvPr id="4" name="Hazard band"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8275320"/>
            <a:ext cx="43891200" cy="1143000"/>
          </a:xfrm>
          <a:prstGeom prst="rect">
            <a:avLst/>
          </a:prstGeom>
        </p:spPr>
      </p:pic>
      <p:pic>
        <p:nvPicPr>
          <p:cNvPr id="5" name="ATR logo" descr="Advanced Telerobotics Research logo">    </p:cNvPr>
          <p:cNvPicPr>
            <a:picLocks noChangeAspect="1"/>
          </p:cNvPicPr>
          <p:nvPr/>
        </p:nvPicPr>
        <p:blipFill>
          <a:blip r:embed="rId3"/>
          <a:stretch>
            <a:fillRect/>
          </a:stretch>
        </p:blipFill>
        <p:spPr>
          <a:xfrm>
            <a:off x="28441819" y="3127248"/>
            <a:ext cx="6400800" cy="2432304"/>
          </a:xfrm>
          <a:prstGeom prst="rect">
            <a:avLst/>
          </a:prstGeom>
        </p:spPr>
      </p:pic>
      <p:pic>
        <p:nvPicPr>
          <p:cNvPr id="6" name="Kent State wordmark" descr="Kent State University wordmark">    </p:cNvPr>
          <p:cNvPicPr>
            <a:picLocks noChangeAspect="1"/>
          </p:cNvPicPr>
          <p:nvPr/>
        </p:nvPicPr>
        <p:blipFill>
          <a:blip r:embed="rId4"/>
          <a:stretch>
            <a:fillRect/>
          </a:stretch>
        </p:blipFill>
        <p:spPr>
          <a:xfrm>
            <a:off x="39972659" y="3127248"/>
            <a:ext cx="2546941" cy="2432304"/>
          </a:xfrm>
          <a:prstGeom prst="rect">
            <a:avLst/>
          </a:prstGeom>
        </p:spPr>
      </p:pic>
      <p:sp>
        <p:nvSpPr>
          <p:cNvPr id="7" name="Footer rule"/>
          <p:cNvSpPr/>
          <p:nvPr/>
        </p:nvSpPr>
        <p:spPr>
          <a:xfrm>
            <a:off x="1371600" y="29809440"/>
            <a:ext cx="41148000" cy="0"/>
          </a:xfrm>
          <a:prstGeom prst="line">
            <a:avLst/>
          </a:prstGeom>
          <a:noFill/>
          <a:ln w="25400">
            <a:solidFill>
              <a:srgbClr val="D6DEE8"/>
            </a:solidFill>
            <a:prstDash val="solid"/>
          </a:ln>
        </p:spPr>
      </p:sp>
      <p:sp>
        <p:nvSpPr>
          <p:cNvPr id="8" name="eyebrow"/>
          <p:cNvSpPr>
            <a:spLocks noGrp="1"/>
          </p:cNvSpPr>
          <p:nvPr>
            <p:ph idx="106" type="body" hasCustomPrompt="1"/>
          </p:nvPr>
        </p:nvSpPr>
        <p:spPr>
          <a:xfrm>
            <a:off x="1371600" y="777240"/>
            <a:ext cx="25603200" cy="548640"/>
          </a:xfrm>
          <a:prstGeom prst="rect">
            <a:avLst/>
          </a:prstGeom>
          <a:noFill/>
          <a:ln/>
        </p:spPr>
        <p:txBody>
          <a:bodyPr wrap="square" rtlCol="0" lIns="0" tIns="0" rIns="0" bIns="0" anchor="ctr">
            <a:normAutofit/>
          </a:bodyPr>
          <a:lstStyle>
            <a:lvl1pPr marL="0" indent="0" algn="l" defTabSz="914400" rtl="0" eaLnBrk="1" latinLnBrk="0" hangingPunct="1">
              <a:lnSpc>
                <a:spcPts val="4000"/>
              </a:lnSpc>
              <a:spcBef>
                <a:spcPts val="0"/>
              </a:spcBef>
              <a:spcAft>
                <a:spcPts val="0"/>
              </a:spcAft>
              <a:buNone/>
              <a:defRPr sz="3200" b="1" spc="50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city and AP date, all caps, up to 65 characters</a:t>
            </a:r>
            <a:endParaRPr lang="en-US" sz="3200" dirty="0"/>
          </a:p>
        </p:txBody>
      </p:sp>
      <p:sp>
        <p:nvSpPr>
          <p:cNvPr id="9" name="title"/>
          <p:cNvSpPr>
            <a:spLocks noGrp="1"/>
          </p:cNvSpPr>
          <p:nvPr>
            <p:ph idx="107" type="title" hasCustomPrompt="1"/>
          </p:nvPr>
        </p:nvSpPr>
        <p:spPr>
          <a:xfrm>
            <a:off x="1371600" y="1463040"/>
            <a:ext cx="25603200" cy="3352800"/>
          </a:xfrm>
          <a:prstGeom prst="rect">
            <a:avLst/>
          </a:prstGeom>
          <a:noFill/>
          <a:ln/>
        </p:spPr>
        <p:txBody>
          <a:bodyPr wrap="square" rtlCol="0" lIns="0" tIns="0" rIns="0" bIns="0" anchor="t">
            <a:normAutofit/>
          </a:bodyPr>
          <a:lstStyle>
            <a:lvl1pPr marL="0" indent="0" algn="l" defTabSz="914400" rtl="0" eaLnBrk="1" latinLnBrk="0" hangingPunct="1">
              <a:lnSpc>
                <a:spcPts val="8800"/>
              </a:lnSpc>
              <a:spcBef>
                <a:spcPts val="0"/>
              </a:spcBef>
              <a:spcAft>
                <a:spcPts val="0"/>
              </a:spcAft>
              <a:buNone/>
              <a:defRPr sz="80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8800"/>
              </a:lnSpc>
              <a:spcBef>
                <a:spcPts val="0"/>
              </a:spcBef>
              <a:spcAft>
                <a:spcPts val="0"/>
              </a:spcAft>
              <a:buNone/>
              <a:defRPr sz="80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8800"/>
              </a:lnSpc>
              <a:buNone/>
            </a:pPr>
            <a:r>
              <a:rPr lang="en-US" sz="8000" b="1" dirty="0">
                <a:solidFill>
                  <a:srgbClr val="FFFFFF"/>
                </a:solidFill>
                <a:latin typeface="Source Sans 3" pitchFamily="34" charset="0"/>
                <a:ea typeface="Source Sans 3" pitchFamily="34" charset="-122"/>
                <a:cs typeface="Source Sans 3" pitchFamily="34" charset="-120"/>
              </a:rPr>
              <a:t>Poster title, up to 3 lines at 80 pt (about 125 characters)</a:t>
            </a:r>
            <a:endParaRPr lang="en-US" sz="8000" dirty="0"/>
          </a:p>
        </p:txBody>
      </p:sp>
      <p:sp>
        <p:nvSpPr>
          <p:cNvPr id="10" name="authors"/>
          <p:cNvSpPr>
            <a:spLocks noGrp="1"/>
          </p:cNvSpPr>
          <p:nvPr>
            <p:ph idx="108" type="body" hasCustomPrompt="1"/>
          </p:nvPr>
        </p:nvSpPr>
        <p:spPr>
          <a:xfrm>
            <a:off x="1371600" y="4953000"/>
            <a:ext cx="25603200" cy="1371600"/>
          </a:xfrm>
          <a:prstGeom prst="rect">
            <a:avLst/>
          </a:prstGeom>
          <a:noFill/>
          <a:ln/>
        </p:spPr>
        <p:txBody>
          <a:bodyPr wrap="square" rtlCol="0" lIns="0" tIns="0" rIns="0" bIns="0" anchor="t">
            <a:normAutofit/>
          </a:bodyPr>
          <a:lstStyle>
            <a:lvl1pPr marL="0" indent="0" algn="l" defTabSz="914400" rtl="0" eaLnBrk="1" latinLnBrk="0" hangingPunct="1">
              <a:lnSpc>
                <a:spcPts val="5400"/>
              </a:lnSpc>
              <a:spcBef>
                <a:spcPts val="0"/>
              </a:spcBef>
              <a:spcAft>
                <a:spcPts val="0"/>
              </a:spcAft>
              <a:buNone/>
              <a:defRPr sz="4800" b="1" kern="1200" lang="en-US" dirty="0">
                <a:solidFill>
                  <a:srgbClr val="FFFFFF"/>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5400"/>
              </a:lnSpc>
              <a:spcBef>
                <a:spcPts val="0"/>
              </a:spcBef>
              <a:spcAft>
                <a:spcPts val="0"/>
              </a:spcAft>
              <a:buNone/>
              <a:defRPr sz="4800" b="0" kern="1200" lang="en-US" dirty="0">
                <a:solidFill>
                  <a:srgbClr val="FFFFFF"/>
                </a:solidFill>
                <a:latin typeface="Source Sans 3" pitchFamily="34" charset="0"/>
                <a:ea typeface="Source Sans 3" pitchFamily="34" charset="-122"/>
                <a:cs typeface="Source Sans 3" pitchFamily="34" charset="-120"/>
              </a:defRPr>
            </a:lvl2pPr>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Authors with superscript affiliation marks, up to 2 lines (about 145 characters); the faculty mentor last</a:t>
            </a:r>
            <a:endParaRPr lang="en-US" sz="4800" dirty="0"/>
          </a:p>
        </p:txBody>
      </p:sp>
      <p:sp>
        <p:nvSpPr>
          <p:cNvPr id="11" name="affiliations"/>
          <p:cNvSpPr>
            <a:spLocks noGrp="1"/>
          </p:cNvSpPr>
          <p:nvPr>
            <p:ph idx="109" type="body" hasCustomPrompt="1"/>
          </p:nvPr>
        </p:nvSpPr>
        <p:spPr>
          <a:xfrm>
            <a:off x="1371600" y="6416040"/>
            <a:ext cx="25603200" cy="149352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EFAB00"/>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Affiliations, one per line, up to 3 lines (about 115 characters each)</a:t>
            </a:r>
            <a:endParaRPr lang="en-US" sz="3200" dirty="0"/>
          </a:p>
        </p:txBody>
      </p:sp>
      <p:sp>
        <p:nvSpPr>
          <p:cNvPr id="12" name="lead"/>
          <p:cNvSpPr>
            <a:spLocks noGrp="1"/>
          </p:cNvSpPr>
          <p:nvPr>
            <p:ph idx="110" type="body" hasCustomPrompt="1"/>
          </p:nvPr>
        </p:nvSpPr>
        <p:spPr>
          <a:xfrm>
            <a:off x="1371600" y="11658600"/>
            <a:ext cx="9601200" cy="2032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1" kern="1200" lang="en-US" dirty="0">
                <a:solidFill>
                  <a:srgbClr val="003976"/>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003976"/>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Lead statement: one sentence, bold navy, up to 150 characters (4 lines)</a:t>
            </a:r>
            <a:endParaRPr lang="en-US" sz="3200" dirty="0"/>
          </a:p>
        </p:txBody>
      </p:sp>
      <p:sp>
        <p:nvSpPr>
          <p:cNvPr id="13" name="paragraph"/>
          <p:cNvSpPr>
            <a:spLocks noGrp="1"/>
          </p:cNvSpPr>
          <p:nvPr>
            <p:ph idx="111" type="body" hasCustomPrompt="1"/>
          </p:nvPr>
        </p:nvSpPr>
        <p:spPr>
          <a:xfrm>
            <a:off x="1371600" y="13964920"/>
            <a:ext cx="9601200" cy="3048000"/>
          </a:xfrm>
          <a:prstGeom prst="rect">
            <a:avLst/>
          </a:prstGeom>
          <a:noFill/>
          <a:ln/>
        </p:spPr>
        <p:txBody>
          <a:bodyPr wrap="square" rtlCol="0" lIns="0" tIns="0" rIns="0" bIns="0" anchor="t">
            <a:normAutofit/>
          </a:bodyPr>
          <a:lstStyle>
            <a:lvl1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Context paragraph, up to 260 characters (6 lines)</a:t>
            </a:r>
            <a:endParaRPr lang="en-US" sz="3200" dirty="0"/>
          </a:p>
        </p:txBody>
      </p:sp>
      <p:sp>
        <p:nvSpPr>
          <p:cNvPr id="14" name="approach"/>
          <p:cNvSpPr>
            <a:spLocks noGrp="1"/>
          </p:cNvSpPr>
          <p:nvPr>
            <p:ph idx="112" type="body" hasCustomPrompt="1"/>
          </p:nvPr>
        </p:nvSpPr>
        <p:spPr>
          <a:xfrm>
            <a:off x="1371600" y="18933160"/>
            <a:ext cx="9601200" cy="4368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bullets, up to 85 characters each (8 lines in all)</a:t>
            </a:r>
            <a:endParaRPr lang="en-US" sz="3200" dirty="0"/>
          </a:p>
        </p:txBody>
      </p:sp>
      <p:sp>
        <p:nvSpPr>
          <p:cNvPr id="15" name="caption1"/>
          <p:cNvSpPr>
            <a:spLocks noGrp="1"/>
          </p:cNvSpPr>
          <p:nvPr>
            <p:ph idx="113" type="body" hasCustomPrompt="1"/>
          </p:nvPr>
        </p:nvSpPr>
        <p:spPr>
          <a:xfrm>
            <a:off x="1371600" y="28434792"/>
            <a:ext cx="96012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01 // caption, up to 95 characters (2 lines)</a:t>
            </a:r>
            <a:endParaRPr lang="en-US" sz="2400" dirty="0"/>
          </a:p>
        </p:txBody>
      </p:sp>
      <p:sp>
        <p:nvSpPr>
          <p:cNvPr id="16" name="captionA"/>
          <p:cNvSpPr>
            <a:spLocks noGrp="1"/>
          </p:cNvSpPr>
          <p:nvPr>
            <p:ph idx="114" type="body" hasCustomPrompt="1"/>
          </p:nvPr>
        </p:nvSpPr>
        <p:spPr>
          <a:xfrm>
            <a:off x="11887200" y="20784312"/>
            <a:ext cx="96012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02 // caption, up to 95 characters (2 lines)</a:t>
            </a:r>
            <a:endParaRPr lang="en-US" sz="2400" dirty="0"/>
          </a:p>
        </p:txBody>
      </p:sp>
      <p:sp>
        <p:nvSpPr>
          <p:cNvPr id="17" name="captionB"/>
          <p:cNvSpPr>
            <a:spLocks noGrp="1"/>
          </p:cNvSpPr>
          <p:nvPr>
            <p:ph idx="115" type="body" hasCustomPrompt="1"/>
          </p:nvPr>
        </p:nvSpPr>
        <p:spPr>
          <a:xfrm>
            <a:off x="22402800" y="20784312"/>
            <a:ext cx="9601200" cy="826008"/>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FIG. 03 // caption, up to 95 characters (2 lines)</a:t>
            </a:r>
            <a:endParaRPr lang="en-US" sz="2400" dirty="0"/>
          </a:p>
        </p:txBody>
      </p:sp>
      <p:sp>
        <p:nvSpPr>
          <p:cNvPr id="18" name="findings"/>
          <p:cNvSpPr>
            <a:spLocks noGrp="1"/>
          </p:cNvSpPr>
          <p:nvPr>
            <p:ph idx="116" type="body" hasCustomPrompt="1"/>
          </p:nvPr>
        </p:nvSpPr>
        <p:spPr>
          <a:xfrm>
            <a:off x="19888200" y="21976080"/>
            <a:ext cx="12115800" cy="65532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Four findings, up to 150 characters each (12 lines in all)</a:t>
            </a:r>
            <a:endParaRPr lang="en-US" sz="3200" dirty="0"/>
          </a:p>
        </p:txBody>
      </p:sp>
      <p:sp>
        <p:nvSpPr>
          <p:cNvPr id="19" name="source"/>
          <p:cNvSpPr>
            <a:spLocks noGrp="1"/>
          </p:cNvSpPr>
          <p:nvPr>
            <p:ph idx="117" type="body" hasCustomPrompt="1"/>
          </p:nvPr>
        </p:nvSpPr>
        <p:spPr>
          <a:xfrm>
            <a:off x="19888200" y="28803600"/>
            <a:ext cx="12115800" cy="457200"/>
          </a:xfrm>
          <a:prstGeom prst="rect">
            <a:avLst/>
          </a:prstGeom>
          <a:noFill/>
          <a:ln/>
        </p:spPr>
        <p:txBody>
          <a:bodyPr wrap="square" rtlCol="0" lIns="0" tIns="0" rIns="0" bIns="0" anchor="ctr">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Code Pro" pitchFamily="34" charset="0"/>
                <a:ea typeface="Source Code Pro" pitchFamily="34" charset="-122"/>
                <a:cs typeface="Source Code Pro" pitchFamily="34" charset="-120"/>
              </a:defRPr>
            </a:lvl2pP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20" name="conclusions"/>
          <p:cNvSpPr>
            <a:spLocks noGrp="1"/>
          </p:cNvSpPr>
          <p:nvPr>
            <p:ph idx="118" type="body" hasCustomPrompt="1"/>
          </p:nvPr>
        </p:nvSpPr>
        <p:spPr>
          <a:xfrm>
            <a:off x="32918400" y="11658600"/>
            <a:ext cx="9601200" cy="3860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takeaways, up to 85 characters each</a:t>
            </a:r>
            <a:endParaRPr lang="en-US" sz="3200" dirty="0"/>
          </a:p>
        </p:txBody>
      </p:sp>
      <p:sp>
        <p:nvSpPr>
          <p:cNvPr id="21" name="future"/>
          <p:cNvSpPr>
            <a:spLocks noGrp="1"/>
          </p:cNvSpPr>
          <p:nvPr>
            <p:ph idx="119" type="body" hasCustomPrompt="1"/>
          </p:nvPr>
        </p:nvSpPr>
        <p:spPr>
          <a:xfrm>
            <a:off x="32918400" y="17439640"/>
            <a:ext cx="9601200" cy="3352800"/>
          </a:xfrm>
          <a:prstGeom prst="rect">
            <a:avLst/>
          </a:prstGeom>
          <a:noFill/>
          <a:ln/>
        </p:spPr>
        <p:txBody>
          <a:bodyPr wrap="square" rtlCol="0" lIns="0" tIns="0" rIns="0" bIns="0" anchor="t">
            <a:normAutofit/>
          </a:bodyPr>
          <a:lst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914400" indent="-45720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Three next steps, up to 85 characters each</a:t>
            </a:r>
            <a:endParaRPr lang="en-US" sz="3200" dirty="0"/>
          </a:p>
        </p:txBody>
      </p:sp>
      <p:sp>
        <p:nvSpPr>
          <p:cNvPr id="22" name="references"/>
          <p:cNvSpPr>
            <a:spLocks noGrp="1"/>
          </p:cNvSpPr>
          <p:nvPr>
            <p:ph idx="120" type="body" hasCustomPrompt="1"/>
          </p:nvPr>
        </p:nvSpPr>
        <p:spPr>
          <a:xfrm>
            <a:off x="32918400" y="21798280"/>
            <a:ext cx="9601200" cy="281940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60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IEEE-form references, up to 115 characters (2 lines) each; three fit</a:t>
            </a:r>
            <a:endParaRPr lang="en-US" sz="2400" dirty="0"/>
          </a:p>
        </p:txBody>
      </p:sp>
      <p:sp>
        <p:nvSpPr>
          <p:cNvPr id="23" name="acknowledgments"/>
          <p:cNvSpPr>
            <a:spLocks noGrp="1"/>
          </p:cNvSpPr>
          <p:nvPr>
            <p:ph idx="121" type="body" hasCustomPrompt="1"/>
          </p:nvPr>
        </p:nvSpPr>
        <p:spPr>
          <a:xfrm>
            <a:off x="32918400" y="25532080"/>
            <a:ext cx="6858000" cy="3728720"/>
          </a:xfrm>
          <a:prstGeom prst="rect">
            <a:avLst/>
          </a:prstGeom>
          <a:noFill/>
          <a:ln/>
        </p:spPr>
        <p:txBody>
          <a:bodyPr wrap="square" rtlCol="0" lIns="0" tIns="0" rIns="0" bIns="0" anchor="t">
            <a:normAutofit/>
          </a:bodyPr>
          <a:lstStyle>
            <a:lvl1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000"/>
              </a:lnSpc>
              <a:spcBef>
                <a:spcPts val="0"/>
              </a:spcBef>
              <a:spcAft>
                <a:spcPts val="0"/>
              </a:spcAft>
              <a:buNone/>
              <a:defRPr sz="24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Thanks (up to 60 characters) followed by the sponsor's required sentences; 9 lines</a:t>
            </a:r>
            <a:endParaRPr lang="en-US" sz="2400" dirty="0"/>
          </a:p>
        </p:txBody>
      </p:sp>
      <p:sp>
        <p:nvSpPr>
          <p:cNvPr id="24" name="contact"/>
          <p:cNvSpPr>
            <a:spLocks noGrp="1"/>
          </p:cNvSpPr>
          <p:nvPr>
            <p:ph idx="122" type="body" hasCustomPrompt="1"/>
          </p:nvPr>
        </p:nvSpPr>
        <p:spPr>
          <a:xfrm>
            <a:off x="1371600" y="30038040"/>
            <a:ext cx="30175200" cy="1554480"/>
          </a:xfrm>
          <a:prstGeom prst="rect">
            <a:avLst/>
          </a:prstGeom>
          <a:noFill/>
          <a:ln/>
        </p:spPr>
        <p:txBody>
          <a:bodyPr wrap="square" rtlCol="0" lIns="0" tIns="0" rIns="0" bIns="0" anchor="t">
            <a:normAutofit/>
          </a:bodyPr>
          <a:lstStyle>
            <a:lvl1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3800"/>
              </a:lnSpc>
              <a:spcBef>
                <a:spcPts val="0"/>
              </a:spcBef>
              <a:spcAft>
                <a:spcPts val="0"/>
              </a:spcAft>
              <a:buNone/>
              <a:defRPr sz="3200" b="0" kern="1200" lang="en-US" dirty="0">
                <a:solidFill>
                  <a:srgbClr val="4A5868"/>
                </a:solidFill>
                <a:latin typeface="Source Sans 3" pitchFamily="34" charset="0"/>
                <a:ea typeface="Source Sans 3" pitchFamily="34" charset="-122"/>
                <a:cs typeface="Source Sans 3" pitchFamily="34" charset="-120"/>
              </a:defRPr>
            </a:lvl2pPr>
          </a:lstStyle>
          <a:p>
            <a:pPr algn="l" indent="0" marL="0">
              <a:lnSpc>
                <a:spcPts val="3800"/>
              </a:lnSpc>
              <a:buNone/>
            </a:pPr>
            <a:r>
              <a:rPr lang="en-US" sz="3200" dirty="0">
                <a:solidFill>
                  <a:srgbClr val="4A5868"/>
                </a:solidFill>
                <a:latin typeface="Source Sans 3" pitchFamily="34" charset="0"/>
                <a:ea typeface="Source Sans 3" pitchFamily="34" charset="-122"/>
                <a:cs typeface="Source Sans 3" pitchFamily="34" charset="-120"/>
              </a:rPr>
              <a:t>Presenter name, email, lab and university on one line; the verified handles on the second</a:t>
            </a:r>
            <a:endParaRPr lang="en-US" sz="3200" dirty="0"/>
          </a:p>
        </p:txBody>
      </p:sp>
      <p:sp>
        <p:nvSpPr>
          <p:cNvPr id="25" name="stamp"/>
          <p:cNvSpPr>
            <a:spLocks noGrp="1"/>
          </p:cNvSpPr>
          <p:nvPr>
            <p:ph idx="123" type="body" hasCustomPrompt="1"/>
          </p:nvPr>
        </p:nvSpPr>
        <p:spPr>
          <a:xfrm>
            <a:off x="32461200" y="30038040"/>
            <a:ext cx="10058400" cy="502920"/>
          </a:xfrm>
          <a:prstGeom prst="rect">
            <a:avLst/>
          </a:prstGeom>
          <a:noFill/>
          <a:ln/>
        </p:spPr>
        <p:txBody>
          <a:bodyPr wrap="square" rtlCol="0" lIns="0" tIns="0" rIns="0" bIns="0" anchor="t">
            <a:normAutofit/>
          </a:bodyPr>
          <a:lstStyle>
            <a:lvl1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1pPr>
            <a:lvl2pPr marL="0" indent="0" algn="r" defTabSz="914400" rtl="0" eaLnBrk="1" latinLnBrk="0" hangingPunct="1">
              <a:lnSpc>
                <a:spcPts val="3000"/>
              </a:lnSpc>
              <a:spcBef>
                <a:spcPts val="0"/>
              </a:spcBef>
              <a:spcAft>
                <a:spcPts val="0"/>
              </a:spcAft>
              <a:buNone/>
              <a:defRPr sz="2400" b="0" kern="1200" lang="en-US" dirty="0">
                <a:solidFill>
                  <a:srgbClr val="003976"/>
                </a:solidFill>
                <a:latin typeface="Source Code Pro" pitchFamily="34" charset="0"/>
                <a:ea typeface="Source Code Pro" pitchFamily="34" charset="-122"/>
                <a:cs typeface="Source Code Pro" pitchFamily="34" charset="-120"/>
              </a:defRPr>
            </a:lvl2pPr>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short name // date, up to 50 characters</a:t>
            </a: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Lst>
  <p:hf hdr="0" ftr="0" dt="0" sldNum="0"/>
  <p:txStyles>
    <p:titleStyle>
      <a:lvl1pPr marL="0" indent="0" algn="l" defTabSz="914400" rtl="0" eaLnBrk="1" latinLnBrk="0" hangingPunct="1">
        <a:lnSpc>
          <a:spcPts val="10400"/>
        </a:lnSpc>
        <a:spcBef>
          <a:spcPts val="0"/>
        </a:spcBef>
        <a:spcAft>
          <a:spcPts val="0"/>
        </a:spcAft>
        <a:buNone/>
        <a:defRPr sz="9600" b="1" kern="1200" lang="en-US" dirty="0">
          <a:solidFill>
            <a:srgbClr val="FFFFFF"/>
          </a:solidFill>
          <a:latin typeface="Source Sans 3" pitchFamily="34" charset="0"/>
          <a:ea typeface="Source Sans 3" pitchFamily="34" charset="-122"/>
          <a:cs typeface="Source Sans 3" pitchFamily="34" charset="-120"/>
        </a:defRPr>
      </a:lvl1pPr>
    </p:titleStyle>
    <p:bodyStyle>
      <a:lvl1pPr marL="457200" indent="-457200" algn="l" defTabSz="914400" rtl="0" eaLnBrk="1" latinLnBrk="0" hangingPunct="1">
        <a:lnSpc>
          <a:spcPts val="4000"/>
        </a:lnSpc>
        <a:spcBef>
          <a:spcPts val="0"/>
        </a:spcBef>
        <a:spcAft>
          <a:spcPts val="1200"/>
        </a:spcAft>
        <a:buClr>
          <a:srgbClr val="1B2533"/>
        </a:buClr>
        <a:buSzPct val="100000"/>
        <a:buFont typeface="Source Sans 3" pitchFamily="34" charset="0"/>
        <a:buChar char="▸"/>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1200"/>
        </a:spcAft>
        <a:buNone/>
        <a:defRPr sz="3200" b="0" kern="1200" lang="en-US" dirty="0">
          <a:solidFill>
            <a:srgbClr val="4A5868"/>
          </a:solidFill>
          <a:latin typeface="Source Sans 3" pitchFamily="34" charset="0"/>
          <a:ea typeface="Source Sans 3" pitchFamily="34" charset="-122"/>
          <a:cs typeface="Source Sans 3" pitchFamily="34" charset="-120"/>
        </a:defRPr>
      </a:lvl2pPr>
      <a:lvl3pPr marL="0" indent="0" algn="l" defTabSz="914400" rtl="0" eaLnBrk="1" latinLnBrk="0" hangingPunct="1">
        <a:lnSpc>
          <a:spcPts val="3400"/>
        </a:lnSpc>
        <a:spcBef>
          <a:spcPts val="0"/>
        </a:spcBef>
        <a:spcAft>
          <a:spcPts val="800"/>
        </a:spcAft>
        <a:buNone/>
        <a:defRPr sz="2800" b="0" kern="1200" lang="en-US" dirty="0">
          <a:solidFill>
            <a:srgbClr val="4A5868"/>
          </a:solidFill>
          <a:latin typeface="Source Sans 3" pitchFamily="34" charset="0"/>
          <a:ea typeface="Source Sans 3" pitchFamily="34" charset="-122"/>
          <a:cs typeface="Source Sans 3" pitchFamily="34" charset="-120"/>
        </a:defRPr>
      </a:lvl3pPr>
      <a:lvl4pPr marL="0" indent="0" algn="l" defTabSz="914400" rtl="0" eaLnBrk="1" latinLnBrk="0" hangingPunct="1">
        <a:lnSpc>
          <a:spcPts val="3400"/>
        </a:lnSpc>
        <a:spcBef>
          <a:spcPts val="0"/>
        </a:spcBef>
        <a:spcAft>
          <a:spcPts val="800"/>
        </a:spcAft>
        <a:buNone/>
        <a:defRPr sz="2800" b="0" kern="1200" lang="en-US" dirty="0">
          <a:solidFill>
            <a:srgbClr val="4A5868"/>
          </a:solidFill>
          <a:latin typeface="Source Sans 3" pitchFamily="34" charset="0"/>
          <a:ea typeface="Source Sans 3" pitchFamily="34" charset="-122"/>
          <a:cs typeface="Source Sans 3" pitchFamily="34" charset="-120"/>
        </a:defRPr>
      </a:lvl4pPr>
      <a:lvl5pPr marL="0" indent="0" algn="l" defTabSz="914400" rtl="0" eaLnBrk="1" latinLnBrk="0" hangingPunct="1">
        <a:lnSpc>
          <a:spcPts val="3400"/>
        </a:lnSpc>
        <a:spcBef>
          <a:spcPts val="0"/>
        </a:spcBef>
        <a:spcAft>
          <a:spcPts val="800"/>
        </a:spcAft>
        <a:buNone/>
        <a:defRPr sz="2800" b="0" kern="1200" lang="en-US" dirty="0">
          <a:solidFill>
            <a:srgbClr val="4A5868"/>
          </a:solidFill>
          <a:latin typeface="Source Sans 3" pitchFamily="34" charset="0"/>
          <a:ea typeface="Source Sans 3" pitchFamily="34" charset="-122"/>
          <a:cs typeface="Source Sans 3" pitchFamily="34" charset="-120"/>
        </a:defRPr>
      </a:lvl5pPr>
    </p:bodyStyle>
    <p:otherStyle>
      <a:defPPr>
        <a:defRPr lang="en-US"/>
      </a:defPPr>
      <a:lvl1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1pPr>
      <a:lvl2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2pPr>
      <a:lvl3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3pPr>
      <a:lvl4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4pPr>
      <a:lvl5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5pPr>
      <a:lvl6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6pPr>
      <a:lvl7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7pPr>
      <a:lvl8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8pPr>
      <a:lvl9pPr marL="0" indent="0" algn="l" defTabSz="914400" rtl="0" eaLnBrk="1" latinLnBrk="0" hangingPunct="1">
        <a:lnSpc>
          <a:spcPts val="4000"/>
        </a:lnSpc>
        <a:spcBef>
          <a:spcPts val="0"/>
        </a:spcBef>
        <a:spcAft>
          <a:spcPts val="0"/>
        </a:spcAft>
        <a:buNone/>
        <a:defRPr sz="3200" b="0" kern="1200" lang="en-US" dirty="0">
          <a:solidFill>
            <a:srgbClr val="1B2533"/>
          </a:solidFill>
          <a:latin typeface="Source Sans 3" pitchFamily="34" charset="0"/>
          <a:ea typeface="Source Sans 3" pitchFamily="34" charset="-122"/>
          <a:cs typeface="Source Sans 3" pitchFamily="34" charset="-12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3.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a:spLocks noGrp="1"/>
          </p:cNvSpPr>
          <p:nvPr>
            <p:ph idx="106" type="body" hasCustomPrompt="1"/>
          </p:nvPr>
        </p:nvSpPr>
        <p:spPr>
          <a:xfrm>
            <a:off x="1371600" y="1717040"/>
            <a:ext cx="25603200" cy="548640"/>
          </a:xfrm>
          <a:prstGeom prst="rect">
            <a:avLst/>
          </a:prstGeom>
          <a:noFill/>
          <a:ln/>
        </p:spPr>
        <p:txBody>
          <a:bodyPr wrap="square" lIns="0" tIns="0" rIns="0" bIns="0" rtlCol="0" anchor="ct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  [CITY]  ·  [MON. DD, YYYY]</a:t>
            </a:r>
            <a:endParaRPr lang="en-US" sz="3200" dirty="0"/>
          </a:p>
        </p:txBody>
      </p:sp>
      <p:sp>
        <p:nvSpPr>
          <p:cNvPr id="3" name="title"/>
          <p:cNvSpPr>
            <a:spLocks noGrp="1"/>
          </p:cNvSpPr>
          <p:nvPr>
            <p:ph idx="107" type="title" hasCustomPrompt="1"/>
          </p:nvPr>
        </p:nvSpPr>
        <p:spPr>
          <a:xfrm>
            <a:off x="1371600" y="2402840"/>
            <a:ext cx="25603200" cy="2641600"/>
          </a:xfrm>
          <a:prstGeom prst="rect">
            <a:avLst/>
          </a:prstGeom>
          <a:noFill/>
          <a:ln/>
        </p:spPr>
        <p:txBody>
          <a:bodyPr wrap="square" lIns="0" tIns="0" rIns="0" bIns="0" rtlCol="0" anchor="t"/>
          <a:lstStyle/>
          <a:p>
            <a:pPr algn="l" indent="0" marL="0">
              <a:lnSpc>
                <a:spcPts val="10400"/>
              </a:lnSpc>
              <a:buNone/>
            </a:pPr>
            <a:r>
              <a:rPr lang="en-US" sz="9600" b="1" dirty="0">
                <a:solidFill>
                  <a:srgbClr val="FFFFFF"/>
                </a:solidFill>
                <a:latin typeface="Source Sans 3" pitchFamily="34" charset="0"/>
                <a:ea typeface="Source Sans 3" pitchFamily="34" charset="-122"/>
                <a:cs typeface="Source Sans 3" pitchFamily="34" charset="-120"/>
              </a:rPr>
              <a:t>[Poster title: the main finding in one or two lines]</a:t>
            </a:r>
            <a:endParaRPr lang="en-US" sz="9600" dirty="0"/>
          </a:p>
        </p:txBody>
      </p:sp>
      <p:sp>
        <p:nvSpPr>
          <p:cNvPr id="4" name="authors"/>
          <p:cNvSpPr>
            <a:spLocks noGrp="1"/>
          </p:cNvSpPr>
          <p:nvPr>
            <p:ph idx="108" type="body" hasCustomPrompt="1"/>
          </p:nvPr>
        </p:nvSpPr>
        <p:spPr>
          <a:xfrm>
            <a:off x="1371600" y="5181600"/>
            <a:ext cx="25603200" cy="685800"/>
          </a:xfrm>
          <a:prstGeom prst="rect">
            <a:avLst/>
          </a:prstGeom>
          <a:noFill/>
          <a:ln/>
        </p:spPr>
        <p:txBody>
          <a:bodyPr wrap="square" lIns="0" tIns="0" rIns="0" bIns="0" rtlCol="0" anchor="t"/>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[First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[Second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[Third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and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[Faculty Mentor]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endParaRPr lang="en-US" sz="4800" dirty="0"/>
          </a:p>
        </p:txBody>
      </p:sp>
      <p:sp>
        <p:nvSpPr>
          <p:cNvPr id="5" name="affiliations"/>
          <p:cNvSpPr>
            <a:spLocks noGrp="1"/>
          </p:cNvSpPr>
          <p:nvPr>
            <p:ph idx="109" type="body" hasCustomPrompt="1"/>
          </p:nvPr>
        </p:nvSpPr>
        <p:spPr>
          <a:xfrm>
            <a:off x="1371600" y="5958840"/>
            <a:ext cx="25603200" cy="1010920"/>
          </a:xfrm>
          <a:prstGeom prst="rect">
            <a:avLst/>
          </a:prstGeom>
          <a:noFill/>
          <a:ln/>
        </p:spPr>
        <p:txBody>
          <a:bodyPr wrap="square" lIns="0" tIns="0" rIns="0" bIns="0" rtlCol="0" anchor="t"/>
          <a:lstStyle/>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1</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Advanced Telerobotics Research Lab, Department of Computer Science, Kent State University, Kent, OH, USA</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2</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[Second affiliation, if any]</a:t>
            </a:r>
            <a:endParaRPr lang="en-US" sz="3200" dirty="0"/>
          </a:p>
        </p:txBody>
      </p:sp>
      <p:grpSp>
        <p:nvGrpSpPr>
          <p:cNvPr id="42" name="QR code"/>
          <p:cNvGrpSpPr/>
          <p:nvPr/>
        </p:nvGrpSpPr>
        <p:grpSpPr>
          <a:xfrm>
            <a:off x="36168755" y="3127248"/>
            <a:ext cx="2980944" cy="3319272"/>
            <a:chOff x="36168755" y="3127248"/>
            <a:chExt cx="2980944" cy="3319272"/>
          </a:xfrm>
        </p:grpSpPr>
        <p:sp>
          <p:nvSpPr>
            <p:cNvPr id="6" name="QR code label"/>
            <p:cNvSpPr txBox="1"/>
            <p:nvPr/>
          </p:nvSpPr>
          <p:spPr>
            <a:xfrm>
              <a:off x="36168755" y="5669280"/>
              <a:ext cx="2980944" cy="777240"/>
            </a:xfrm>
            <a:prstGeom prst="rect">
              <a:avLst/>
            </a:prstGeom>
            <a:noFill/>
            <a:ln/>
          </p:spPr>
          <p:txBody>
            <a:bodyPr wrap="square" lIns="0" tIns="0" rIns="0" bIns="0" rtlCol="0" anchor="t"/>
            <a:lstStyle/>
            <a:p>
              <a:pPr algn="ct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SCAN FOR</a:t>
              </a:r>
              <a:endParaRPr lang="en-US" sz="2400" dirty="0"/>
            </a:p>
            <a:p>
              <a:pPr algn="ct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[THE PAPER]</a:t>
              </a:r>
              <a:endParaRPr lang="en-US" sz="2400" dirty="0"/>
            </a:p>
          </p:txBody>
        </p:sp>
        <p:pic>
          <p:nvPicPr>
            <p:cNvPr id="7" name="QR code image" descr="QR code linking to the ATR Lab website, www.atr.cs.kent.edu">    </p:cNvPr>
            <p:cNvPicPr>
              <a:picLocks noChangeAspect="1"/>
            </p:cNvPicPr>
            <p:nvPr/>
          </p:nvPicPr>
          <p:blipFill>
            <a:blip r:embed="rId1"/>
            <a:stretch>
              <a:fillRect/>
            </a:stretch>
          </p:blipFill>
          <p:spPr>
            <a:xfrm>
              <a:off x="36443075" y="3127248"/>
              <a:ext cx="2432304" cy="2432304"/>
            </a:xfrm>
            <a:prstGeom prst="rect">
              <a:avLst/>
            </a:prstGeom>
          </p:spPr>
        </p:pic>
      </p:grpSp>
      <p:sp>
        <p:nvSpPr>
          <p:cNvPr id="8" name="Section plate 01"/>
          <p:cNvSpPr txBox="1"/>
          <p:nvPr/>
        </p:nvSpPr>
        <p:spPr>
          <a:xfrm>
            <a:off x="1371600" y="101955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01</a:t>
            </a:r>
            <a:endParaRPr lang="en-US" sz="6000" dirty="0"/>
          </a:p>
        </p:txBody>
      </p:sp>
      <p:sp>
        <p:nvSpPr>
          <p:cNvPr id="9" name="Section title 01"/>
          <p:cNvSpPr txBox="1"/>
          <p:nvPr/>
        </p:nvSpPr>
        <p:spPr>
          <a:xfrm>
            <a:off x="2834640" y="1019556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Motivation</a:t>
            </a:r>
            <a:endParaRPr lang="en-US" sz="6000" dirty="0"/>
          </a:p>
        </p:txBody>
      </p:sp>
      <p:sp>
        <p:nvSpPr>
          <p:cNvPr id="10" name="lead"/>
          <p:cNvSpPr>
            <a:spLocks noGrp="1"/>
          </p:cNvSpPr>
          <p:nvPr>
            <p:ph idx="110" type="body" hasCustomPrompt="1"/>
          </p:nvPr>
        </p:nvSpPr>
        <p:spPr>
          <a:xfrm>
            <a:off x="1371600" y="11658600"/>
            <a:ext cx="9601200" cy="2032000"/>
          </a:xfrm>
          <a:prstGeom prst="rect">
            <a:avLst/>
          </a:prstGeom>
          <a:noFill/>
          <a:ln/>
        </p:spPr>
        <p:txBody>
          <a:bodyPr wrap="square" lIns="0" tIns="0" rIns="0" bIns="0" rtlCol="0" anchor="t"/>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[One sentence on the problem and why it matters for telepresence, tele-embodiment or Physical AI, up to 150 characters.]</a:t>
            </a:r>
            <a:endParaRPr lang="en-US" sz="3200" dirty="0"/>
          </a:p>
        </p:txBody>
      </p:sp>
      <p:sp>
        <p:nvSpPr>
          <p:cNvPr id="11" name="paragraph"/>
          <p:cNvSpPr>
            <a:spLocks noGrp="1"/>
          </p:cNvSpPr>
          <p:nvPr>
            <p:ph idx="111" type="body" hasCustomPrompt="1"/>
          </p:nvPr>
        </p:nvSpPr>
        <p:spPr>
          <a:xfrm>
            <a:off x="1371600" y="13964920"/>
            <a:ext cx="9601200" cy="3048000"/>
          </a:xfrm>
          <a:prstGeom prst="rect">
            <a:avLst/>
          </a:prstGeom>
          <a:noFill/>
          <a:ln/>
        </p:spPr>
        <p:txBody>
          <a:bodyPr wrap="square" lIns="0" tIns="0" rIns="0" bIns="0" rtlCol="0" anchor="t"/>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or three sentences of context, up to 260 characters: the gap in prior work, the setting and the research question. Keep about one fifth of the poster as text and let the figures carry the argument.]</a:t>
            </a:r>
            <a:endParaRPr lang="en-US" sz="3200" dirty="0"/>
          </a:p>
        </p:txBody>
      </p:sp>
      <p:sp>
        <p:nvSpPr>
          <p:cNvPr id="12" name="Section plate 02"/>
          <p:cNvSpPr txBox="1"/>
          <p:nvPr/>
        </p:nvSpPr>
        <p:spPr>
          <a:xfrm>
            <a:off x="1371600" y="1747012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02</a:t>
            </a:r>
            <a:endParaRPr lang="en-US" sz="6000" dirty="0"/>
          </a:p>
        </p:txBody>
      </p:sp>
      <p:sp>
        <p:nvSpPr>
          <p:cNvPr id="13" name="Section title 02"/>
          <p:cNvSpPr txBox="1"/>
          <p:nvPr/>
        </p:nvSpPr>
        <p:spPr>
          <a:xfrm>
            <a:off x="2834640" y="1747012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Approach</a:t>
            </a:r>
            <a:endParaRPr lang="en-US" sz="6000" dirty="0"/>
          </a:p>
        </p:txBody>
      </p:sp>
      <p:sp>
        <p:nvSpPr>
          <p:cNvPr id="14" name="approach"/>
          <p:cNvSpPr>
            <a:spLocks noGrp="1"/>
          </p:cNvSpPr>
          <p:nvPr>
            <p:ph idx="112" type="body" hasCustomPrompt="1"/>
          </p:nvPr>
        </p:nvSpPr>
        <p:spPr>
          <a:xfrm>
            <a:off x="1371600" y="18933160"/>
            <a:ext cx="9601200" cy="4368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[System or method: what was built and how it works,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[Study design: participants, tasks, conditions and measures]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[Analysis: statistics, models or metrics used]</a:t>
            </a:r>
            <a:endParaRPr lang="en-US" sz="3200" dirty="0"/>
          </a:p>
        </p:txBody>
      </p:sp>
      <p:grpSp>
        <p:nvGrpSpPr>
          <p:cNvPr id="43" name="Figure 01"/>
          <p:cNvGrpSpPr/>
          <p:nvPr/>
        </p:nvGrpSpPr>
        <p:grpSpPr>
          <a:xfrm>
            <a:off x="1371600" y="23576280"/>
            <a:ext cx="9601200" cy="4721352"/>
            <a:chOff x="1371600" y="23576280"/>
            <a:chExt cx="9601200" cy="4721352"/>
          </a:xfrm>
        </p:grpSpPr>
        <p:sp>
          <p:nvSpPr>
            <p:cNvPr id="15" name="Figure 01 panel"/>
            <p:cNvSpPr txBox="1"/>
            <p:nvPr/>
          </p:nvSpPr>
          <p:spPr>
            <a:xfrm>
              <a:off x="1371600" y="23576280"/>
              <a:ext cx="9601200" cy="4721352"/>
            </a:xfrm>
            <a:prstGeom prst="rect">
              <a:avLst/>
            </a:prstGeom>
            <a:solidFill>
              <a:srgbClr val="F3F6FA"/>
            </a:solidFill>
            <a:ln>
              <a:solidFill>
                <a:srgbClr val="F3F6FA"/>
              </a:solidFill>
            </a:ln>
          </p:spPr>
          <p:txBody>
            <a:bodyPr wrap="square" lIns="685800" tIns="27686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6" name="Figure 01 icon" descr="Figure 01 placeholder icon; replace this panel with your figure">    </p:cNvPr>
            <p:cNvPicPr>
              <a:picLocks noChangeAspect="1"/>
            </p:cNvPicPr>
            <p:nvPr/>
          </p:nvPicPr>
          <p:blipFill>
            <a:blip r:embed="rId2"/>
            <a:stretch>
              <a:fillRect/>
            </a:stretch>
          </p:blipFill>
          <p:spPr>
            <a:xfrm>
              <a:off x="5257800" y="24336756"/>
              <a:ext cx="1828800" cy="1828800"/>
            </a:xfrm>
            <a:prstGeom prst="rect">
              <a:avLst/>
            </a:prstGeom>
          </p:spPr>
        </p:pic>
      </p:grpSp>
      <p:sp>
        <p:nvSpPr>
          <p:cNvPr id="17" name="caption1"/>
          <p:cNvSpPr>
            <a:spLocks noGrp="1"/>
          </p:cNvSpPr>
          <p:nvPr>
            <p:ph idx="113" type="body" hasCustomPrompt="1"/>
          </p:nvPr>
        </p:nvSpPr>
        <p:spPr>
          <a:xfrm>
            <a:off x="1371600" y="2843479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01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[System overview: replace with an architecture diagram or a labeled photo of the setup.]</a:t>
            </a:r>
            <a:endParaRPr lang="en-US" sz="2400" dirty="0"/>
          </a:p>
        </p:txBody>
      </p:sp>
      <p:sp>
        <p:nvSpPr>
          <p:cNvPr id="18" name="Section plate 03"/>
          <p:cNvSpPr txBox="1"/>
          <p:nvPr/>
        </p:nvSpPr>
        <p:spPr>
          <a:xfrm>
            <a:off x="11887200" y="101955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03</a:t>
            </a:r>
            <a:endParaRPr lang="en-US" sz="6000" dirty="0"/>
          </a:p>
        </p:txBody>
      </p:sp>
      <p:sp>
        <p:nvSpPr>
          <p:cNvPr id="19" name="Section title 03"/>
          <p:cNvSpPr txBox="1"/>
          <p:nvPr/>
        </p:nvSpPr>
        <p:spPr>
          <a:xfrm>
            <a:off x="13350240" y="10195560"/>
            <a:ext cx="18653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Results</a:t>
            </a:r>
            <a:endParaRPr lang="en-US" sz="6000" dirty="0"/>
          </a:p>
        </p:txBody>
      </p:sp>
      <p:grpSp>
        <p:nvGrpSpPr>
          <p:cNvPr id="44" name="Figure 02"/>
          <p:cNvGrpSpPr/>
          <p:nvPr/>
        </p:nvGrpSpPr>
        <p:grpSpPr>
          <a:xfrm>
            <a:off x="11887200" y="11658600"/>
            <a:ext cx="9601200" cy="8988552"/>
            <a:chOff x="11887200" y="11658600"/>
            <a:chExt cx="9601200" cy="8988552"/>
          </a:xfrm>
        </p:grpSpPr>
        <p:sp>
          <p:nvSpPr>
            <p:cNvPr id="20" name="Figure 02 panel"/>
            <p:cNvSpPr txBox="1"/>
            <p:nvPr/>
          </p:nvSpPr>
          <p:spPr>
            <a:xfrm>
              <a:off x="11887200" y="11658600"/>
              <a:ext cx="9601200" cy="8988552"/>
            </a:xfrm>
            <a:prstGeom prst="rect">
              <a:avLst/>
            </a:prstGeom>
            <a:solidFill>
              <a:srgbClr val="F3F6FA"/>
            </a:solidFill>
            <a:ln>
              <a:solidFill>
                <a:srgbClr val="F3F6FA"/>
              </a:solidFill>
            </a:ln>
          </p:spPr>
          <p:txBody>
            <a:bodyPr wrap="square" lIns="685800" tIns="4902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1" name="Figure 02 icon" descr="Figure 02 placeholder icon; replace this panel with your figure">    </p:cNvPr>
            <p:cNvPicPr>
              <a:picLocks noChangeAspect="1"/>
            </p:cNvPicPr>
            <p:nvPr/>
          </p:nvPicPr>
          <p:blipFill>
            <a:blip r:embed="rId3"/>
            <a:stretch>
              <a:fillRect/>
            </a:stretch>
          </p:blipFill>
          <p:spPr>
            <a:xfrm>
              <a:off x="15773400" y="14552676"/>
              <a:ext cx="1828800" cy="1828800"/>
            </a:xfrm>
            <a:prstGeom prst="rect">
              <a:avLst/>
            </a:prstGeom>
          </p:spPr>
        </p:pic>
      </p:grpSp>
      <p:sp>
        <p:nvSpPr>
          <p:cNvPr id="22" name="captionA"/>
          <p:cNvSpPr>
            <a:spLocks noGrp="1"/>
          </p:cNvSpPr>
          <p:nvPr>
            <p:ph idx="114" type="body" hasCustomPrompt="1"/>
          </p:nvPr>
        </p:nvSpPr>
        <p:spPr>
          <a:xfrm>
            <a:off x="11887200" y="2078431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02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[Main result: a plot from atr_plot.py at 300 dpi, legend on the plot, units on the axes.]</a:t>
            </a:r>
            <a:endParaRPr lang="en-US" sz="2400" dirty="0"/>
          </a:p>
        </p:txBody>
      </p:sp>
      <p:grpSp>
        <p:nvGrpSpPr>
          <p:cNvPr id="45" name="Figure 03"/>
          <p:cNvGrpSpPr/>
          <p:nvPr/>
        </p:nvGrpSpPr>
        <p:grpSpPr>
          <a:xfrm>
            <a:off x="22402800" y="11658600"/>
            <a:ext cx="9601200" cy="8988552"/>
            <a:chOff x="22402800" y="11658600"/>
            <a:chExt cx="9601200" cy="8988552"/>
          </a:xfrm>
        </p:grpSpPr>
        <p:sp>
          <p:nvSpPr>
            <p:cNvPr id="23" name="Figure 03 panel"/>
            <p:cNvSpPr txBox="1"/>
            <p:nvPr/>
          </p:nvSpPr>
          <p:spPr>
            <a:xfrm>
              <a:off x="22402800" y="11658600"/>
              <a:ext cx="9601200" cy="8988552"/>
            </a:xfrm>
            <a:prstGeom prst="rect">
              <a:avLst/>
            </a:prstGeom>
            <a:solidFill>
              <a:srgbClr val="F3F6FA"/>
            </a:solidFill>
            <a:ln>
              <a:solidFill>
                <a:srgbClr val="F3F6FA"/>
              </a:solidFill>
            </a:ln>
          </p:spPr>
          <p:txBody>
            <a:bodyPr wrap="square" lIns="685800" tIns="4902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4" name="Figure 03 icon" descr="Figure 03 placeholder icon; replace this panel with your figure">    </p:cNvPr>
            <p:cNvPicPr>
              <a:picLocks noChangeAspect="1"/>
            </p:cNvPicPr>
            <p:nvPr/>
          </p:nvPicPr>
          <p:blipFill>
            <a:blip r:embed="rId4"/>
            <a:stretch>
              <a:fillRect/>
            </a:stretch>
          </p:blipFill>
          <p:spPr>
            <a:xfrm>
              <a:off x="26289000" y="14552676"/>
              <a:ext cx="1828800" cy="1828800"/>
            </a:xfrm>
            <a:prstGeom prst="rect">
              <a:avLst/>
            </a:prstGeom>
          </p:spPr>
        </p:pic>
      </p:grpSp>
      <p:sp>
        <p:nvSpPr>
          <p:cNvPr id="25" name="captionB"/>
          <p:cNvSpPr>
            <a:spLocks noGrp="1"/>
          </p:cNvSpPr>
          <p:nvPr>
            <p:ph idx="115" type="body" hasCustomPrompt="1"/>
          </p:nvPr>
        </p:nvSpPr>
        <p:spPr>
          <a:xfrm>
            <a:off x="22402800" y="2078431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03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[Second result or a photo of the robot in the task; caption a concept illustration as such.]</a:t>
            </a:r>
            <a:endParaRPr lang="en-US" sz="2400" dirty="0"/>
          </a:p>
        </p:txBody>
      </p:sp>
      <p:sp>
        <p:nvSpPr>
          <p:cNvPr id="26" name="Key result callout"/>
          <p:cNvSpPr txBox="1"/>
          <p:nvPr/>
        </p:nvSpPr>
        <p:spPr>
          <a:xfrm>
            <a:off x="11887200" y="21976080"/>
            <a:ext cx="7315200" cy="7284720"/>
          </a:xfrm>
          <a:prstGeom prst="rect">
            <a:avLst/>
          </a:prstGeom>
          <a:solidFill>
            <a:srgbClr val="003976"/>
          </a:solidFill>
          <a:ln>
            <a:solidFill>
              <a:srgbClr val="003976"/>
            </a:solidFill>
          </a:ln>
        </p:spPr>
        <p:txBody>
          <a:bodyPr wrap="square" lIns="685800" tIns="685800" rIns="685800" bIns="685800" rtlCol="0" anchor="t"/>
          <a:lstStyle/>
          <a:p>
            <a:pPr algn="l" indent="0" marL="0">
              <a:lnSpc>
                <a:spcPts val="4000"/>
              </a:lnSpc>
              <a:spcAft>
                <a:spcPts val="1800"/>
              </a:spcAft>
              <a:buNone/>
            </a:pPr>
            <a:r>
              <a:rPr lang="en-US" sz="3200" b="1" spc="500" kern="0" dirty="0">
                <a:solidFill>
                  <a:srgbClr val="EFAB00"/>
                </a:solidFill>
                <a:latin typeface="Source Sans 3" pitchFamily="34" charset="0"/>
                <a:ea typeface="Source Sans 3" pitchFamily="34" charset="-122"/>
                <a:cs typeface="Source Sans 3" pitchFamily="34" charset="-120"/>
              </a:rPr>
              <a:t>KEY RESULT</a:t>
            </a:r>
            <a:endParaRPr lang="en-US" sz="3200" dirty="0"/>
          </a:p>
          <a:p>
            <a:pPr algn="l" indent="0" marL="0">
              <a:lnSpc>
                <a:spcPts val="15000"/>
              </a:lnSpc>
              <a:spcAft>
                <a:spcPts val="1400"/>
              </a:spcAft>
              <a:buNone/>
            </a:pPr>
            <a:r>
              <a:rPr lang="en-US" sz="14400" b="1" spc="-200" kern="0" dirty="0">
                <a:solidFill>
                  <a:srgbClr val="EFAB00"/>
                </a:solidFill>
                <a:latin typeface="Roboto Slab" pitchFamily="34" charset="0"/>
                <a:ea typeface="Roboto Slab" pitchFamily="34" charset="-122"/>
                <a:cs typeface="Roboto Slab" pitchFamily="34" charset="-120"/>
              </a:rPr>
              <a:t>[38%]</a:t>
            </a:r>
            <a:endParaRPr lang="en-US" sz="3200" dirty="0"/>
          </a:p>
          <a:p>
            <a:pPr algn="l" indent="0" marL="0">
              <a:lnSpc>
                <a:spcPts val="4000"/>
              </a:lnSpc>
              <a:spcAft>
                <a:spcPts val="2000"/>
              </a:spcAft>
              <a:buNone/>
            </a:pPr>
            <a:r>
              <a:rPr lang="en-US" sz="3200" dirty="0">
                <a:solidFill>
                  <a:srgbClr val="FFFFFF"/>
                </a:solidFill>
                <a:latin typeface="Source Sans 3" pitchFamily="34" charset="0"/>
                <a:ea typeface="Source Sans 3" pitchFamily="34" charset="-122"/>
                <a:cs typeface="Source Sans 3" pitchFamily="34" charset="-120"/>
              </a:rPr>
              <a:t>[What the number means: the metric, the comparison, n and the test, up to 105 characters]</a:t>
            </a:r>
            <a:endParaRPr lang="en-US" sz="3200" dirty="0"/>
          </a:p>
          <a:p>
            <a:pPr algn="l"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EXAMPLE FIGURE // REPLACE</a:t>
            </a:r>
            <a:endParaRPr lang="en-US" sz="3200" dirty="0"/>
          </a:p>
        </p:txBody>
      </p:sp>
      <p:sp>
        <p:nvSpPr>
          <p:cNvPr id="27" name="findings"/>
          <p:cNvSpPr>
            <a:spLocks noGrp="1"/>
          </p:cNvSpPr>
          <p:nvPr>
            <p:ph idx="116" type="body" hasCustomPrompt="1"/>
          </p:nvPr>
        </p:nvSpPr>
        <p:spPr>
          <a:xfrm>
            <a:off x="19888200" y="21976080"/>
            <a:ext cx="12115800" cy="65532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1: the effect, its direction and size, with the statistic, the confidence interval and 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2: the comparison the figures show, and how large the difference is in task terms]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3: robustness across participants, failure modes or timing, with the numbers]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[What did not work, why, and what it means for the next iteration of the system, up to 150 characters]</a:t>
            </a:r>
            <a:endParaRPr lang="en-US" sz="3200" dirty="0"/>
          </a:p>
        </p:txBody>
      </p:sp>
      <p:sp>
        <p:nvSpPr>
          <p:cNvPr id="28" name="source"/>
          <p:cNvSpPr>
            <a:spLocks noGrp="1"/>
          </p:cNvSpPr>
          <p:nvPr>
            <p:ph idx="117" type="body" hasCustomPrompt="1"/>
          </p:nvPr>
        </p:nvSpPr>
        <p:spPr>
          <a:xfrm>
            <a:off x="19888200" y="28803600"/>
            <a:ext cx="12115800" cy="457200"/>
          </a:xfrm>
          <a:prstGeom prst="rect">
            <a:avLst/>
          </a:prstGeom>
          <a:noFill/>
          <a:ln/>
        </p:spPr>
        <p:txBody>
          <a:bodyPr wrap="square" lIns="0" tIns="0" rIns="0" bIns="0" rtlCol="0" anchor="ct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29" name="Section plate 04"/>
          <p:cNvSpPr txBox="1"/>
          <p:nvPr/>
        </p:nvSpPr>
        <p:spPr>
          <a:xfrm>
            <a:off x="32918400" y="101955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04</a:t>
            </a:r>
            <a:endParaRPr lang="en-US" sz="6000" dirty="0"/>
          </a:p>
        </p:txBody>
      </p:sp>
      <p:sp>
        <p:nvSpPr>
          <p:cNvPr id="30" name="Section title 04"/>
          <p:cNvSpPr txBox="1"/>
          <p:nvPr/>
        </p:nvSpPr>
        <p:spPr>
          <a:xfrm>
            <a:off x="34381440" y="1019556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Conclusions</a:t>
            </a:r>
            <a:endParaRPr lang="en-US" sz="6000" dirty="0"/>
          </a:p>
        </p:txBody>
      </p:sp>
      <p:sp>
        <p:nvSpPr>
          <p:cNvPr id="31" name="conclusions"/>
          <p:cNvSpPr>
            <a:spLocks noGrp="1"/>
          </p:cNvSpPr>
          <p:nvPr>
            <p:ph idx="118" type="body" hasCustomPrompt="1"/>
          </p:nvPr>
        </p:nvSpPr>
        <p:spPr>
          <a:xfrm>
            <a:off x="32918400" y="11658600"/>
            <a:ext cx="9601200" cy="3860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1: the claim the evidence supports,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2: what it means for design or practice]</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[Limitation that bounds the claim]</a:t>
            </a:r>
            <a:endParaRPr lang="en-US" sz="3200" dirty="0"/>
          </a:p>
        </p:txBody>
      </p:sp>
      <p:sp>
        <p:nvSpPr>
          <p:cNvPr id="32" name="Section plate 05"/>
          <p:cNvSpPr txBox="1"/>
          <p:nvPr/>
        </p:nvSpPr>
        <p:spPr>
          <a:xfrm>
            <a:off x="32918400" y="1597660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05</a:t>
            </a:r>
            <a:endParaRPr lang="en-US" sz="6000" dirty="0"/>
          </a:p>
        </p:txBody>
      </p:sp>
      <p:sp>
        <p:nvSpPr>
          <p:cNvPr id="33" name="Section title 05"/>
          <p:cNvSpPr txBox="1"/>
          <p:nvPr/>
        </p:nvSpPr>
        <p:spPr>
          <a:xfrm>
            <a:off x="34381440" y="1597660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Future work</a:t>
            </a:r>
            <a:endParaRPr lang="en-US" sz="6000" dirty="0"/>
          </a:p>
        </p:txBody>
      </p:sp>
      <p:sp>
        <p:nvSpPr>
          <p:cNvPr id="34" name="future"/>
          <p:cNvSpPr>
            <a:spLocks noGrp="1"/>
          </p:cNvSpPr>
          <p:nvPr>
            <p:ph idx="119" type="body" hasCustomPrompt="1"/>
          </p:nvPr>
        </p:nvSpPr>
        <p:spPr>
          <a:xfrm>
            <a:off x="32918400" y="17439640"/>
            <a:ext cx="9601200" cy="3352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[Next experiment or system iteration]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[Open question the community should take up]</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[Dataset, code or deployment plan]</a:t>
            </a:r>
            <a:endParaRPr lang="en-US" sz="3200" dirty="0"/>
          </a:p>
        </p:txBody>
      </p:sp>
      <p:sp>
        <p:nvSpPr>
          <p:cNvPr id="35" name="Label references"/>
          <p:cNvSpPr txBox="1"/>
          <p:nvPr/>
        </p:nvSpPr>
        <p:spPr>
          <a:xfrm>
            <a:off x="32918400" y="21249640"/>
            <a:ext cx="96012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REFERENCES</a:t>
            </a:r>
            <a:endParaRPr lang="en-US" sz="2800" dirty="0"/>
          </a:p>
        </p:txBody>
      </p:sp>
      <p:sp>
        <p:nvSpPr>
          <p:cNvPr id="36" name="references"/>
          <p:cNvSpPr>
            <a:spLocks noGrp="1"/>
          </p:cNvSpPr>
          <p:nvPr>
            <p:ph idx="120" type="body" hasCustomPrompt="1"/>
          </p:nvPr>
        </p:nvSpPr>
        <p:spPr>
          <a:xfrm>
            <a:off x="32918400" y="21798280"/>
            <a:ext cx="9601200" cy="2819400"/>
          </a:xfrm>
          <a:prstGeom prst="rect">
            <a:avLst/>
          </a:prstGeom>
          <a:noFill/>
          <a:ln/>
        </p:spPr>
        <p:txBody>
          <a:bodyPr wrap="square" lIns="0" tIns="0" rIns="0" bIns="0" rtlCol="0" anchor="t"/>
          <a:lstStyle/>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[1] [A. Author, B. Author and C. Author], "[Title of the paper]," in [Proc. Conference], [City], [Year], pp. [1-8].</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[2] [A. Author and B. Author], "[Title of the article]," [Journal], vol. [N], no. [N], pp. [1-12], [Year].</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[3] [A. Author], "[Title of the paper]," in [Proc. Conference], [Year], pp. [1-6].</a:t>
            </a:r>
            <a:endParaRPr lang="en-US" sz="2400" dirty="0"/>
          </a:p>
        </p:txBody>
      </p:sp>
      <p:sp>
        <p:nvSpPr>
          <p:cNvPr id="37" name="Label acknowledgments"/>
          <p:cNvSpPr txBox="1"/>
          <p:nvPr/>
        </p:nvSpPr>
        <p:spPr>
          <a:xfrm>
            <a:off x="32918400" y="24983440"/>
            <a:ext cx="96012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ACKNOWLEDGMENTS AND FUNDING</a:t>
            </a:r>
            <a:endParaRPr lang="en-US" sz="2800" dirty="0"/>
          </a:p>
        </p:txBody>
      </p:sp>
      <p:sp>
        <p:nvSpPr>
          <p:cNvPr id="38" name="acknowledgments"/>
          <p:cNvSpPr>
            <a:spLocks noGrp="1"/>
          </p:cNvSpPr>
          <p:nvPr>
            <p:ph idx="121" type="body" hasCustomPrompt="1"/>
          </p:nvPr>
        </p:nvSpPr>
        <p:spPr>
          <a:xfrm>
            <a:off x="32918400" y="25532080"/>
            <a:ext cx="6858000" cy="3728720"/>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[Collaborators, participants and facilities.] This material is based upon work supported by the U.S. National Science Foundation under award No. [NNNNNNN]. Any opinions, findings and conclusions or recommendations expressed in this material are those of the author(s) and do not necessarily reflect the views of the U.S. National Science Foundation.</a:t>
            </a:r>
            <a:endParaRPr lang="en-US" sz="2400" dirty="0"/>
          </a:p>
        </p:txBody>
      </p:sp>
      <p:sp>
        <p:nvSpPr>
          <p:cNvPr id="39" name="Sponsor logo slot"/>
          <p:cNvSpPr txBox="1"/>
          <p:nvPr/>
        </p:nvSpPr>
        <p:spPr>
          <a:xfrm>
            <a:off x="40233600" y="25532080"/>
            <a:ext cx="2286000" cy="2286000"/>
          </a:xfrm>
          <a:prstGeom prst="rect">
            <a:avLst/>
          </a:prstGeom>
          <a:solidFill>
            <a:srgbClr val="F3F6FA"/>
          </a:solidFill>
          <a:ln>
            <a:solidFill>
              <a:srgbClr val="F3F6FA"/>
            </a:solidFill>
          </a:ln>
        </p:spPr>
        <p:txBody>
          <a:bodyPr wrap="square" lIns="0" tIns="0" rIns="0" bIns="0" rtlCol="0" anchor="ctr"/>
          <a:lstStyle/>
          <a:p>
            <a:pPr algn="ctr" indent="0" marL="0">
              <a:buNone/>
            </a:pPr>
            <a:r>
              <a:rPr lang="en-US" sz="2400" dirty="0">
                <a:solidFill>
                  <a:srgbClr val="003976"/>
                </a:solidFill>
              </a:rPr>
              <a:t>[Sponsor logo]</a:t>
            </a:r>
            <a:endParaRPr lang="en-US" sz="2400" dirty="0"/>
          </a:p>
        </p:txBody>
      </p:sp>
      <p:sp>
        <p:nvSpPr>
          <p:cNvPr id="40" name="contact"/>
          <p:cNvSpPr>
            <a:spLocks noGrp="1"/>
          </p:cNvSpPr>
          <p:nvPr>
            <p:ph idx="122" type="body" hasCustomPrompt="1"/>
          </p:nvPr>
        </p:nvSpPr>
        <p:spPr>
          <a:xfrm>
            <a:off x="1371600" y="30038040"/>
            <a:ext cx="30175200" cy="1554480"/>
          </a:xfrm>
          <a:prstGeom prst="rect">
            <a:avLst/>
          </a:prstGeom>
          <a:noFill/>
          <a:ln/>
        </p:spPr>
        <p:txBody>
          <a:bodyPr wrap="square" lIns="0" tIns="0" rIns="0" bIns="0" rtlCol="0" anchor="t"/>
          <a:lstStyle/>
          <a:p>
            <a:pPr algn="l" indent="0" marL="0">
              <a:lnSpc>
                <a:spcPts val="3800"/>
              </a:lnSpc>
              <a:spcAft>
                <a:spcPts val="600"/>
              </a:spcAft>
              <a:buNone/>
            </a:pPr>
            <a:r>
              <a:rPr lang="en-US" sz="3200" dirty="0">
                <a:solidFill>
                  <a:srgbClr val="4A5868"/>
                </a:solidFill>
                <a:latin typeface="Source Sans 3" pitchFamily="34" charset="0"/>
                <a:ea typeface="Source Sans 3" pitchFamily="34" charset="-122"/>
                <a:cs typeface="Source Sans 3" pitchFamily="34" charset="-120"/>
              </a:rPr>
              <a:t>[Presenter Name]  ·  [presenter@kent.edu]  ·  Advanced Telerobotics Research Lab, Kent State University</a:t>
            </a:r>
            <a:endParaRPr lang="en-US" sz="3200" dirty="0"/>
          </a:p>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www.atr.cs.kent.edu  ·  atrlab.kent@gmail.com  ·  github.com/ATR-Lab  ·  @atrlab_kent on X</a:t>
            </a:r>
            <a:endParaRPr lang="en-US" sz="3200" dirty="0"/>
          </a:p>
        </p:txBody>
      </p:sp>
      <p:sp>
        <p:nvSpPr>
          <p:cNvPr id="41" name="stamp"/>
          <p:cNvSpPr>
            <a:spLocks noGrp="1"/>
          </p:cNvSpPr>
          <p:nvPr>
            <p:ph idx="123" type="body" hasCustomPrompt="1"/>
          </p:nvPr>
        </p:nvSpPr>
        <p:spPr>
          <a:xfrm>
            <a:off x="32461200" y="30038040"/>
            <a:ext cx="10058400" cy="502920"/>
          </a:xfrm>
          <a:prstGeom prst="rect">
            <a:avLst/>
          </a:prstGeom>
          <a:noFill/>
          <a:ln/>
        </p:spPr>
        <p:txBody>
          <a:bodyPr wrap="square" lIns="0" tIns="0" rIns="0" bIns="0" rtlCol="0" anchor="t"/>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  [YYYY-MM-DD]</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a:spLocks noGrp="1"/>
          </p:cNvSpPr>
          <p:nvPr>
            <p:ph idx="106" type="body" hasCustomPrompt="1"/>
          </p:nvPr>
        </p:nvSpPr>
        <p:spPr>
          <a:xfrm>
            <a:off x="1371600" y="777240"/>
            <a:ext cx="25603200" cy="548640"/>
          </a:xfrm>
          <a:prstGeom prst="rect">
            <a:avLst/>
          </a:prstGeom>
          <a:noFill/>
          <a:ln/>
        </p:spPr>
        <p:txBody>
          <a:bodyPr wrap="square" lIns="0" tIns="0" rIns="0" bIns="0" rtlCol="0" anchor="ct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  [CITY]  ·  [MON. DD, YYYY]</a:t>
            </a:r>
            <a:endParaRPr lang="en-US" sz="3200" dirty="0"/>
          </a:p>
        </p:txBody>
      </p:sp>
      <p:sp>
        <p:nvSpPr>
          <p:cNvPr id="3" name="title"/>
          <p:cNvSpPr>
            <a:spLocks noGrp="1"/>
          </p:cNvSpPr>
          <p:nvPr>
            <p:ph idx="107" type="title" hasCustomPrompt="1"/>
          </p:nvPr>
        </p:nvSpPr>
        <p:spPr>
          <a:xfrm>
            <a:off x="1371600" y="1463040"/>
            <a:ext cx="25603200" cy="3352800"/>
          </a:xfrm>
          <a:prstGeom prst="rect">
            <a:avLst/>
          </a:prstGeom>
          <a:noFill/>
          <a:ln/>
        </p:spPr>
        <p:txBody>
          <a:bodyPr wrap="square" lIns="0" tIns="0" rIns="0" bIns="0" rtlCol="0" anchor="t"/>
          <a:lstStyle/>
          <a:p>
            <a:pPr algn="l" indent="0" marL="0">
              <a:lnSpc>
                <a:spcPts val="8800"/>
              </a:lnSpc>
              <a:buNone/>
            </a:pPr>
            <a:r>
              <a:rPr lang="en-US" sz="8000" b="1" dirty="0">
                <a:solidFill>
                  <a:srgbClr val="FFFFFF"/>
                </a:solidFill>
                <a:latin typeface="Source Sans 3" pitchFamily="34" charset="0"/>
                <a:ea typeface="Source Sans 3" pitchFamily="34" charset="-122"/>
                <a:cs typeface="Source Sans 3" pitchFamily="34" charset="-120"/>
              </a:rPr>
              <a:t>[Poster title on up to three lines at 80 pt: the main finding and the number behind it, 115 characters]</a:t>
            </a:r>
            <a:endParaRPr lang="en-US" sz="8000" dirty="0"/>
          </a:p>
        </p:txBody>
      </p:sp>
      <p:sp>
        <p:nvSpPr>
          <p:cNvPr id="4" name="authors"/>
          <p:cNvSpPr>
            <a:spLocks noGrp="1"/>
          </p:cNvSpPr>
          <p:nvPr>
            <p:ph idx="108" type="body" hasCustomPrompt="1"/>
          </p:nvPr>
        </p:nvSpPr>
        <p:spPr>
          <a:xfrm>
            <a:off x="1371600" y="4953000"/>
            <a:ext cx="25603200" cy="1371600"/>
          </a:xfrm>
          <a:prstGeom prst="rect">
            <a:avLst/>
          </a:prstGeom>
          <a:noFill/>
          <a:ln/>
        </p:spPr>
        <p:txBody>
          <a:bodyPr wrap="square" lIns="0" tIns="0" rIns="0" bIns="0" rtlCol="0" anchor="t"/>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[First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[Second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[Third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[Fourth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3</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[Fifth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[Sixth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and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[Faculty Mentor]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endParaRPr lang="en-US" sz="4800" dirty="0"/>
          </a:p>
        </p:txBody>
      </p:sp>
      <p:sp>
        <p:nvSpPr>
          <p:cNvPr id="5" name="affiliations"/>
          <p:cNvSpPr>
            <a:spLocks noGrp="1"/>
          </p:cNvSpPr>
          <p:nvPr>
            <p:ph idx="109" type="body" hasCustomPrompt="1"/>
          </p:nvPr>
        </p:nvSpPr>
        <p:spPr>
          <a:xfrm>
            <a:off x="1371600" y="6416040"/>
            <a:ext cx="25603200" cy="1493520"/>
          </a:xfrm>
          <a:prstGeom prst="rect">
            <a:avLst/>
          </a:prstGeom>
          <a:noFill/>
          <a:ln/>
        </p:spPr>
        <p:txBody>
          <a:bodyPr wrap="square" lIns="0" tIns="0" rIns="0" bIns="0" rtlCol="0" anchor="t"/>
          <a:lstStyle/>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1</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Advanced Telerobotics Research Lab, Department of Computer Science, Kent State University, Kent, OH, USA</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2</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[Second affiliation: department, university, city, state, country]</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3</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[Third affiliation, if any]</a:t>
            </a:r>
            <a:endParaRPr lang="en-US" sz="3200" dirty="0"/>
          </a:p>
        </p:txBody>
      </p:sp>
      <p:grpSp>
        <p:nvGrpSpPr>
          <p:cNvPr id="42" name="QR code"/>
          <p:cNvGrpSpPr/>
          <p:nvPr/>
        </p:nvGrpSpPr>
        <p:grpSpPr>
          <a:xfrm>
            <a:off x="36168755" y="3127248"/>
            <a:ext cx="2980944" cy="3319272"/>
            <a:chOff x="36168755" y="3127248"/>
            <a:chExt cx="2980944" cy="3319272"/>
          </a:xfrm>
        </p:grpSpPr>
        <p:sp>
          <p:nvSpPr>
            <p:cNvPr id="6" name="QR code label"/>
            <p:cNvSpPr txBox="1"/>
            <p:nvPr/>
          </p:nvSpPr>
          <p:spPr>
            <a:xfrm>
              <a:off x="36168755" y="5669280"/>
              <a:ext cx="2980944" cy="777240"/>
            </a:xfrm>
            <a:prstGeom prst="rect">
              <a:avLst/>
            </a:prstGeom>
            <a:noFill/>
            <a:ln/>
          </p:spPr>
          <p:txBody>
            <a:bodyPr wrap="square" lIns="0" tIns="0" rIns="0" bIns="0" rtlCol="0" anchor="t"/>
            <a:lstStyle/>
            <a:p>
              <a:pPr algn="ct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SCAN FOR</a:t>
              </a:r>
              <a:endParaRPr lang="en-US" sz="2400" dirty="0"/>
            </a:p>
            <a:p>
              <a:pPr algn="ct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[THE PAPER]</a:t>
              </a:r>
              <a:endParaRPr lang="en-US" sz="2400" dirty="0"/>
            </a:p>
          </p:txBody>
        </p:sp>
        <p:pic>
          <p:nvPicPr>
            <p:cNvPr id="7" name="QR code image" descr="QR code linking to the ATR Lab website, www.atr.cs.kent.edu">    </p:cNvPr>
            <p:cNvPicPr>
              <a:picLocks noChangeAspect="1"/>
            </p:cNvPicPr>
            <p:nvPr/>
          </p:nvPicPr>
          <p:blipFill>
            <a:blip r:embed="rId1"/>
            <a:stretch>
              <a:fillRect/>
            </a:stretch>
          </p:blipFill>
          <p:spPr>
            <a:xfrm>
              <a:off x="36443075" y="3127248"/>
              <a:ext cx="2432304" cy="2432304"/>
            </a:xfrm>
            <a:prstGeom prst="rect">
              <a:avLst/>
            </a:prstGeom>
          </p:spPr>
        </p:pic>
      </p:grpSp>
      <p:sp>
        <p:nvSpPr>
          <p:cNvPr id="8" name="Section plate 01"/>
          <p:cNvSpPr txBox="1"/>
          <p:nvPr/>
        </p:nvSpPr>
        <p:spPr>
          <a:xfrm>
            <a:off x="1371600" y="101955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01</a:t>
            </a:r>
            <a:endParaRPr lang="en-US" sz="6000" dirty="0"/>
          </a:p>
        </p:txBody>
      </p:sp>
      <p:sp>
        <p:nvSpPr>
          <p:cNvPr id="9" name="Section title 01"/>
          <p:cNvSpPr txBox="1"/>
          <p:nvPr/>
        </p:nvSpPr>
        <p:spPr>
          <a:xfrm>
            <a:off x="2834640" y="1019556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Motivation</a:t>
            </a:r>
            <a:endParaRPr lang="en-US" sz="6000" dirty="0"/>
          </a:p>
        </p:txBody>
      </p:sp>
      <p:sp>
        <p:nvSpPr>
          <p:cNvPr id="10" name="lead"/>
          <p:cNvSpPr>
            <a:spLocks noGrp="1"/>
          </p:cNvSpPr>
          <p:nvPr>
            <p:ph idx="110" type="body" hasCustomPrompt="1"/>
          </p:nvPr>
        </p:nvSpPr>
        <p:spPr>
          <a:xfrm>
            <a:off x="1371600" y="11658600"/>
            <a:ext cx="9601200" cy="2032000"/>
          </a:xfrm>
          <a:prstGeom prst="rect">
            <a:avLst/>
          </a:prstGeom>
          <a:noFill/>
          <a:ln/>
        </p:spPr>
        <p:txBody>
          <a:bodyPr wrap="square" lIns="0" tIns="0" rIns="0" bIns="0" rtlCol="0" anchor="t"/>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[One sentence on the problem and why it matters for telepresence, tele-embodiment or Physical AI, up to 150 characters.]</a:t>
            </a:r>
            <a:endParaRPr lang="en-US" sz="3200" dirty="0"/>
          </a:p>
        </p:txBody>
      </p:sp>
      <p:sp>
        <p:nvSpPr>
          <p:cNvPr id="11" name="paragraph"/>
          <p:cNvSpPr>
            <a:spLocks noGrp="1"/>
          </p:cNvSpPr>
          <p:nvPr>
            <p:ph idx="111" type="body" hasCustomPrompt="1"/>
          </p:nvPr>
        </p:nvSpPr>
        <p:spPr>
          <a:xfrm>
            <a:off x="1371600" y="13964920"/>
            <a:ext cx="9601200" cy="3048000"/>
          </a:xfrm>
          <a:prstGeom prst="rect">
            <a:avLst/>
          </a:prstGeom>
          <a:noFill/>
          <a:ln/>
        </p:spPr>
        <p:txBody>
          <a:bodyPr wrap="square" lIns="0" tIns="0" rIns="0" bIns="0" rtlCol="0" anchor="t"/>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or three sentences of context, up to 260 characters: the gap in prior work, the setting and the research question. Keep about one fifth of the poster as text and let the figures carry the argument.]</a:t>
            </a:r>
            <a:endParaRPr lang="en-US" sz="3200" dirty="0"/>
          </a:p>
        </p:txBody>
      </p:sp>
      <p:sp>
        <p:nvSpPr>
          <p:cNvPr id="12" name="Section plate 02"/>
          <p:cNvSpPr txBox="1"/>
          <p:nvPr/>
        </p:nvSpPr>
        <p:spPr>
          <a:xfrm>
            <a:off x="1371600" y="1747012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02</a:t>
            </a:r>
            <a:endParaRPr lang="en-US" sz="6000" dirty="0"/>
          </a:p>
        </p:txBody>
      </p:sp>
      <p:sp>
        <p:nvSpPr>
          <p:cNvPr id="13" name="Section title 02"/>
          <p:cNvSpPr txBox="1"/>
          <p:nvPr/>
        </p:nvSpPr>
        <p:spPr>
          <a:xfrm>
            <a:off x="2834640" y="1747012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Approach</a:t>
            </a:r>
            <a:endParaRPr lang="en-US" sz="6000" dirty="0"/>
          </a:p>
        </p:txBody>
      </p:sp>
      <p:sp>
        <p:nvSpPr>
          <p:cNvPr id="14" name="approach"/>
          <p:cNvSpPr>
            <a:spLocks noGrp="1"/>
          </p:cNvSpPr>
          <p:nvPr>
            <p:ph idx="112" type="body" hasCustomPrompt="1"/>
          </p:nvPr>
        </p:nvSpPr>
        <p:spPr>
          <a:xfrm>
            <a:off x="1371600" y="18933160"/>
            <a:ext cx="9601200" cy="4368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[System or method: what was built and how it works,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[Study design: participants, tasks, conditions and measures]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[Analysis: statistics, models or metrics used]</a:t>
            </a:r>
            <a:endParaRPr lang="en-US" sz="3200" dirty="0"/>
          </a:p>
        </p:txBody>
      </p:sp>
      <p:grpSp>
        <p:nvGrpSpPr>
          <p:cNvPr id="43" name="Figure 01"/>
          <p:cNvGrpSpPr/>
          <p:nvPr/>
        </p:nvGrpSpPr>
        <p:grpSpPr>
          <a:xfrm>
            <a:off x="1371600" y="23576280"/>
            <a:ext cx="9601200" cy="4721352"/>
            <a:chOff x="1371600" y="23576280"/>
            <a:chExt cx="9601200" cy="4721352"/>
          </a:xfrm>
        </p:grpSpPr>
        <p:sp>
          <p:nvSpPr>
            <p:cNvPr id="15" name="Figure 01 panel"/>
            <p:cNvSpPr txBox="1"/>
            <p:nvPr/>
          </p:nvSpPr>
          <p:spPr>
            <a:xfrm>
              <a:off x="1371600" y="23576280"/>
              <a:ext cx="9601200" cy="4721352"/>
            </a:xfrm>
            <a:prstGeom prst="rect">
              <a:avLst/>
            </a:prstGeom>
            <a:solidFill>
              <a:srgbClr val="F3F6FA"/>
            </a:solidFill>
            <a:ln>
              <a:solidFill>
                <a:srgbClr val="F3F6FA"/>
              </a:solidFill>
            </a:ln>
          </p:spPr>
          <p:txBody>
            <a:bodyPr wrap="square" lIns="685800" tIns="27686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6" name="Figure 01 icon" descr="Figure 01 placeholder icon; replace this panel with your figure">    </p:cNvPr>
            <p:cNvPicPr>
              <a:picLocks noChangeAspect="1"/>
            </p:cNvPicPr>
            <p:nvPr/>
          </p:nvPicPr>
          <p:blipFill>
            <a:blip r:embed="rId2"/>
            <a:stretch>
              <a:fillRect/>
            </a:stretch>
          </p:blipFill>
          <p:spPr>
            <a:xfrm>
              <a:off x="5257800" y="24336756"/>
              <a:ext cx="1828800" cy="1828800"/>
            </a:xfrm>
            <a:prstGeom prst="rect">
              <a:avLst/>
            </a:prstGeom>
          </p:spPr>
        </p:pic>
      </p:grpSp>
      <p:sp>
        <p:nvSpPr>
          <p:cNvPr id="17" name="caption1"/>
          <p:cNvSpPr>
            <a:spLocks noGrp="1"/>
          </p:cNvSpPr>
          <p:nvPr>
            <p:ph idx="113" type="body" hasCustomPrompt="1"/>
          </p:nvPr>
        </p:nvSpPr>
        <p:spPr>
          <a:xfrm>
            <a:off x="1371600" y="2843479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01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[System overview: replace with an architecture diagram or a labeled photo of the setup.]</a:t>
            </a:r>
            <a:endParaRPr lang="en-US" sz="2400" dirty="0"/>
          </a:p>
        </p:txBody>
      </p:sp>
      <p:sp>
        <p:nvSpPr>
          <p:cNvPr id="18" name="Section plate 03"/>
          <p:cNvSpPr txBox="1"/>
          <p:nvPr/>
        </p:nvSpPr>
        <p:spPr>
          <a:xfrm>
            <a:off x="11887200" y="101955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03</a:t>
            </a:r>
            <a:endParaRPr lang="en-US" sz="6000" dirty="0"/>
          </a:p>
        </p:txBody>
      </p:sp>
      <p:sp>
        <p:nvSpPr>
          <p:cNvPr id="19" name="Section title 03"/>
          <p:cNvSpPr txBox="1"/>
          <p:nvPr/>
        </p:nvSpPr>
        <p:spPr>
          <a:xfrm>
            <a:off x="13350240" y="10195560"/>
            <a:ext cx="18653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Results</a:t>
            </a:r>
            <a:endParaRPr lang="en-US" sz="6000" dirty="0"/>
          </a:p>
        </p:txBody>
      </p:sp>
      <p:grpSp>
        <p:nvGrpSpPr>
          <p:cNvPr id="44" name="Figure 02"/>
          <p:cNvGrpSpPr/>
          <p:nvPr/>
        </p:nvGrpSpPr>
        <p:grpSpPr>
          <a:xfrm>
            <a:off x="11887200" y="11658600"/>
            <a:ext cx="9601200" cy="8988552"/>
            <a:chOff x="11887200" y="11658600"/>
            <a:chExt cx="9601200" cy="8988552"/>
          </a:xfrm>
        </p:grpSpPr>
        <p:sp>
          <p:nvSpPr>
            <p:cNvPr id="20" name="Figure 02 panel"/>
            <p:cNvSpPr txBox="1"/>
            <p:nvPr/>
          </p:nvSpPr>
          <p:spPr>
            <a:xfrm>
              <a:off x="11887200" y="11658600"/>
              <a:ext cx="9601200" cy="8988552"/>
            </a:xfrm>
            <a:prstGeom prst="rect">
              <a:avLst/>
            </a:prstGeom>
            <a:solidFill>
              <a:srgbClr val="F3F6FA"/>
            </a:solidFill>
            <a:ln>
              <a:solidFill>
                <a:srgbClr val="F3F6FA"/>
              </a:solidFill>
            </a:ln>
          </p:spPr>
          <p:txBody>
            <a:bodyPr wrap="square" lIns="685800" tIns="4902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1" name="Figure 02 icon" descr="Figure 02 placeholder icon; replace this panel with your figure">    </p:cNvPr>
            <p:cNvPicPr>
              <a:picLocks noChangeAspect="1"/>
            </p:cNvPicPr>
            <p:nvPr/>
          </p:nvPicPr>
          <p:blipFill>
            <a:blip r:embed="rId3"/>
            <a:stretch>
              <a:fillRect/>
            </a:stretch>
          </p:blipFill>
          <p:spPr>
            <a:xfrm>
              <a:off x="15773400" y="14552676"/>
              <a:ext cx="1828800" cy="1828800"/>
            </a:xfrm>
            <a:prstGeom prst="rect">
              <a:avLst/>
            </a:prstGeom>
          </p:spPr>
        </p:pic>
      </p:grpSp>
      <p:sp>
        <p:nvSpPr>
          <p:cNvPr id="22" name="captionA"/>
          <p:cNvSpPr>
            <a:spLocks noGrp="1"/>
          </p:cNvSpPr>
          <p:nvPr>
            <p:ph idx="114" type="body" hasCustomPrompt="1"/>
          </p:nvPr>
        </p:nvSpPr>
        <p:spPr>
          <a:xfrm>
            <a:off x="11887200" y="2078431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02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[Main result: a plot from atr_plot.py at 300 dpi, legend on the plot, units on the axes.]</a:t>
            </a:r>
            <a:endParaRPr lang="en-US" sz="2400" dirty="0"/>
          </a:p>
        </p:txBody>
      </p:sp>
      <p:grpSp>
        <p:nvGrpSpPr>
          <p:cNvPr id="45" name="Figure 03"/>
          <p:cNvGrpSpPr/>
          <p:nvPr/>
        </p:nvGrpSpPr>
        <p:grpSpPr>
          <a:xfrm>
            <a:off x="22402800" y="11658600"/>
            <a:ext cx="9601200" cy="8988552"/>
            <a:chOff x="22402800" y="11658600"/>
            <a:chExt cx="9601200" cy="8988552"/>
          </a:xfrm>
        </p:grpSpPr>
        <p:sp>
          <p:nvSpPr>
            <p:cNvPr id="23" name="Figure 03 panel"/>
            <p:cNvSpPr txBox="1"/>
            <p:nvPr/>
          </p:nvSpPr>
          <p:spPr>
            <a:xfrm>
              <a:off x="22402800" y="11658600"/>
              <a:ext cx="9601200" cy="8988552"/>
            </a:xfrm>
            <a:prstGeom prst="rect">
              <a:avLst/>
            </a:prstGeom>
            <a:solidFill>
              <a:srgbClr val="F3F6FA"/>
            </a:solidFill>
            <a:ln>
              <a:solidFill>
                <a:srgbClr val="F3F6FA"/>
              </a:solidFill>
            </a:ln>
          </p:spPr>
          <p:txBody>
            <a:bodyPr wrap="square" lIns="685800" tIns="4902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4" name="Figure 03 icon" descr="Figure 03 placeholder icon; replace this panel with your figure">    </p:cNvPr>
            <p:cNvPicPr>
              <a:picLocks noChangeAspect="1"/>
            </p:cNvPicPr>
            <p:nvPr/>
          </p:nvPicPr>
          <p:blipFill>
            <a:blip r:embed="rId4"/>
            <a:stretch>
              <a:fillRect/>
            </a:stretch>
          </p:blipFill>
          <p:spPr>
            <a:xfrm>
              <a:off x="26289000" y="14552676"/>
              <a:ext cx="1828800" cy="1828800"/>
            </a:xfrm>
            <a:prstGeom prst="rect">
              <a:avLst/>
            </a:prstGeom>
          </p:spPr>
        </p:pic>
      </p:grpSp>
      <p:sp>
        <p:nvSpPr>
          <p:cNvPr id="25" name="captionB"/>
          <p:cNvSpPr>
            <a:spLocks noGrp="1"/>
          </p:cNvSpPr>
          <p:nvPr>
            <p:ph idx="115" type="body" hasCustomPrompt="1"/>
          </p:nvPr>
        </p:nvSpPr>
        <p:spPr>
          <a:xfrm>
            <a:off x="22402800" y="2078431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03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[Second result or a photo of the robot in the task; caption a concept illustration as such.]</a:t>
            </a:r>
            <a:endParaRPr lang="en-US" sz="2400" dirty="0"/>
          </a:p>
        </p:txBody>
      </p:sp>
      <p:sp>
        <p:nvSpPr>
          <p:cNvPr id="26" name="Key result callout"/>
          <p:cNvSpPr txBox="1"/>
          <p:nvPr/>
        </p:nvSpPr>
        <p:spPr>
          <a:xfrm>
            <a:off x="11887200" y="21976080"/>
            <a:ext cx="7315200" cy="7284720"/>
          </a:xfrm>
          <a:prstGeom prst="rect">
            <a:avLst/>
          </a:prstGeom>
          <a:solidFill>
            <a:srgbClr val="003976"/>
          </a:solidFill>
          <a:ln>
            <a:solidFill>
              <a:srgbClr val="003976"/>
            </a:solidFill>
          </a:ln>
        </p:spPr>
        <p:txBody>
          <a:bodyPr wrap="square" lIns="685800" tIns="685800" rIns="685800" bIns="685800" rtlCol="0" anchor="t"/>
          <a:lstStyle/>
          <a:p>
            <a:pPr algn="l" indent="0" marL="0">
              <a:lnSpc>
                <a:spcPts val="4000"/>
              </a:lnSpc>
              <a:spcAft>
                <a:spcPts val="1800"/>
              </a:spcAft>
              <a:buNone/>
            </a:pPr>
            <a:r>
              <a:rPr lang="en-US" sz="3200" b="1" spc="500" kern="0" dirty="0">
                <a:solidFill>
                  <a:srgbClr val="EFAB00"/>
                </a:solidFill>
                <a:latin typeface="Source Sans 3" pitchFamily="34" charset="0"/>
                <a:ea typeface="Source Sans 3" pitchFamily="34" charset="-122"/>
                <a:cs typeface="Source Sans 3" pitchFamily="34" charset="-120"/>
              </a:rPr>
              <a:t>KEY RESULT</a:t>
            </a:r>
            <a:endParaRPr lang="en-US" sz="3200" dirty="0"/>
          </a:p>
          <a:p>
            <a:pPr algn="l" indent="0" marL="0">
              <a:lnSpc>
                <a:spcPts val="15000"/>
              </a:lnSpc>
              <a:spcAft>
                <a:spcPts val="1400"/>
              </a:spcAft>
              <a:buNone/>
            </a:pPr>
            <a:r>
              <a:rPr lang="en-US" sz="14400" b="1" spc="-200" kern="0" dirty="0">
                <a:solidFill>
                  <a:srgbClr val="EFAB00"/>
                </a:solidFill>
                <a:latin typeface="Roboto Slab" pitchFamily="34" charset="0"/>
                <a:ea typeface="Roboto Slab" pitchFamily="34" charset="-122"/>
                <a:cs typeface="Roboto Slab" pitchFamily="34" charset="-120"/>
              </a:rPr>
              <a:t>[38%]</a:t>
            </a:r>
            <a:endParaRPr lang="en-US" sz="3200" dirty="0"/>
          </a:p>
          <a:p>
            <a:pPr algn="l" indent="0" marL="0">
              <a:lnSpc>
                <a:spcPts val="4000"/>
              </a:lnSpc>
              <a:spcAft>
                <a:spcPts val="2000"/>
              </a:spcAft>
              <a:buNone/>
            </a:pPr>
            <a:r>
              <a:rPr lang="en-US" sz="3200" dirty="0">
                <a:solidFill>
                  <a:srgbClr val="FFFFFF"/>
                </a:solidFill>
                <a:latin typeface="Source Sans 3" pitchFamily="34" charset="0"/>
                <a:ea typeface="Source Sans 3" pitchFamily="34" charset="-122"/>
                <a:cs typeface="Source Sans 3" pitchFamily="34" charset="-120"/>
              </a:rPr>
              <a:t>[What the number means: the metric, the comparison, n and the test, up to 105 characters]</a:t>
            </a:r>
            <a:endParaRPr lang="en-US" sz="3200" dirty="0"/>
          </a:p>
          <a:p>
            <a:pPr algn="l"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EXAMPLE FIGURE // REPLACE</a:t>
            </a:r>
            <a:endParaRPr lang="en-US" sz="3200" dirty="0"/>
          </a:p>
        </p:txBody>
      </p:sp>
      <p:sp>
        <p:nvSpPr>
          <p:cNvPr id="27" name="findings"/>
          <p:cNvSpPr>
            <a:spLocks noGrp="1"/>
          </p:cNvSpPr>
          <p:nvPr>
            <p:ph idx="116" type="body" hasCustomPrompt="1"/>
          </p:nvPr>
        </p:nvSpPr>
        <p:spPr>
          <a:xfrm>
            <a:off x="19888200" y="21976080"/>
            <a:ext cx="12115800" cy="65532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1: the effect, its direction and size, with the statistic, the confidence interval and 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2: the comparison the figures show, and how large the difference is in task terms]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3: robustness across participants, failure modes or timing, with the numbers]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[What did not work, why, and what it means for the next iteration of the system, up to 150 characters]</a:t>
            </a:r>
            <a:endParaRPr lang="en-US" sz="3200" dirty="0"/>
          </a:p>
        </p:txBody>
      </p:sp>
      <p:sp>
        <p:nvSpPr>
          <p:cNvPr id="28" name="source"/>
          <p:cNvSpPr>
            <a:spLocks noGrp="1"/>
          </p:cNvSpPr>
          <p:nvPr>
            <p:ph idx="117" type="body" hasCustomPrompt="1"/>
          </p:nvPr>
        </p:nvSpPr>
        <p:spPr>
          <a:xfrm>
            <a:off x="19888200" y="28803600"/>
            <a:ext cx="12115800" cy="457200"/>
          </a:xfrm>
          <a:prstGeom prst="rect">
            <a:avLst/>
          </a:prstGeom>
          <a:noFill/>
          <a:ln/>
        </p:spPr>
        <p:txBody>
          <a:bodyPr wrap="square" lIns="0" tIns="0" rIns="0" bIns="0" rtlCol="0" anchor="ct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29" name="Section plate 04"/>
          <p:cNvSpPr txBox="1"/>
          <p:nvPr/>
        </p:nvSpPr>
        <p:spPr>
          <a:xfrm>
            <a:off x="32918400" y="1019556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04</a:t>
            </a:r>
            <a:endParaRPr lang="en-US" sz="6000" dirty="0"/>
          </a:p>
        </p:txBody>
      </p:sp>
      <p:sp>
        <p:nvSpPr>
          <p:cNvPr id="30" name="Section title 04"/>
          <p:cNvSpPr txBox="1"/>
          <p:nvPr/>
        </p:nvSpPr>
        <p:spPr>
          <a:xfrm>
            <a:off x="34381440" y="1019556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Conclusions</a:t>
            </a:r>
            <a:endParaRPr lang="en-US" sz="6000" dirty="0"/>
          </a:p>
        </p:txBody>
      </p:sp>
      <p:sp>
        <p:nvSpPr>
          <p:cNvPr id="31" name="conclusions"/>
          <p:cNvSpPr>
            <a:spLocks noGrp="1"/>
          </p:cNvSpPr>
          <p:nvPr>
            <p:ph idx="118" type="body" hasCustomPrompt="1"/>
          </p:nvPr>
        </p:nvSpPr>
        <p:spPr>
          <a:xfrm>
            <a:off x="32918400" y="11658600"/>
            <a:ext cx="9601200" cy="3860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1: the claim the evidence supports,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2: what it means for design or practice]</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[Limitation that bounds the claim]</a:t>
            </a:r>
            <a:endParaRPr lang="en-US" sz="3200" dirty="0"/>
          </a:p>
        </p:txBody>
      </p:sp>
      <p:sp>
        <p:nvSpPr>
          <p:cNvPr id="32" name="Section plate 05"/>
          <p:cNvSpPr txBox="1"/>
          <p:nvPr/>
        </p:nvSpPr>
        <p:spPr>
          <a:xfrm>
            <a:off x="32918400" y="15976600"/>
            <a:ext cx="1097280" cy="1097280"/>
          </a:xfrm>
          <a:prstGeom prst="rect">
            <a:avLst/>
          </a:prstGeom>
          <a:solidFill>
            <a:srgbClr val="003976"/>
          </a:solidFill>
          <a:ln>
            <a:solidFill>
              <a:srgbClr val="003976"/>
            </a:solidFill>
          </a:ln>
        </p:spPr>
        <p:txBody>
          <a:bodyPr wrap="square" lIns="0" tIns="0" rIns="0" bIns="0" rtlCol="0" anchor="ctr"/>
          <a:lstStyle/>
          <a:p>
            <a:pPr algn="ctr" indent="0" marL="0">
              <a:buNone/>
            </a:pPr>
            <a:r>
              <a:rPr lang="en-US" sz="6000" b="1" dirty="0">
                <a:solidFill>
                  <a:srgbClr val="EFAB00"/>
                </a:solidFill>
                <a:latin typeface="Roboto Slab" pitchFamily="34" charset="0"/>
                <a:ea typeface="Roboto Slab" pitchFamily="34" charset="-122"/>
                <a:cs typeface="Roboto Slab" pitchFamily="34" charset="-120"/>
              </a:rPr>
              <a:t>05</a:t>
            </a:r>
            <a:endParaRPr lang="en-US" sz="6000" dirty="0"/>
          </a:p>
        </p:txBody>
      </p:sp>
      <p:sp>
        <p:nvSpPr>
          <p:cNvPr id="33" name="Section title 05"/>
          <p:cNvSpPr txBox="1"/>
          <p:nvPr/>
        </p:nvSpPr>
        <p:spPr>
          <a:xfrm>
            <a:off x="34381440" y="1597660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Future work</a:t>
            </a:r>
            <a:endParaRPr lang="en-US" sz="6000" dirty="0"/>
          </a:p>
        </p:txBody>
      </p:sp>
      <p:sp>
        <p:nvSpPr>
          <p:cNvPr id="34" name="future"/>
          <p:cNvSpPr>
            <a:spLocks noGrp="1"/>
          </p:cNvSpPr>
          <p:nvPr>
            <p:ph idx="119" type="body" hasCustomPrompt="1"/>
          </p:nvPr>
        </p:nvSpPr>
        <p:spPr>
          <a:xfrm>
            <a:off x="32918400" y="17439640"/>
            <a:ext cx="9601200" cy="3352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[Next experiment or system iteration]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[Open question the community should take up]</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[Dataset, code or deployment plan]</a:t>
            </a:r>
            <a:endParaRPr lang="en-US" sz="3200" dirty="0"/>
          </a:p>
        </p:txBody>
      </p:sp>
      <p:sp>
        <p:nvSpPr>
          <p:cNvPr id="35" name="Label references"/>
          <p:cNvSpPr txBox="1"/>
          <p:nvPr/>
        </p:nvSpPr>
        <p:spPr>
          <a:xfrm>
            <a:off x="32918400" y="21249640"/>
            <a:ext cx="96012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REFERENCES</a:t>
            </a:r>
            <a:endParaRPr lang="en-US" sz="2800" dirty="0"/>
          </a:p>
        </p:txBody>
      </p:sp>
      <p:sp>
        <p:nvSpPr>
          <p:cNvPr id="36" name="references"/>
          <p:cNvSpPr>
            <a:spLocks noGrp="1"/>
          </p:cNvSpPr>
          <p:nvPr>
            <p:ph idx="120" type="body" hasCustomPrompt="1"/>
          </p:nvPr>
        </p:nvSpPr>
        <p:spPr>
          <a:xfrm>
            <a:off x="32918400" y="21798280"/>
            <a:ext cx="9601200" cy="2819400"/>
          </a:xfrm>
          <a:prstGeom prst="rect">
            <a:avLst/>
          </a:prstGeom>
          <a:noFill/>
          <a:ln/>
        </p:spPr>
        <p:txBody>
          <a:bodyPr wrap="square" lIns="0" tIns="0" rIns="0" bIns="0" rtlCol="0" anchor="t"/>
          <a:lstStyle/>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[1] [A. Author, B. Author and C. Author], "[Title of the paper]," in [Proc. Conference], [City], [Year], pp. [1-8].</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[2] [A. Author and B. Author], "[Title of the article]," [Journal], vol. [N], no. [N], pp. [1-12], [Year].</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[3] [A. Author], "[Title of the paper]," in [Proc. Conference], [Year], pp. [1-6].</a:t>
            </a:r>
            <a:endParaRPr lang="en-US" sz="2400" dirty="0"/>
          </a:p>
        </p:txBody>
      </p:sp>
      <p:sp>
        <p:nvSpPr>
          <p:cNvPr id="37" name="Label acknowledgments"/>
          <p:cNvSpPr txBox="1"/>
          <p:nvPr/>
        </p:nvSpPr>
        <p:spPr>
          <a:xfrm>
            <a:off x="32918400" y="24983440"/>
            <a:ext cx="96012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ACKNOWLEDGMENTS AND FUNDING</a:t>
            </a:r>
            <a:endParaRPr lang="en-US" sz="2800" dirty="0"/>
          </a:p>
        </p:txBody>
      </p:sp>
      <p:sp>
        <p:nvSpPr>
          <p:cNvPr id="38" name="acknowledgments"/>
          <p:cNvSpPr>
            <a:spLocks noGrp="1"/>
          </p:cNvSpPr>
          <p:nvPr>
            <p:ph idx="121" type="body" hasCustomPrompt="1"/>
          </p:nvPr>
        </p:nvSpPr>
        <p:spPr>
          <a:xfrm>
            <a:off x="32918400" y="25532080"/>
            <a:ext cx="6858000" cy="3728720"/>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[Collaborators, participants and facilities.] This material is based upon work supported by the U.S. National Science Foundation under award No. [NNNNNNN]. Any opinions, findings and conclusions or recommendations expressed in this material are those of the author(s) and do not necessarily reflect the views of the U.S. National Science Foundation.</a:t>
            </a:r>
            <a:endParaRPr lang="en-US" sz="2400" dirty="0"/>
          </a:p>
        </p:txBody>
      </p:sp>
      <p:sp>
        <p:nvSpPr>
          <p:cNvPr id="39" name="Sponsor logo slot"/>
          <p:cNvSpPr txBox="1"/>
          <p:nvPr/>
        </p:nvSpPr>
        <p:spPr>
          <a:xfrm>
            <a:off x="40233600" y="25532080"/>
            <a:ext cx="2286000" cy="2286000"/>
          </a:xfrm>
          <a:prstGeom prst="rect">
            <a:avLst/>
          </a:prstGeom>
          <a:solidFill>
            <a:srgbClr val="F3F6FA"/>
          </a:solidFill>
          <a:ln>
            <a:solidFill>
              <a:srgbClr val="F3F6FA"/>
            </a:solidFill>
          </a:ln>
        </p:spPr>
        <p:txBody>
          <a:bodyPr wrap="square" lIns="0" tIns="0" rIns="0" bIns="0" rtlCol="0" anchor="ctr"/>
          <a:lstStyle/>
          <a:p>
            <a:pPr algn="ctr" indent="0" marL="0">
              <a:buNone/>
            </a:pPr>
            <a:r>
              <a:rPr lang="en-US" sz="2400" dirty="0">
                <a:solidFill>
                  <a:srgbClr val="003976"/>
                </a:solidFill>
              </a:rPr>
              <a:t>[Sponsor logo]</a:t>
            </a:r>
            <a:endParaRPr lang="en-US" sz="2400" dirty="0"/>
          </a:p>
        </p:txBody>
      </p:sp>
      <p:sp>
        <p:nvSpPr>
          <p:cNvPr id="40" name="contact"/>
          <p:cNvSpPr>
            <a:spLocks noGrp="1"/>
          </p:cNvSpPr>
          <p:nvPr>
            <p:ph idx="122" type="body" hasCustomPrompt="1"/>
          </p:nvPr>
        </p:nvSpPr>
        <p:spPr>
          <a:xfrm>
            <a:off x="1371600" y="30038040"/>
            <a:ext cx="30175200" cy="1554480"/>
          </a:xfrm>
          <a:prstGeom prst="rect">
            <a:avLst/>
          </a:prstGeom>
          <a:noFill/>
          <a:ln/>
        </p:spPr>
        <p:txBody>
          <a:bodyPr wrap="square" lIns="0" tIns="0" rIns="0" bIns="0" rtlCol="0" anchor="t"/>
          <a:lstStyle/>
          <a:p>
            <a:pPr algn="l" indent="0" marL="0">
              <a:lnSpc>
                <a:spcPts val="3800"/>
              </a:lnSpc>
              <a:spcAft>
                <a:spcPts val="600"/>
              </a:spcAft>
              <a:buNone/>
            </a:pPr>
            <a:r>
              <a:rPr lang="en-US" sz="3200" dirty="0">
                <a:solidFill>
                  <a:srgbClr val="4A5868"/>
                </a:solidFill>
                <a:latin typeface="Source Sans 3" pitchFamily="34" charset="0"/>
                <a:ea typeface="Source Sans 3" pitchFamily="34" charset="-122"/>
                <a:cs typeface="Source Sans 3" pitchFamily="34" charset="-120"/>
              </a:rPr>
              <a:t>[Presenter Name]  ·  [presenter@kent.edu]  ·  Advanced Telerobotics Research Lab, Kent State University</a:t>
            </a:r>
            <a:endParaRPr lang="en-US" sz="3200" dirty="0"/>
          </a:p>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www.atr.cs.kent.edu  ·  atrlab.kent@gmail.com  ·  github.com/ATR-Lab  ·  @atrlab_kent on X</a:t>
            </a:r>
            <a:endParaRPr lang="en-US" sz="3200" dirty="0"/>
          </a:p>
        </p:txBody>
      </p:sp>
      <p:sp>
        <p:nvSpPr>
          <p:cNvPr id="41" name="stamp"/>
          <p:cNvSpPr>
            <a:spLocks noGrp="1"/>
          </p:cNvSpPr>
          <p:nvPr>
            <p:ph idx="123" type="body" hasCustomPrompt="1"/>
          </p:nvPr>
        </p:nvSpPr>
        <p:spPr>
          <a:xfrm>
            <a:off x="32461200" y="30038040"/>
            <a:ext cx="10058400" cy="502920"/>
          </a:xfrm>
          <a:prstGeom prst="rect">
            <a:avLst/>
          </a:prstGeom>
          <a:noFill/>
          <a:ln/>
        </p:spPr>
        <p:txBody>
          <a:bodyPr wrap="square" lIns="0" tIns="0" rIns="0" bIns="0" rtlCol="0" anchor="t"/>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  [YYYY-MM-DD]</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a:spLocks noGrp="1"/>
          </p:cNvSpPr>
          <p:nvPr>
            <p:ph idx="106" type="body" hasCustomPrompt="1"/>
          </p:nvPr>
        </p:nvSpPr>
        <p:spPr>
          <a:xfrm>
            <a:off x="1371600" y="1717040"/>
            <a:ext cx="25603200" cy="548640"/>
          </a:xfrm>
          <a:prstGeom prst="rect">
            <a:avLst/>
          </a:prstGeom>
          <a:noFill/>
          <a:ln/>
        </p:spPr>
        <p:txBody>
          <a:bodyPr wrap="square" lIns="0" tIns="0" rIns="0" bIns="0" rtlCol="0" anchor="ctr"/>
          <a:lstStyle/>
          <a:p>
            <a:pPr algn="l" indent="0" marL="0">
              <a:lnSpc>
                <a:spcPts val="4000"/>
              </a:lnSpc>
              <a:buNone/>
            </a:pPr>
            <a:r>
              <a:rPr lang="en-US" sz="3200" b="1" spc="500" kern="0" dirty="0">
                <a:solidFill>
                  <a:srgbClr val="EFAB00"/>
                </a:solidFill>
                <a:latin typeface="Source Sans 3" pitchFamily="34" charset="0"/>
                <a:ea typeface="Source Sans 3" pitchFamily="34" charset="-122"/>
                <a:cs typeface="Source Sans 3" pitchFamily="34" charset="-120"/>
              </a:rPr>
              <a:t>[VENUE SHORT NAME]  ·  [CITY]  ·  [MON. DD, YYYY]</a:t>
            </a:r>
            <a:endParaRPr lang="en-US" sz="3200" dirty="0"/>
          </a:p>
        </p:txBody>
      </p:sp>
      <p:sp>
        <p:nvSpPr>
          <p:cNvPr id="3" name="title"/>
          <p:cNvSpPr>
            <a:spLocks noGrp="1"/>
          </p:cNvSpPr>
          <p:nvPr>
            <p:ph idx="107" type="title" hasCustomPrompt="1"/>
          </p:nvPr>
        </p:nvSpPr>
        <p:spPr>
          <a:xfrm>
            <a:off x="1371600" y="2402840"/>
            <a:ext cx="25603200" cy="2641600"/>
          </a:xfrm>
          <a:prstGeom prst="rect">
            <a:avLst/>
          </a:prstGeom>
          <a:noFill/>
          <a:ln/>
        </p:spPr>
        <p:txBody>
          <a:bodyPr wrap="square" lIns="0" tIns="0" rIns="0" bIns="0" rtlCol="0" anchor="t"/>
          <a:lstStyle/>
          <a:p>
            <a:pPr algn="l" indent="0" marL="0">
              <a:lnSpc>
                <a:spcPts val="10400"/>
              </a:lnSpc>
              <a:buNone/>
            </a:pPr>
            <a:r>
              <a:rPr lang="en-US" sz="9600" b="1" dirty="0">
                <a:solidFill>
                  <a:srgbClr val="FFFFFF"/>
                </a:solidFill>
                <a:latin typeface="Source Sans 3" pitchFamily="34" charset="0"/>
                <a:ea typeface="Source Sans 3" pitchFamily="34" charset="-122"/>
                <a:cs typeface="Source Sans 3" pitchFamily="34" charset="-120"/>
              </a:rPr>
              <a:t>[Poster title: the main finding in one or two lines]</a:t>
            </a:r>
            <a:endParaRPr lang="en-US" sz="9600" dirty="0"/>
          </a:p>
        </p:txBody>
      </p:sp>
      <p:sp>
        <p:nvSpPr>
          <p:cNvPr id="4" name="authors"/>
          <p:cNvSpPr>
            <a:spLocks noGrp="1"/>
          </p:cNvSpPr>
          <p:nvPr>
            <p:ph idx="108" type="body" hasCustomPrompt="1"/>
          </p:nvPr>
        </p:nvSpPr>
        <p:spPr>
          <a:xfrm>
            <a:off x="1371600" y="5181600"/>
            <a:ext cx="25603200" cy="685800"/>
          </a:xfrm>
          <a:prstGeom prst="rect">
            <a:avLst/>
          </a:prstGeom>
          <a:noFill/>
          <a:ln/>
        </p:spPr>
        <p:txBody>
          <a:bodyPr wrap="square" lIns="0" tIns="0" rIns="0" bIns="0" rtlCol="0" anchor="t"/>
          <a:lstStyle/>
          <a:p>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[First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[Second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2</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[Third Author]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 and </a:t>
            </a:r>
            <a:pPr algn="l" indent="0" marL="0">
              <a:lnSpc>
                <a:spcPts val="5400"/>
              </a:lnSpc>
              <a:buNone/>
            </a:pPr>
            <a:r>
              <a:rPr lang="en-US" sz="4800" b="1" dirty="0">
                <a:solidFill>
                  <a:srgbClr val="FFFFFF"/>
                </a:solidFill>
                <a:latin typeface="Source Sans 3" pitchFamily="34" charset="0"/>
                <a:ea typeface="Source Sans 3" pitchFamily="34" charset="-122"/>
                <a:cs typeface="Source Sans 3" pitchFamily="34" charset="-120"/>
              </a:rPr>
              <a:t>[Faculty Mentor]</a:t>
            </a:r>
            <a:pPr algn="l" indent="0" marL="0">
              <a:lnSpc>
                <a:spcPts val="5400"/>
              </a:lnSpc>
              <a:buNone/>
            </a:pPr>
            <a:r>
              <a:rPr lang="en-US" sz="4800" b="1" baseline="30000" dirty="0">
                <a:solidFill>
                  <a:srgbClr val="FFFFFF"/>
                </a:solidFill>
                <a:latin typeface="Source Sans 3" pitchFamily="34" charset="0"/>
                <a:ea typeface="Source Sans 3" pitchFamily="34" charset="-122"/>
                <a:cs typeface="Source Sans 3" pitchFamily="34" charset="-120"/>
              </a:rPr>
              <a:t>1</a:t>
            </a:r>
            <a:endParaRPr lang="en-US" sz="4800" dirty="0"/>
          </a:p>
        </p:txBody>
      </p:sp>
      <p:sp>
        <p:nvSpPr>
          <p:cNvPr id="5" name="affiliations"/>
          <p:cNvSpPr>
            <a:spLocks noGrp="1"/>
          </p:cNvSpPr>
          <p:nvPr>
            <p:ph idx="109" type="body" hasCustomPrompt="1"/>
          </p:nvPr>
        </p:nvSpPr>
        <p:spPr>
          <a:xfrm>
            <a:off x="1371600" y="5958840"/>
            <a:ext cx="25603200" cy="1010920"/>
          </a:xfrm>
          <a:prstGeom prst="rect">
            <a:avLst/>
          </a:prstGeom>
          <a:noFill/>
          <a:ln/>
        </p:spPr>
        <p:txBody>
          <a:bodyPr wrap="square" lIns="0" tIns="0" rIns="0" bIns="0" rtlCol="0" anchor="t"/>
          <a:lstStyle/>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1</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Advanced Telerobotics Research Lab, Department of Computer Science, Kent State University, Kent, OH, USA</a:t>
            </a:r>
            <a:endParaRPr lang="en-US" sz="3200" dirty="0"/>
          </a:p>
          <a:p>
            <a:pPr algn="l" indent="0" marL="0">
              <a:lnSpc>
                <a:spcPts val="3800"/>
              </a:lnSpc>
              <a:buNone/>
            </a:pPr>
            <a:r>
              <a:rPr lang="en-US" sz="3200" baseline="30000" dirty="0">
                <a:solidFill>
                  <a:srgbClr val="EFAB00"/>
                </a:solidFill>
                <a:latin typeface="Source Sans 3" pitchFamily="34" charset="0"/>
                <a:ea typeface="Source Sans 3" pitchFamily="34" charset="-122"/>
                <a:cs typeface="Source Sans 3" pitchFamily="34" charset="-120"/>
              </a:rPr>
              <a:t>2</a:t>
            </a:r>
            <a:pPr algn="l" indent="0" marL="0">
              <a:lnSpc>
                <a:spcPts val="3800"/>
              </a:lnSpc>
              <a:buNone/>
            </a:pPr>
            <a:r>
              <a:rPr lang="en-US" sz="3200" dirty="0">
                <a:solidFill>
                  <a:srgbClr val="EFAB00"/>
                </a:solidFill>
                <a:latin typeface="Source Sans 3" pitchFamily="34" charset="0"/>
                <a:ea typeface="Source Sans 3" pitchFamily="34" charset="-122"/>
                <a:cs typeface="Source Sans 3" pitchFamily="34" charset="-120"/>
              </a:rPr>
              <a:t> [Second affiliation, if any]</a:t>
            </a:r>
            <a:endParaRPr lang="en-US" sz="3200" dirty="0"/>
          </a:p>
        </p:txBody>
      </p:sp>
      <p:grpSp>
        <p:nvGrpSpPr>
          <p:cNvPr id="42" name="QR code"/>
          <p:cNvGrpSpPr/>
          <p:nvPr/>
        </p:nvGrpSpPr>
        <p:grpSpPr>
          <a:xfrm>
            <a:off x="36168755" y="3127248"/>
            <a:ext cx="2980944" cy="3319272"/>
            <a:chOff x="36168755" y="3127248"/>
            <a:chExt cx="2980944" cy="3319272"/>
          </a:xfrm>
        </p:grpSpPr>
        <p:sp>
          <p:nvSpPr>
            <p:cNvPr id="6" name="QR code label"/>
            <p:cNvSpPr txBox="1"/>
            <p:nvPr/>
          </p:nvSpPr>
          <p:spPr>
            <a:xfrm>
              <a:off x="36168755" y="5669280"/>
              <a:ext cx="2980944" cy="777240"/>
            </a:xfrm>
            <a:prstGeom prst="rect">
              <a:avLst/>
            </a:prstGeom>
            <a:noFill/>
            <a:ln/>
          </p:spPr>
          <p:txBody>
            <a:bodyPr wrap="square" lIns="0" tIns="0" rIns="0" bIns="0" rtlCol="0" anchor="t"/>
            <a:lstStyle/>
            <a:p>
              <a:pPr algn="ct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SCAN FOR</a:t>
              </a:r>
              <a:endParaRPr lang="en-US" sz="2400" dirty="0"/>
            </a:p>
            <a:p>
              <a:pPr algn="ctr" indent="0" marL="0">
                <a:lnSpc>
                  <a:spcPts val="3000"/>
                </a:lnSpc>
                <a:buNone/>
              </a:pPr>
              <a:r>
                <a:rPr lang="en-US" sz="2400" dirty="0">
                  <a:solidFill>
                    <a:srgbClr val="EFAB00"/>
                  </a:solidFill>
                  <a:latin typeface="Source Code Pro" pitchFamily="34" charset="0"/>
                  <a:ea typeface="Source Code Pro" pitchFamily="34" charset="-122"/>
                  <a:cs typeface="Source Code Pro" pitchFamily="34" charset="-120"/>
                </a:rPr>
                <a:t>[THE PAPER]</a:t>
              </a:r>
              <a:endParaRPr lang="en-US" sz="2400" dirty="0"/>
            </a:p>
          </p:txBody>
        </p:sp>
        <p:pic>
          <p:nvPicPr>
            <p:cNvPr id="7" name="QR code image" descr="QR code linking to the ATR Lab website, www.atr.cs.kent.edu">    </p:cNvPr>
            <p:cNvPicPr>
              <a:picLocks noChangeAspect="1"/>
            </p:cNvPicPr>
            <p:nvPr/>
          </p:nvPicPr>
          <p:blipFill>
            <a:blip r:embed="rId1"/>
            <a:stretch>
              <a:fillRect/>
            </a:stretch>
          </p:blipFill>
          <p:spPr>
            <a:xfrm>
              <a:off x="36443075" y="3127248"/>
              <a:ext cx="2432304" cy="2432304"/>
            </a:xfrm>
            <a:prstGeom prst="rect">
              <a:avLst/>
            </a:prstGeom>
          </p:spPr>
        </p:pic>
      </p:grpSp>
      <p:sp>
        <p:nvSpPr>
          <p:cNvPr id="8" name="Section plate 01"/>
          <p:cNvSpPr txBox="1"/>
          <p:nvPr/>
        </p:nvSpPr>
        <p:spPr>
          <a:xfrm>
            <a:off x="1371600" y="10195560"/>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01</a:t>
            </a:r>
            <a:endParaRPr lang="en-US" sz="6000" dirty="0"/>
          </a:p>
        </p:txBody>
      </p:sp>
      <p:sp>
        <p:nvSpPr>
          <p:cNvPr id="9" name="Section title 01"/>
          <p:cNvSpPr txBox="1"/>
          <p:nvPr/>
        </p:nvSpPr>
        <p:spPr>
          <a:xfrm>
            <a:off x="2834640" y="1019556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Motivation</a:t>
            </a:r>
            <a:endParaRPr lang="en-US" sz="6000" dirty="0"/>
          </a:p>
        </p:txBody>
      </p:sp>
      <p:sp>
        <p:nvSpPr>
          <p:cNvPr id="10" name="lead"/>
          <p:cNvSpPr>
            <a:spLocks noGrp="1"/>
          </p:cNvSpPr>
          <p:nvPr>
            <p:ph idx="110" type="body" hasCustomPrompt="1"/>
          </p:nvPr>
        </p:nvSpPr>
        <p:spPr>
          <a:xfrm>
            <a:off x="1371600" y="11658600"/>
            <a:ext cx="9601200" cy="2032000"/>
          </a:xfrm>
          <a:prstGeom prst="rect">
            <a:avLst/>
          </a:prstGeom>
          <a:noFill/>
          <a:ln/>
        </p:spPr>
        <p:txBody>
          <a:bodyPr wrap="square" lIns="0" tIns="0" rIns="0" bIns="0" rtlCol="0" anchor="t"/>
          <a:lstStyle/>
          <a:p>
            <a:pPr algn="l" indent="0" marL="0">
              <a:lnSpc>
                <a:spcPts val="4000"/>
              </a:lnSpc>
              <a:buNone/>
            </a:pPr>
            <a:r>
              <a:rPr lang="en-US" sz="3200" b="1" dirty="0">
                <a:solidFill>
                  <a:srgbClr val="003976"/>
                </a:solidFill>
                <a:latin typeface="Source Sans 3" pitchFamily="34" charset="0"/>
                <a:ea typeface="Source Sans 3" pitchFamily="34" charset="-122"/>
                <a:cs typeface="Source Sans 3" pitchFamily="34" charset="-120"/>
              </a:rPr>
              <a:t>[One sentence on the problem and why it matters for telepresence, tele-embodiment or Physical AI, up to 150 characters.]</a:t>
            </a:r>
            <a:endParaRPr lang="en-US" sz="3200" dirty="0"/>
          </a:p>
        </p:txBody>
      </p:sp>
      <p:sp>
        <p:nvSpPr>
          <p:cNvPr id="11" name="paragraph"/>
          <p:cNvSpPr>
            <a:spLocks noGrp="1"/>
          </p:cNvSpPr>
          <p:nvPr>
            <p:ph idx="111" type="body" hasCustomPrompt="1"/>
          </p:nvPr>
        </p:nvSpPr>
        <p:spPr>
          <a:xfrm>
            <a:off x="1371600" y="13964920"/>
            <a:ext cx="9601200" cy="3048000"/>
          </a:xfrm>
          <a:prstGeom prst="rect">
            <a:avLst/>
          </a:prstGeom>
          <a:noFill/>
          <a:ln/>
        </p:spPr>
        <p:txBody>
          <a:bodyPr wrap="square" lIns="0" tIns="0" rIns="0" bIns="0" rtlCol="0" anchor="t"/>
          <a:lstStyle/>
          <a:p>
            <a:pPr algn="l" indent="0" marL="0">
              <a:lnSpc>
                <a:spcPts val="4000"/>
              </a:lnSpc>
              <a:buNone/>
            </a:pPr>
            <a:r>
              <a:rPr lang="en-US" sz="3200" dirty="0">
                <a:solidFill>
                  <a:srgbClr val="1B2533"/>
                </a:solidFill>
                <a:latin typeface="Source Sans 3" pitchFamily="34" charset="0"/>
                <a:ea typeface="Source Sans 3" pitchFamily="34" charset="-122"/>
                <a:cs typeface="Source Sans 3" pitchFamily="34" charset="-120"/>
              </a:rPr>
              <a:t>[Two or three sentences of context, up to 260 characters: the gap in prior work, the setting and the research question. Keep about one fifth of the poster as text and let the figures carry the argument.]</a:t>
            </a:r>
            <a:endParaRPr lang="en-US" sz="3200" dirty="0"/>
          </a:p>
        </p:txBody>
      </p:sp>
      <p:sp>
        <p:nvSpPr>
          <p:cNvPr id="12" name="Section plate 02"/>
          <p:cNvSpPr txBox="1"/>
          <p:nvPr/>
        </p:nvSpPr>
        <p:spPr>
          <a:xfrm>
            <a:off x="1371600" y="17470120"/>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02</a:t>
            </a:r>
            <a:endParaRPr lang="en-US" sz="6000" dirty="0"/>
          </a:p>
        </p:txBody>
      </p:sp>
      <p:sp>
        <p:nvSpPr>
          <p:cNvPr id="13" name="Section title 02"/>
          <p:cNvSpPr txBox="1"/>
          <p:nvPr/>
        </p:nvSpPr>
        <p:spPr>
          <a:xfrm>
            <a:off x="2834640" y="1747012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Approach</a:t>
            </a:r>
            <a:endParaRPr lang="en-US" sz="6000" dirty="0"/>
          </a:p>
        </p:txBody>
      </p:sp>
      <p:sp>
        <p:nvSpPr>
          <p:cNvPr id="14" name="approach"/>
          <p:cNvSpPr>
            <a:spLocks noGrp="1"/>
          </p:cNvSpPr>
          <p:nvPr>
            <p:ph idx="112" type="body" hasCustomPrompt="1"/>
          </p:nvPr>
        </p:nvSpPr>
        <p:spPr>
          <a:xfrm>
            <a:off x="1371600" y="18933160"/>
            <a:ext cx="9601200" cy="4368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[System or method: what was built and how it works,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[Study design: participants, tasks, conditions and measures]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[Analysis: statistics, models or metrics used]</a:t>
            </a:r>
            <a:endParaRPr lang="en-US" sz="3200" dirty="0"/>
          </a:p>
        </p:txBody>
      </p:sp>
      <p:grpSp>
        <p:nvGrpSpPr>
          <p:cNvPr id="43" name="Figure 01"/>
          <p:cNvGrpSpPr/>
          <p:nvPr/>
        </p:nvGrpSpPr>
        <p:grpSpPr>
          <a:xfrm>
            <a:off x="1371600" y="23576280"/>
            <a:ext cx="9601200" cy="4721352"/>
            <a:chOff x="1371600" y="23576280"/>
            <a:chExt cx="9601200" cy="4721352"/>
          </a:xfrm>
        </p:grpSpPr>
        <p:sp>
          <p:nvSpPr>
            <p:cNvPr id="15" name="Figure 01 panel"/>
            <p:cNvSpPr txBox="1"/>
            <p:nvPr/>
          </p:nvSpPr>
          <p:spPr>
            <a:xfrm>
              <a:off x="1371600" y="23576280"/>
              <a:ext cx="9601200" cy="4721352"/>
            </a:xfrm>
            <a:prstGeom prst="rect">
              <a:avLst/>
            </a:prstGeom>
            <a:solidFill>
              <a:srgbClr val="F3F6FA"/>
            </a:solidFill>
            <a:ln>
              <a:solidFill>
                <a:srgbClr val="F3F6FA"/>
              </a:solidFill>
            </a:ln>
          </p:spPr>
          <p:txBody>
            <a:bodyPr wrap="square" lIns="685800" tIns="27686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16" name="Figure 01 icon" descr="Figure 01 placeholder icon; replace this panel with your figure">    </p:cNvPr>
            <p:cNvPicPr>
              <a:picLocks noChangeAspect="1"/>
            </p:cNvPicPr>
            <p:nvPr/>
          </p:nvPicPr>
          <p:blipFill>
            <a:blip r:embed="rId2"/>
            <a:stretch>
              <a:fillRect/>
            </a:stretch>
          </p:blipFill>
          <p:spPr>
            <a:xfrm>
              <a:off x="5257800" y="24336756"/>
              <a:ext cx="1828800" cy="1828800"/>
            </a:xfrm>
            <a:prstGeom prst="rect">
              <a:avLst/>
            </a:prstGeom>
          </p:spPr>
        </p:pic>
      </p:grpSp>
      <p:sp>
        <p:nvSpPr>
          <p:cNvPr id="17" name="caption1"/>
          <p:cNvSpPr>
            <a:spLocks noGrp="1"/>
          </p:cNvSpPr>
          <p:nvPr>
            <p:ph idx="113" type="body" hasCustomPrompt="1"/>
          </p:nvPr>
        </p:nvSpPr>
        <p:spPr>
          <a:xfrm>
            <a:off x="1371600" y="2843479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01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[System overview: replace with an architecture diagram or a labeled photo of the setup.]</a:t>
            </a:r>
            <a:endParaRPr lang="en-US" sz="2400" dirty="0"/>
          </a:p>
        </p:txBody>
      </p:sp>
      <p:sp>
        <p:nvSpPr>
          <p:cNvPr id="18" name="Section plate 03"/>
          <p:cNvSpPr txBox="1"/>
          <p:nvPr/>
        </p:nvSpPr>
        <p:spPr>
          <a:xfrm>
            <a:off x="11887200" y="10195560"/>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03</a:t>
            </a:r>
            <a:endParaRPr lang="en-US" sz="6000" dirty="0"/>
          </a:p>
        </p:txBody>
      </p:sp>
      <p:sp>
        <p:nvSpPr>
          <p:cNvPr id="19" name="Section title 03"/>
          <p:cNvSpPr txBox="1"/>
          <p:nvPr/>
        </p:nvSpPr>
        <p:spPr>
          <a:xfrm>
            <a:off x="13350240" y="10195560"/>
            <a:ext cx="186537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Results</a:t>
            </a:r>
            <a:endParaRPr lang="en-US" sz="6000" dirty="0"/>
          </a:p>
        </p:txBody>
      </p:sp>
      <p:grpSp>
        <p:nvGrpSpPr>
          <p:cNvPr id="44" name="Figure 02"/>
          <p:cNvGrpSpPr/>
          <p:nvPr/>
        </p:nvGrpSpPr>
        <p:grpSpPr>
          <a:xfrm>
            <a:off x="11887200" y="11658600"/>
            <a:ext cx="9601200" cy="8988552"/>
            <a:chOff x="11887200" y="11658600"/>
            <a:chExt cx="9601200" cy="8988552"/>
          </a:xfrm>
        </p:grpSpPr>
        <p:sp>
          <p:nvSpPr>
            <p:cNvPr id="20" name="Figure 02 panel"/>
            <p:cNvSpPr txBox="1"/>
            <p:nvPr/>
          </p:nvSpPr>
          <p:spPr>
            <a:xfrm>
              <a:off x="11887200" y="11658600"/>
              <a:ext cx="9601200" cy="8988552"/>
            </a:xfrm>
            <a:prstGeom prst="rect">
              <a:avLst/>
            </a:prstGeom>
            <a:solidFill>
              <a:srgbClr val="F3F6FA"/>
            </a:solidFill>
            <a:ln>
              <a:solidFill>
                <a:srgbClr val="F3F6FA"/>
              </a:solidFill>
            </a:ln>
          </p:spPr>
          <p:txBody>
            <a:bodyPr wrap="square" lIns="685800" tIns="4902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1" name="Figure 02 icon" descr="Figure 02 placeholder icon; replace this panel with your figure">    </p:cNvPr>
            <p:cNvPicPr>
              <a:picLocks noChangeAspect="1"/>
            </p:cNvPicPr>
            <p:nvPr/>
          </p:nvPicPr>
          <p:blipFill>
            <a:blip r:embed="rId3"/>
            <a:stretch>
              <a:fillRect/>
            </a:stretch>
          </p:blipFill>
          <p:spPr>
            <a:xfrm>
              <a:off x="15773400" y="14552676"/>
              <a:ext cx="1828800" cy="1828800"/>
            </a:xfrm>
            <a:prstGeom prst="rect">
              <a:avLst/>
            </a:prstGeom>
          </p:spPr>
        </p:pic>
      </p:grpSp>
      <p:sp>
        <p:nvSpPr>
          <p:cNvPr id="22" name="captionA"/>
          <p:cNvSpPr>
            <a:spLocks noGrp="1"/>
          </p:cNvSpPr>
          <p:nvPr>
            <p:ph idx="114" type="body" hasCustomPrompt="1"/>
          </p:nvPr>
        </p:nvSpPr>
        <p:spPr>
          <a:xfrm>
            <a:off x="11887200" y="2078431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02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[Main result: a plot from atr_plot.py at 300 dpi, legend on the plot, units on the axes.]</a:t>
            </a:r>
            <a:endParaRPr lang="en-US" sz="2400" dirty="0"/>
          </a:p>
        </p:txBody>
      </p:sp>
      <p:grpSp>
        <p:nvGrpSpPr>
          <p:cNvPr id="45" name="Figure 03"/>
          <p:cNvGrpSpPr/>
          <p:nvPr/>
        </p:nvGrpSpPr>
        <p:grpSpPr>
          <a:xfrm>
            <a:off x="22402800" y="11658600"/>
            <a:ext cx="9601200" cy="8988552"/>
            <a:chOff x="22402800" y="11658600"/>
            <a:chExt cx="9601200" cy="8988552"/>
          </a:xfrm>
        </p:grpSpPr>
        <p:sp>
          <p:nvSpPr>
            <p:cNvPr id="23" name="Figure 03 panel"/>
            <p:cNvSpPr txBox="1"/>
            <p:nvPr/>
          </p:nvSpPr>
          <p:spPr>
            <a:xfrm>
              <a:off x="22402800" y="11658600"/>
              <a:ext cx="9601200" cy="8988552"/>
            </a:xfrm>
            <a:prstGeom prst="rect">
              <a:avLst/>
            </a:prstGeom>
            <a:solidFill>
              <a:srgbClr val="F3F6FA"/>
            </a:solidFill>
            <a:ln>
              <a:solidFill>
                <a:srgbClr val="F3F6FA"/>
              </a:solidFill>
            </a:ln>
          </p:spPr>
          <p:txBody>
            <a:bodyPr wrap="square" lIns="685800" tIns="4902200" rIns="685800" bIns="0" rtlCol="0" anchor="t"/>
            <a:lstStyle/>
            <a:p>
              <a:pPr algn="ctr" indent="0" marL="0">
                <a:lnSpc>
                  <a:spcPts val="3000"/>
                </a:lnSpc>
                <a:buNone/>
              </a:pPr>
              <a:r>
                <a:rPr lang="en-US" sz="2400" dirty="0">
                  <a:solidFill>
                    <a:srgbClr val="4A5868"/>
                  </a:solidFill>
                </a:rPr>
                <a:t>[Drop a figure here: fill the panel edge to edge, 150 dpi or more at this size, no border or shadow]</a:t>
              </a:r>
              <a:endParaRPr lang="en-US" sz="2400" dirty="0"/>
            </a:p>
          </p:txBody>
        </p:sp>
        <p:pic>
          <p:nvPicPr>
            <p:cNvPr id="24" name="Figure 03 icon" descr="Figure 03 placeholder icon; replace this panel with your figure">    </p:cNvPr>
            <p:cNvPicPr>
              <a:picLocks noChangeAspect="1"/>
            </p:cNvPicPr>
            <p:nvPr/>
          </p:nvPicPr>
          <p:blipFill>
            <a:blip r:embed="rId4"/>
            <a:stretch>
              <a:fillRect/>
            </a:stretch>
          </p:blipFill>
          <p:spPr>
            <a:xfrm>
              <a:off x="26289000" y="14552676"/>
              <a:ext cx="1828800" cy="1828800"/>
            </a:xfrm>
            <a:prstGeom prst="rect">
              <a:avLst/>
            </a:prstGeom>
          </p:spPr>
        </p:pic>
      </p:grpSp>
      <p:sp>
        <p:nvSpPr>
          <p:cNvPr id="25" name="captionB"/>
          <p:cNvSpPr>
            <a:spLocks noGrp="1"/>
          </p:cNvSpPr>
          <p:nvPr>
            <p:ph idx="115" type="body" hasCustomPrompt="1"/>
          </p:nvPr>
        </p:nvSpPr>
        <p:spPr>
          <a:xfrm>
            <a:off x="22402800" y="20784312"/>
            <a:ext cx="9601200" cy="826008"/>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FIG. 03 // </a:t>
            </a:r>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[Second result or a photo of the robot in the task; caption a concept illustration as such.]</a:t>
            </a:r>
            <a:endParaRPr lang="en-US" sz="2400" dirty="0"/>
          </a:p>
        </p:txBody>
      </p:sp>
      <p:sp>
        <p:nvSpPr>
          <p:cNvPr id="26" name="Key result callout"/>
          <p:cNvSpPr txBox="1"/>
          <p:nvPr/>
        </p:nvSpPr>
        <p:spPr>
          <a:xfrm>
            <a:off x="11887200" y="21976080"/>
            <a:ext cx="7315200" cy="7284720"/>
          </a:xfrm>
          <a:prstGeom prst="rect">
            <a:avLst/>
          </a:prstGeom>
          <a:solidFill>
            <a:srgbClr val="B63B35"/>
          </a:solidFill>
          <a:ln>
            <a:solidFill>
              <a:srgbClr val="B63B35"/>
            </a:solidFill>
          </a:ln>
        </p:spPr>
        <p:txBody>
          <a:bodyPr wrap="square" lIns="685800" tIns="685800" rIns="685800" bIns="685800" rtlCol="0" anchor="t"/>
          <a:lstStyle/>
          <a:p>
            <a:pPr algn="l" indent="0" marL="0">
              <a:lnSpc>
                <a:spcPts val="4000"/>
              </a:lnSpc>
              <a:spcAft>
                <a:spcPts val="1800"/>
              </a:spcAft>
              <a:buNone/>
            </a:pPr>
            <a:r>
              <a:rPr lang="en-US" sz="3200" b="1" spc="500" kern="0" dirty="0">
                <a:solidFill>
                  <a:srgbClr val="FFFFFF"/>
                </a:solidFill>
                <a:latin typeface="Source Sans 3" pitchFamily="34" charset="0"/>
                <a:ea typeface="Source Sans 3" pitchFamily="34" charset="-122"/>
                <a:cs typeface="Source Sans 3" pitchFamily="34" charset="-120"/>
              </a:rPr>
              <a:t>KEY RESULT</a:t>
            </a:r>
            <a:endParaRPr lang="en-US" sz="3200" dirty="0"/>
          </a:p>
          <a:p>
            <a:pPr algn="l" indent="0" marL="0">
              <a:lnSpc>
                <a:spcPts val="15000"/>
              </a:lnSpc>
              <a:spcAft>
                <a:spcPts val="1400"/>
              </a:spcAft>
              <a:buNone/>
            </a:pPr>
            <a:r>
              <a:rPr lang="en-US" sz="14400" b="1" spc="-200" kern="0" dirty="0">
                <a:solidFill>
                  <a:srgbClr val="FFFFFF"/>
                </a:solidFill>
                <a:latin typeface="Roboto Slab" pitchFamily="34" charset="0"/>
                <a:ea typeface="Roboto Slab" pitchFamily="34" charset="-122"/>
                <a:cs typeface="Roboto Slab" pitchFamily="34" charset="-120"/>
              </a:rPr>
              <a:t>[38%]</a:t>
            </a:r>
            <a:endParaRPr lang="en-US" sz="3200" dirty="0"/>
          </a:p>
          <a:p>
            <a:pPr algn="l" indent="0" marL="0">
              <a:lnSpc>
                <a:spcPts val="4000"/>
              </a:lnSpc>
              <a:spcAft>
                <a:spcPts val="2000"/>
              </a:spcAft>
              <a:buNone/>
            </a:pPr>
            <a:r>
              <a:rPr lang="en-US" sz="3200" dirty="0">
                <a:solidFill>
                  <a:srgbClr val="FFFFFF"/>
                </a:solidFill>
                <a:latin typeface="Source Sans 3" pitchFamily="34" charset="0"/>
                <a:ea typeface="Source Sans 3" pitchFamily="34" charset="-122"/>
                <a:cs typeface="Source Sans 3" pitchFamily="34" charset="-120"/>
              </a:rPr>
              <a:t>[What the number means: the metric, the comparison, n and the test, up to 105 characters]</a:t>
            </a:r>
            <a:endParaRPr lang="en-US" sz="3200" dirty="0"/>
          </a:p>
          <a:p>
            <a:pPr algn="l" indent="0" marL="0">
              <a:lnSpc>
                <a:spcPts val="3000"/>
              </a:lnSpc>
              <a:buNone/>
            </a:pPr>
            <a:r>
              <a:rPr lang="en-US" sz="2400" dirty="0">
                <a:solidFill>
                  <a:srgbClr val="FFFFFF"/>
                </a:solidFill>
                <a:latin typeface="Source Code Pro" pitchFamily="34" charset="0"/>
                <a:ea typeface="Source Code Pro" pitchFamily="34" charset="-122"/>
                <a:cs typeface="Source Code Pro" pitchFamily="34" charset="-120"/>
              </a:rPr>
              <a:t>EXAMPLE FIGURE // REPLACE</a:t>
            </a:r>
            <a:endParaRPr lang="en-US" sz="3200" dirty="0"/>
          </a:p>
        </p:txBody>
      </p:sp>
      <p:sp>
        <p:nvSpPr>
          <p:cNvPr id="27" name="findings"/>
          <p:cNvSpPr>
            <a:spLocks noGrp="1"/>
          </p:cNvSpPr>
          <p:nvPr>
            <p:ph idx="116" type="body" hasCustomPrompt="1"/>
          </p:nvPr>
        </p:nvSpPr>
        <p:spPr>
          <a:xfrm>
            <a:off x="19888200" y="21976080"/>
            <a:ext cx="12115800" cy="65532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1: the effect, its direction and size, with the statistic, the confidence interval and 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2: the comparison the figures show, and how large the difference is in task terms]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[Finding 3: robustness across participants, failure modes or timing, with the numbers]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[What did not work, why, and what it means for the next iteration of the system, up to 150 characters]</a:t>
            </a:r>
            <a:endParaRPr lang="en-US" sz="3200" dirty="0"/>
          </a:p>
        </p:txBody>
      </p:sp>
      <p:sp>
        <p:nvSpPr>
          <p:cNvPr id="28" name="source"/>
          <p:cNvSpPr>
            <a:spLocks noGrp="1"/>
          </p:cNvSpPr>
          <p:nvPr>
            <p:ph idx="117" type="body" hasCustomPrompt="1"/>
          </p:nvPr>
        </p:nvSpPr>
        <p:spPr>
          <a:xfrm>
            <a:off x="19888200" y="28803600"/>
            <a:ext cx="12115800" cy="457200"/>
          </a:xfrm>
          <a:prstGeom prst="rect">
            <a:avLst/>
          </a:prstGeom>
          <a:noFill/>
          <a:ln/>
        </p:spPr>
        <p:txBody>
          <a:bodyPr wrap="square" lIns="0" tIns="0" rIns="0" bIns="0" rtlCol="0" anchor="ctr"/>
          <a:lstStyle/>
          <a:p>
            <a:pPr algn="l" indent="0" marL="0">
              <a:lnSpc>
                <a:spcPts val="3000"/>
              </a:lnSpc>
              <a:buNone/>
            </a:pPr>
            <a:r>
              <a:rPr lang="en-US" sz="2400" dirty="0">
                <a:solidFill>
                  <a:srgbClr val="4A5868"/>
                </a:solidFill>
                <a:latin typeface="Source Code Pro" pitchFamily="34" charset="0"/>
                <a:ea typeface="Source Code Pro" pitchFamily="34" charset="-122"/>
                <a:cs typeface="Source Code Pro" pitchFamily="34" charset="-120"/>
              </a:rPr>
              <a:t>SOURCE // [STUDY OR DATASET], N = [N]</a:t>
            </a:r>
            <a:endParaRPr lang="en-US" sz="2400" dirty="0"/>
          </a:p>
        </p:txBody>
      </p:sp>
      <p:sp>
        <p:nvSpPr>
          <p:cNvPr id="29" name="Section plate 04"/>
          <p:cNvSpPr txBox="1"/>
          <p:nvPr/>
        </p:nvSpPr>
        <p:spPr>
          <a:xfrm>
            <a:off x="32918400" y="10195560"/>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04</a:t>
            </a:r>
            <a:endParaRPr lang="en-US" sz="6000" dirty="0"/>
          </a:p>
        </p:txBody>
      </p:sp>
      <p:sp>
        <p:nvSpPr>
          <p:cNvPr id="30" name="Section title 04"/>
          <p:cNvSpPr txBox="1"/>
          <p:nvPr/>
        </p:nvSpPr>
        <p:spPr>
          <a:xfrm>
            <a:off x="34381440" y="1019556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Conclusions</a:t>
            </a:r>
            <a:endParaRPr lang="en-US" sz="6000" dirty="0"/>
          </a:p>
        </p:txBody>
      </p:sp>
      <p:sp>
        <p:nvSpPr>
          <p:cNvPr id="31" name="conclusions"/>
          <p:cNvSpPr>
            <a:spLocks noGrp="1"/>
          </p:cNvSpPr>
          <p:nvPr>
            <p:ph idx="118" type="body" hasCustomPrompt="1"/>
          </p:nvPr>
        </p:nvSpPr>
        <p:spPr>
          <a:xfrm>
            <a:off x="32918400" y="11658600"/>
            <a:ext cx="9601200" cy="3860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1: the claim the evidence supports, up to 85 characters]</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[Takeaway 2: what it means for design or practice]</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[Limitation that bounds the claim]</a:t>
            </a:r>
            <a:endParaRPr lang="en-US" sz="3200" dirty="0"/>
          </a:p>
        </p:txBody>
      </p:sp>
      <p:sp>
        <p:nvSpPr>
          <p:cNvPr id="32" name="Section plate 05"/>
          <p:cNvSpPr txBox="1"/>
          <p:nvPr/>
        </p:nvSpPr>
        <p:spPr>
          <a:xfrm>
            <a:off x="32918400" y="15976600"/>
            <a:ext cx="1097280" cy="1097280"/>
          </a:xfrm>
          <a:prstGeom prst="rect">
            <a:avLst/>
          </a:prstGeom>
          <a:solidFill>
            <a:srgbClr val="B63B35"/>
          </a:solidFill>
          <a:ln>
            <a:solidFill>
              <a:srgbClr val="B63B35"/>
            </a:solidFill>
          </a:ln>
        </p:spPr>
        <p:txBody>
          <a:bodyPr wrap="square" lIns="0" tIns="0" rIns="0" bIns="0" rtlCol="0" anchor="ctr"/>
          <a:lstStyle/>
          <a:p>
            <a:pPr algn="ctr" indent="0" marL="0">
              <a:buNone/>
            </a:pPr>
            <a:r>
              <a:rPr lang="en-US" sz="6000" b="1" dirty="0">
                <a:solidFill>
                  <a:srgbClr val="FFFFFF"/>
                </a:solidFill>
                <a:latin typeface="Roboto Slab" pitchFamily="34" charset="0"/>
                <a:ea typeface="Roboto Slab" pitchFamily="34" charset="-122"/>
                <a:cs typeface="Roboto Slab" pitchFamily="34" charset="-120"/>
              </a:rPr>
              <a:t>05</a:t>
            </a:r>
            <a:endParaRPr lang="en-US" sz="6000" dirty="0"/>
          </a:p>
        </p:txBody>
      </p:sp>
      <p:sp>
        <p:nvSpPr>
          <p:cNvPr id="33" name="Section title 05"/>
          <p:cNvSpPr txBox="1"/>
          <p:nvPr/>
        </p:nvSpPr>
        <p:spPr>
          <a:xfrm>
            <a:off x="34381440" y="15976600"/>
            <a:ext cx="8138160" cy="1097280"/>
          </a:xfrm>
          <a:prstGeom prst="rect">
            <a:avLst/>
          </a:prstGeom>
          <a:noFill/>
          <a:ln/>
        </p:spPr>
        <p:txBody>
          <a:bodyPr wrap="square" lIns="0" tIns="0" rIns="0" bIns="0" rtlCol="0" anchor="ctr"/>
          <a:lstStyle/>
          <a:p>
            <a:pPr algn="l" indent="0" marL="0">
              <a:lnSpc>
                <a:spcPts val="6600"/>
              </a:lnSpc>
              <a:buNone/>
            </a:pPr>
            <a:r>
              <a:rPr lang="en-US" sz="6000" b="1" dirty="0">
                <a:solidFill>
                  <a:srgbClr val="003976"/>
                </a:solidFill>
                <a:latin typeface="Source Sans 3" pitchFamily="34" charset="0"/>
                <a:ea typeface="Source Sans 3" pitchFamily="34" charset="-122"/>
                <a:cs typeface="Source Sans 3" pitchFamily="34" charset="-120"/>
              </a:rPr>
              <a:t>Future work</a:t>
            </a:r>
            <a:endParaRPr lang="en-US" sz="6000" dirty="0"/>
          </a:p>
        </p:txBody>
      </p:sp>
      <p:sp>
        <p:nvSpPr>
          <p:cNvPr id="34" name="future"/>
          <p:cNvSpPr>
            <a:spLocks noGrp="1"/>
          </p:cNvSpPr>
          <p:nvPr>
            <p:ph idx="119" type="body" hasCustomPrompt="1"/>
          </p:nvPr>
        </p:nvSpPr>
        <p:spPr>
          <a:xfrm>
            <a:off x="32918400" y="17439640"/>
            <a:ext cx="9601200" cy="3352800"/>
          </a:xfrm>
          <a:prstGeom prst="rect">
            <a:avLst/>
          </a:prstGeom>
          <a:noFill/>
          <a:ln/>
        </p:spPr>
        <p:txBody>
          <a:bodyPr wrap="square" lIns="0" tIns="0" rIns="0" bIns="0" rtlCol="0" anchor="t"/>
          <a:lstStyle/>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[Next experiment or system iteration]</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[Open question the community should take up]</a:t>
            </a:r>
            <a:endParaRPr lang="en-US" sz="3200" dirty="0"/>
          </a:p>
          <a:p>
            <a:pPr algn="l" marL="457200" indent="-457200">
              <a:lnSpc>
                <a:spcPts val="4000"/>
              </a:lnSpc>
              <a:spcAft>
                <a:spcPts val="1200"/>
              </a:spcAft>
              <a:buSzPct val="100000"/>
              <a:buChar char="▸"/>
            </a:pPr>
            <a:r>
              <a:rPr lang="en-US" sz="3200" dirty="0">
                <a:solidFill>
                  <a:srgbClr val="1B2533"/>
                </a:solidFill>
                <a:latin typeface="Source Sans 3" pitchFamily="34" charset="0"/>
                <a:ea typeface="Source Sans 3" pitchFamily="34" charset="-122"/>
                <a:cs typeface="Source Sans 3" pitchFamily="34" charset="-120"/>
              </a:rPr>
              <a:t>[Dataset, code or deployment plan]</a:t>
            </a:r>
            <a:endParaRPr lang="en-US" sz="3200" dirty="0"/>
          </a:p>
        </p:txBody>
      </p:sp>
      <p:sp>
        <p:nvSpPr>
          <p:cNvPr id="35" name="Label references"/>
          <p:cNvSpPr txBox="1"/>
          <p:nvPr/>
        </p:nvSpPr>
        <p:spPr>
          <a:xfrm>
            <a:off x="32918400" y="21249640"/>
            <a:ext cx="96012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REFERENCES</a:t>
            </a:r>
            <a:endParaRPr lang="en-US" sz="2800" dirty="0"/>
          </a:p>
        </p:txBody>
      </p:sp>
      <p:sp>
        <p:nvSpPr>
          <p:cNvPr id="36" name="references"/>
          <p:cNvSpPr>
            <a:spLocks noGrp="1"/>
          </p:cNvSpPr>
          <p:nvPr>
            <p:ph idx="120" type="body" hasCustomPrompt="1"/>
          </p:nvPr>
        </p:nvSpPr>
        <p:spPr>
          <a:xfrm>
            <a:off x="32918400" y="21798280"/>
            <a:ext cx="9601200" cy="2819400"/>
          </a:xfrm>
          <a:prstGeom prst="rect">
            <a:avLst/>
          </a:prstGeom>
          <a:noFill/>
          <a:ln/>
        </p:spPr>
        <p:txBody>
          <a:bodyPr wrap="square" lIns="0" tIns="0" rIns="0" bIns="0" rtlCol="0" anchor="t"/>
          <a:lstStyle/>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[1] [A. Author, B. Author and C. Author], "[Title of the paper]," in [Proc. Conference], [City], [Year], pp. [1-8].</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[2] [A. Author and B. Author], "[Title of the article]," [Journal], vol. [N], no. [N], pp. [1-12], [Year].</a:t>
            </a:r>
            <a:endParaRPr lang="en-US" sz="2400" dirty="0"/>
          </a:p>
          <a:p>
            <a:pPr algn="l" indent="0" marL="0">
              <a:lnSpc>
                <a:spcPts val="3000"/>
              </a:lnSpc>
              <a:spcAft>
                <a:spcPts val="600"/>
              </a:spcAft>
              <a:buNone/>
            </a:pPr>
            <a:r>
              <a:rPr lang="en-US" sz="2400" dirty="0">
                <a:solidFill>
                  <a:srgbClr val="4A5868"/>
                </a:solidFill>
                <a:latin typeface="Source Sans 3" pitchFamily="34" charset="0"/>
                <a:ea typeface="Source Sans 3" pitchFamily="34" charset="-122"/>
                <a:cs typeface="Source Sans 3" pitchFamily="34" charset="-120"/>
              </a:rPr>
              <a:t>[3] [A. Author], "[Title of the paper]," in [Proc. Conference], [Year], pp. [1-6].</a:t>
            </a:r>
            <a:endParaRPr lang="en-US" sz="2400" dirty="0"/>
          </a:p>
        </p:txBody>
      </p:sp>
      <p:sp>
        <p:nvSpPr>
          <p:cNvPr id="37" name="Label acknowledgments"/>
          <p:cNvSpPr txBox="1"/>
          <p:nvPr/>
        </p:nvSpPr>
        <p:spPr>
          <a:xfrm>
            <a:off x="32918400" y="24983440"/>
            <a:ext cx="9601200" cy="548640"/>
          </a:xfrm>
          <a:prstGeom prst="rect">
            <a:avLst/>
          </a:prstGeom>
          <a:noFill/>
          <a:ln/>
        </p:spPr>
        <p:txBody>
          <a:bodyPr wrap="square" lIns="0" tIns="0" rIns="0" bIns="0" rtlCol="0" anchor="ctr"/>
          <a:lstStyle/>
          <a:p>
            <a:pPr algn="l" indent="0" marL="0">
              <a:buNone/>
            </a:pPr>
            <a:r>
              <a:rPr lang="en-US" sz="2800" b="1" spc="500" kern="0" dirty="0">
                <a:solidFill>
                  <a:srgbClr val="8A6100"/>
                </a:solidFill>
                <a:latin typeface="Source Sans 3" pitchFamily="34" charset="0"/>
                <a:ea typeface="Source Sans 3" pitchFamily="34" charset="-122"/>
                <a:cs typeface="Source Sans 3" pitchFamily="34" charset="-120"/>
              </a:rPr>
              <a:t>ACKNOWLEDGMENTS AND FUNDING</a:t>
            </a:r>
            <a:endParaRPr lang="en-US" sz="2800" dirty="0"/>
          </a:p>
        </p:txBody>
      </p:sp>
      <p:sp>
        <p:nvSpPr>
          <p:cNvPr id="38" name="acknowledgments"/>
          <p:cNvSpPr>
            <a:spLocks noGrp="1"/>
          </p:cNvSpPr>
          <p:nvPr>
            <p:ph idx="121" type="body" hasCustomPrompt="1"/>
          </p:nvPr>
        </p:nvSpPr>
        <p:spPr>
          <a:xfrm>
            <a:off x="32918400" y="25532080"/>
            <a:ext cx="6858000" cy="3728720"/>
          </a:xfrm>
          <a:prstGeom prst="rect">
            <a:avLst/>
          </a:prstGeom>
          <a:noFill/>
          <a:ln/>
        </p:spPr>
        <p:txBody>
          <a:bodyPr wrap="square" lIns="0" tIns="0" rIns="0" bIns="0" rtlCol="0" anchor="t"/>
          <a:lstStyle/>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[Collaborators, participants and facilities.] This material is based upon work supported by the U.S. National Science Foundation under award No. [NNNNNNN]. Any opinions, findings and conclusions or recommendations expressed in this material are those of the author(s) and do not necessarily reflect the views of the U.S. National Science Foundation.</a:t>
            </a:r>
            <a:endParaRPr lang="en-US" sz="2400" dirty="0"/>
          </a:p>
        </p:txBody>
      </p:sp>
      <p:sp>
        <p:nvSpPr>
          <p:cNvPr id="39" name="Sponsor logo slot"/>
          <p:cNvSpPr txBox="1"/>
          <p:nvPr/>
        </p:nvSpPr>
        <p:spPr>
          <a:xfrm>
            <a:off x="40233600" y="25532080"/>
            <a:ext cx="2286000" cy="2286000"/>
          </a:xfrm>
          <a:prstGeom prst="rect">
            <a:avLst/>
          </a:prstGeom>
          <a:solidFill>
            <a:srgbClr val="F3F6FA"/>
          </a:solidFill>
          <a:ln>
            <a:solidFill>
              <a:srgbClr val="F3F6FA"/>
            </a:solidFill>
          </a:ln>
        </p:spPr>
        <p:txBody>
          <a:bodyPr wrap="square" lIns="0" tIns="0" rIns="0" bIns="0" rtlCol="0" anchor="ctr"/>
          <a:lstStyle/>
          <a:p>
            <a:pPr algn="ctr" indent="0" marL="0">
              <a:buNone/>
            </a:pPr>
            <a:r>
              <a:rPr lang="en-US" sz="2400" dirty="0">
                <a:solidFill>
                  <a:srgbClr val="003976"/>
                </a:solidFill>
              </a:rPr>
              <a:t>[Sponsor logo]</a:t>
            </a:r>
            <a:endParaRPr lang="en-US" sz="2400" dirty="0"/>
          </a:p>
        </p:txBody>
      </p:sp>
      <p:sp>
        <p:nvSpPr>
          <p:cNvPr id="40" name="contact"/>
          <p:cNvSpPr>
            <a:spLocks noGrp="1"/>
          </p:cNvSpPr>
          <p:nvPr>
            <p:ph idx="122" type="body" hasCustomPrompt="1"/>
          </p:nvPr>
        </p:nvSpPr>
        <p:spPr>
          <a:xfrm>
            <a:off x="1371600" y="30038040"/>
            <a:ext cx="30175200" cy="1554480"/>
          </a:xfrm>
          <a:prstGeom prst="rect">
            <a:avLst/>
          </a:prstGeom>
          <a:noFill/>
          <a:ln/>
        </p:spPr>
        <p:txBody>
          <a:bodyPr wrap="square" lIns="0" tIns="0" rIns="0" bIns="0" rtlCol="0" anchor="t"/>
          <a:lstStyle/>
          <a:p>
            <a:pPr algn="l" indent="0" marL="0">
              <a:lnSpc>
                <a:spcPts val="3800"/>
              </a:lnSpc>
              <a:spcAft>
                <a:spcPts val="600"/>
              </a:spcAft>
              <a:buNone/>
            </a:pPr>
            <a:r>
              <a:rPr lang="en-US" sz="3200" dirty="0">
                <a:solidFill>
                  <a:srgbClr val="4A5868"/>
                </a:solidFill>
                <a:latin typeface="Source Sans 3" pitchFamily="34" charset="0"/>
                <a:ea typeface="Source Sans 3" pitchFamily="34" charset="-122"/>
                <a:cs typeface="Source Sans 3" pitchFamily="34" charset="-120"/>
              </a:rPr>
              <a:t>[Presenter Name]  ·  [presenter@kent.edu]  ·  Advanced Telerobotics Research Lab, Kent State University</a:t>
            </a:r>
            <a:endParaRPr lang="en-US" sz="3200" dirty="0"/>
          </a:p>
          <a:p>
            <a:pPr algn="l" indent="0" marL="0">
              <a:lnSpc>
                <a:spcPts val="3000"/>
              </a:lnSpc>
              <a:buNone/>
            </a:pPr>
            <a:r>
              <a:rPr lang="en-US" sz="2400" dirty="0">
                <a:solidFill>
                  <a:srgbClr val="4A5868"/>
                </a:solidFill>
                <a:latin typeface="Source Sans 3" pitchFamily="34" charset="0"/>
                <a:ea typeface="Source Sans 3" pitchFamily="34" charset="-122"/>
                <a:cs typeface="Source Sans 3" pitchFamily="34" charset="-120"/>
              </a:rPr>
              <a:t>www.atr.cs.kent.edu  ·  atrlab.kent@gmail.com  ·  github.com/ATR-Lab  ·  @atrlab_kent on X</a:t>
            </a:r>
            <a:endParaRPr lang="en-US" sz="3200" dirty="0"/>
          </a:p>
        </p:txBody>
      </p:sp>
      <p:sp>
        <p:nvSpPr>
          <p:cNvPr id="41" name="stamp"/>
          <p:cNvSpPr>
            <a:spLocks noGrp="1"/>
          </p:cNvSpPr>
          <p:nvPr>
            <p:ph idx="123" type="body" hasCustomPrompt="1"/>
          </p:nvPr>
        </p:nvSpPr>
        <p:spPr>
          <a:xfrm>
            <a:off x="32461200" y="30038040"/>
            <a:ext cx="10058400" cy="502920"/>
          </a:xfrm>
          <a:prstGeom prst="rect">
            <a:avLst/>
          </a:prstGeom>
          <a:noFill/>
          <a:ln/>
        </p:spPr>
        <p:txBody>
          <a:bodyPr wrap="square" lIns="0" tIns="0" rIns="0" bIns="0" rtlCol="0" anchor="t"/>
          <a:lstStyle/>
          <a:p>
            <a:pPr algn="r" indent="0" marL="0">
              <a:lnSpc>
                <a:spcPts val="3000"/>
              </a:lnSpc>
              <a:buNone/>
            </a:pPr>
            <a:r>
              <a:rPr lang="en-US" sz="2400" dirty="0">
                <a:solidFill>
                  <a:srgbClr val="003976"/>
                </a:solidFill>
                <a:latin typeface="Source Code Pro" pitchFamily="34" charset="0"/>
                <a:ea typeface="Source Code Pro" pitchFamily="34" charset="-122"/>
                <a:cs typeface="Source Code Pro" pitchFamily="34" charset="-120"/>
              </a:rPr>
              <a:t>ATR LAB  //  [VENUE]  //  [YYYY-MM-DD]</a:t>
            </a:r>
            <a:endParaRPr lang="en-US" sz="24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research poster template, 48 x 36 in</dc:title>
  <dc:subject>Research poster template</dc:subject>
  <dc:creator>Advanced Telerobotics Research Lab, Kent State University</dc:creator>
  <cp:lastModifiedBy>Advanced Telerobotics Research Lab, Kent State University</cp:lastModifiedBy>
  <cp:revision>1</cp:revision>
  <dcterms:created xsi:type="dcterms:W3CDTF">2026-09-29T04:25:10Z</dcterms:created>
  <dcterms:modified xsi:type="dcterms:W3CDTF">2026-09-29T04:25:10Z</dcterms:modified>
</cp:coreProperties>
</file>