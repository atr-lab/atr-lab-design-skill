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DOOR SIGN (supplementary name sign). The permanent room-ID sign is a Facilities item under ADA 2010 section 703 (tactile characters, Grade 2 braille, latch-side mounting); this sign does not replace it. Anything mounted outside a building or any permanent architectural sign needs UCM plus University Architect approval before production.
Replace [Room ###], hours, the appointment contact and the lab phone. Verified: the building name (Mathematical Sciences Building), the department office number (330-672-9980), the website, email and GitHub handle; the lab room and direct line are placeholders until verified. The phone lives in the address column: there is no phone glyph in the icon set, and the contact rows use the website, email and GitHub glyphs that carry their meaning.
Character budgets: room number up to 4 characters at 72 pt; building two lines at 20 pt; hours and appointment one line each (about 36 characters; Kent State addresses are short IDs such as jdoe12@kent.edu); phone two lines (the lab line, then the department office); tagline three lines at 16 pt (about 190 characters). Longer values shrink automatically in PowerPoint; Keynote and Google Slides do not shrink, so shorten there.
Print on rigid, non-glare stock (matte laminate, PVC or acrylic with a matte face), Letter or an 8 x 10 in insert. The lockup is 4.0 in wide (minimum 1.25) and sits one X (0.50 in, the page margin) below the band, and the room plate starts one X below the lockup; the Kent State all-white wordmark is a separate signature at bottom right with K-height clear space.
Bands, color fields, panels, plates, logos and the footer live on the slide layout (View &gt; Slide Master), so they cannot be dragged by accident. The text boxes are layout placeholders: New Slide &gt; this layout (layouts are named for people: Event flyer, Recruiting flyer, Certificate, One-pager front and so on) gives you every panel and every box with its prompt, and Reset restores a box you moved. Only swappable content (illustrations, icons, the QR box) sits on the slide itself.
Boxes that hold names, titles and headlines have "Shrink text on overflow" turned on: a value longer than the character budget in these notes shrinks instead of running over the next element. Keep inside the budgets so the type stays at or near the design size; Keynote and Google Slides ignore the setting, so shorten the text there.
The hazard band is a bookend on one edge (two on a sign). Never place text or logos over it; keep 0.30 in clear.
Editorial style: "Advanced Telerobotics Research Lab" on first reference, then "the lab"; "Kent State University" first, then "Kent State". No Oxford comma, "and" not "&amp;", dates like "Sept. 23", times like "9 a.m.-noon". Never invent facts: keep the [bracketed] placeholders until you have real values.
Printed pieces that carry Kent State marks add the trademark line in small type (8 pt, the print floor; preferably on the back).
PRINT SPECS. This file is built at trim size. Text, logos and QR codes sit at least 0.25 in inside the trim (0.5 in on most edges).
Bleed: color fields and hazard bands run to the page edge. A contracted Kent State printer that trims from oversized stock needs 0.125 in of bleed on every side: ask the printer to add the bleed from the trim-size PDF (every edge element is flat color or a repeating stripe, so the extension is mechanical). If you have the generator (build/templates-src/print), BLEED=1 builds a version whose fields already extend 0.125 in past the trim.
Export: File &gt; Export &gt; PDF at "Best for printing" (PowerPoint cannot write PDF/X; the printer preflights it). Colour: navy = PMS 281 C / C100 M72 Y0 K38, gold = PMS 124 C / C7 M35 Y100 K0. Never let a default RGB-to-CMYK profile convert the gold.
Logos: the Kent State wordmark in this file (assets/logos/ksu) is a working copy of the old Stacked raster (colors corrected); replace with the official UCM file before public use: swap it on the slide layout (View &gt; Slide Master) with the file from https://www.kent.edu/brand/logos at the same size. Keep it at least 1.05 in wide (so UNIVERSITY is at least 1 in) with K-height clear space and the (R).
Fonts: Source Sans 3, Roboto Slab and Source Code Pro (assets/fonts). Embed fonts before sending the file, or send the PDF. Fallbacks are Arial / Georgia / Courier New and every text box carries about 10% width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ROBOTS IN OPERATION: post at the door or the demo-zone boundary while a robot is powered. Mark the zone on the floor with tape and keep an operator and emergency-stop note at each robot station.
Character budgets: headline one or two lines of about 18 characters each at 60 pt Black (a longer headline shrinks; keep it to two lines); body three lines at 24 pt (about 130 characters); plate text one line at 26 pt (about 40 characters); second line two lines at 20 pt.
Composition: the pictogram and the headline are one unit (the headline is anchored to the top of its box, right under the pictogram); the body, the gold plate and the second line keep fixed positions so every sign in a corridor lines up. A one-line headline leaves about 1 in of white before the body, which is normal for signage; do not move the body up on one sign unless you move it on all of them.
INFORMATIONAL SIGN, not a regulatory one. The brand hazard band frames informational signs ("Robots in operation", "Recording in progress", event welcome signs). Regulatory hazard signs (lasers, batteries and charging, robot work cells, electrical) come from Kent State environmental health and safety [verify contact] in the standard ANSI Z535 format (DANGER / WARNING / CAUTION / NOTICE with their standard colors); never restyle one in navy and gold or add the ATR logo to it.
Legibility: cap height about 1 in per 10 ft of viewing distance; the 60 pt headline reads from about 6 ft. Icon and words together, never color or a pictogram alone. Do not post brand signage where it hides an emergency stop, an exit sign or a fire extinguisher.
Small print: the Kent State trademark line sits between the two signatures in 8 pt slate (the print floor for fine print) because the band clearance and the logos' clear space leave no other position on the front; Kent State prefers it on the back, so on a duplex print move it there.
Bands, color fields, panels, plates, logos and the footer live on the slide layout (View &gt; Slide Master), so they cannot be dragged by accident. The text boxes are layout placeholders: New Slide &gt; this layout (layouts are named for people: Event flyer, Recruiting flyer, Certificate, One-pager front and so on) gives you every panel and every box with its prompt, and Reset restores a box you moved. Only swappable content (illustrations, icons, the QR box) sits on the slide itself.
Boxes that hold names, titles and headlines have "Shrink text on overflow" turned on: a value longer than the character budget in these notes shrinks instead of running over the next element. Keep inside the budgets so the type stays at or near the design size; Keynote and Google Slides ignore the setting, so shorten the text there.
The hazard band is a bookend on one edge (two on a sign). Never place text or logos over it; keep 0.30 in clear.
Editorial style: "Advanced Telerobotics Research Lab" on first reference, then "the lab"; "Kent State University" first, then "Kent State". No Oxford comma, "and" not "&amp;", dates like "Sept. 23", times like "9 a.m.-noon". Never invent facts: keep the [bracketed] placeholders until you have real values.
Printed pieces that carry Kent State marks add the trademark line in small type (8 pt, the print floor; preferably on the back).
PRINT SPECS. This file is built at trim size. Text, logos and QR codes sit at least 0.25 in inside the trim (0.5 in on most edges).
Bleed: color fields and hazard bands run to the page edge. A contracted Kent State printer that trims from oversized stock needs 0.125 in of bleed on every side: ask the printer to add the bleed from the trim-size PDF (every edge element is flat color or a repeating stripe, so the extension is mechanical). If you have the generator (build/templates-src/print), BLEED=1 builds a version whose fields already extend 0.125 in past the trim.
Export: File &gt; Export &gt; PDF at "Best for printing" (PowerPoint cannot write PDF/X; the printer preflights it). Colour: navy = PMS 281 C / C100 M72 Y0 K38, gold = PMS 124 C / C7 M35 Y100 K0. Never let a default RGB-to-CMYK profile convert the gold.
Logos: the Kent State wordmark in this file (assets/logos/ksu) is a working copy of the old Stacked raster (colors corrected); replace with the official UCM file before public use: swap it on the slide layout (View &gt; Slide Master) with the file from https://www.kent.edu/brand/logos at the same size. Keep it at least 1.05 in wide (so UNIVERSITY is at least 1 in) with K-height clear space and the (R).
Fonts: Source Sans 3, Roboto Slab and Source Code Pro (assets/fonts). Embed fonts before sending the file, or send the PDF. Fallbacks are Arial / Georgia / Courier New and every text box carries about 10% width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IN PROGRESS: post during user studies, demo days and video shoots. People who are not Kent State students or employees sign a model release; minors need a parent or guardian release (Kent State Policy 5-19), and student names are never used without written permission.
Character budgets: headline one or two lines of about 18 characters each at 60 pt Black (a longer headline shrinks; keep it to two lines); body three lines at 24 pt (about 130 characters); plate text one line at 26 pt (about 40 characters); second line two lines at 20 pt.
Composition: the pictogram and the headline are one unit (the headline is anchored to the top of its box, right under the pictogram); the body, the gold plate and the second line keep fixed positions so every sign in a corridor lines up. A one-line headline leaves about 1 in of white before the body, which is normal for signage; do not move the body up on one sign unless you move it on all of them.
INFORMATIONAL SIGN, not a regulatory one. The brand hazard band frames informational signs ("Robots in operation", "Recording in progress", event welcome signs). Regulatory hazard signs (lasers, batteries and charging, robot work cells, electrical) come from Kent State environmental health and safety [verify contact] in the standard ANSI Z535 format (DANGER / WARNING / CAUTION / NOTICE with their standard colors); never restyle one in navy and gold or add the ATR logo to it.
Legibility: cap height about 1 in per 10 ft of viewing distance; the 60 pt headline reads from about 6 ft. Icon and words together, never color or a pictogram alone. Do not post brand signage where it hides an emergency stop, an exit sign or a fire extinguisher.
Small print: the Kent State trademark line sits between the two signatures in 8 pt slate (the print floor for fine print) because the band clearance and the logos' clear space leave no other position on the front; Kent State prefers it on the back, so on a duplex print move it there.
Bands, color fields, panels, plates, logos and the footer live on the slide layout (View &gt; Slide Master), so they cannot be dragged by accident. The text boxes are layout placeholders: New Slide &gt; this layout (layouts are named for people: Event flyer, Recruiting flyer, Certificate, One-pager front and so on) gives you every panel and every box with its prompt, and Reset restores a box you moved. Only swappable content (illustrations, icons, the QR box) sits on the slide itself.
Boxes that hold names, titles and headlines have "Shrink text on overflow" turned on: a value longer than the character budget in these notes shrinks instead of running over the next element. Keep inside the budgets so the type stays at or near the design size; Keynote and Google Slides ignore the setting, so shorten the text there.
The hazard band is a bookend on one edge (two on a sign). Never place text or logos over it; keep 0.30 in clear.
Editorial style: "Advanced Telerobotics Research Lab" on first reference, then "the lab"; "Kent State University" first, then "Kent State". No Oxford comma, "and" not "&amp;", dates like "Sept. 23", times like "9 a.m.-noon". Never invent facts: keep the [bracketed] placeholders until you have real values.
Printed pieces that carry Kent State marks add the trademark line in small type (8 pt, the print floor; preferably on the back).
PRINT SPECS. This file is built at trim size. Text, logos and QR codes sit at least 0.25 in inside the trim (0.5 in on most edges).
Bleed: color fields and hazard bands run to the page edge. A contracted Kent State printer that trims from oversized stock needs 0.125 in of bleed on every side: ask the printer to add the bleed from the trim-size PDF (every edge element is flat color or a repeating stripe, so the extension is mechanical). If you have the generator (build/templates-src/print), BLEED=1 builds a version whose fields already extend 0.125 in past the trim.
Export: File &gt; Export &gt; PDF at "Best for printing" (PowerPoint cannot write PDF/X; the printer preflights it). Colour: navy = PMS 281 C / C100 M72 Y0 K38, gold = PMS 124 C / C7 M35 Y100 K0. Never let a default RGB-to-CMYK profile convert the gold.
Logos: the Kent State wordmark in this file (assets/logos/ksu) is a working copy of the old Stacked raster (colors corrected); replace with the official UCM file before public use: swap it on the slide layout (View &gt; Slide Master) with the file from https://www.kent.edu/brand/logos at the same size. Keep it at least 1.05 in wide (so UNIVERSITY is at least 1 in) with K-height clear space and the (R).
Fonts: Source Sans 3, Roboto Slab and Source Code Pro (assets/fonts). Embed fonts before sending the file, or send the PDF. Fallbacks are Arial / Georgia / Courier New and every text box carries about 10% width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2-5.png"/><Relationship Id="rId6" Type="http://schemas.openxmlformats.org/officeDocument/2006/relationships/image" Target="../media/image-1002-6.png"/><Relationship Id="rId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1.png"/><Relationship Id="rId3" Type="http://schemas.openxmlformats.org/officeDocument/2006/relationships/image" Target="../media/image-1003-3.png"/><Relationship Id="rId4" Type="http://schemas.openxmlformats.org/officeDocument/2006/relationships/image" Target="../media/image-1003-4.png"/><Relationship Id="rId5"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Lab door sign (navy)">
    <p:bg>
      <p:bgPr>
        <a:solidFill>
          <a:srgbClr val="003976"/>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7772400" cy="388620"/>
          </a:xfrm>
          <a:prstGeom prst="rect">
            <a:avLst/>
          </a:prstGeom>
        </p:spPr>
      </p:pic>
      <p:pic>
        <p:nvPicPr>
          <p:cNvPr id="3" name="Image 1" descr="Advanced Telerobotics Research logo">    </p:cNvPr>
          <p:cNvPicPr>
            <a:picLocks noChangeAspect="1"/>
          </p:cNvPicPr>
          <p:nvPr/>
        </p:nvPicPr>
        <p:blipFill>
          <a:blip r:embed="rId2"/>
          <a:stretch>
            <a:fillRect/>
          </a:stretch>
        </p:blipFill>
        <p:spPr>
          <a:xfrm>
            <a:off x="457200" y="845820"/>
            <a:ext cx="3657600" cy="1389888"/>
          </a:xfrm>
          <a:prstGeom prst="rect">
            <a:avLst/>
          </a:prstGeom>
        </p:spPr>
      </p:pic>
      <p:pic>
        <p:nvPicPr>
          <p:cNvPr id="4" name="Image 2" descr="Kent State University wordmark">    </p:cNvPr>
          <p:cNvPicPr>
            <a:picLocks noChangeAspect="1"/>
          </p:cNvPicPr>
          <p:nvPr/>
        </p:nvPicPr>
        <p:blipFill>
          <a:blip r:embed="rId3"/>
          <a:stretch>
            <a:fillRect/>
          </a:stretch>
        </p:blipFill>
        <p:spPr>
          <a:xfrm>
            <a:off x="6348128" y="8677656"/>
            <a:ext cx="967072" cy="923544"/>
          </a:xfrm>
          <a:prstGeom prst="rect">
            <a:avLst/>
          </a:prstGeom>
        </p:spPr>
      </p:pic>
      <p:sp>
        <p:nvSpPr>
          <p:cNvPr id="5" name="Text 0"/>
          <p:cNvSpPr txBox="1"/>
          <p:nvPr/>
        </p:nvSpPr>
        <p:spPr>
          <a:xfrm>
            <a:off x="457200" y="9692640"/>
            <a:ext cx="5303520" cy="137160"/>
          </a:xfrm>
          <a:prstGeom prst="rect">
            <a:avLst/>
          </a:prstGeom>
          <a:noFill/>
          <a:ln/>
        </p:spPr>
        <p:txBody>
          <a:bodyPr wrap="square" lIns="0" tIns="0" rIns="0" bIns="0" rtlCol="0" anchor="ctr"/>
          <a:lstStyle/>
          <a:p>
            <a:pPr algn="l" indent="0" marL="0">
              <a:buNone/>
            </a:pPr>
            <a:r>
              <a:rPr lang="en-US" sz="800" dirty="0">
                <a:solidFill>
                  <a:srgbClr val="FFFFFF"/>
                </a:solidFill>
                <a:latin typeface="Source Sans 3" pitchFamily="34" charset="0"/>
                <a:ea typeface="Source Sans 3" pitchFamily="34" charset="-122"/>
                <a:cs typeface="Source Sans 3" pitchFamily="34" charset="-120"/>
              </a:rPr>
              <a:t>Kent State University, Kent State and KSU are registered trademarks and may not be used without permission.</a:t>
            </a:r>
            <a:endParaRPr lang="en-US" sz="800" dirty="0"/>
          </a:p>
        </p:txBody>
      </p:sp>
      <p:sp>
        <p:nvSpPr>
          <p:cNvPr id="6" name="Shape 1"/>
          <p:cNvSpPr/>
          <p:nvPr/>
        </p:nvSpPr>
        <p:spPr>
          <a:xfrm>
            <a:off x="457200" y="2926080"/>
            <a:ext cx="3017520" cy="1920240"/>
          </a:xfrm>
          <a:prstGeom prst="rect">
            <a:avLst/>
          </a:prstGeom>
          <a:solidFill>
            <a:srgbClr val="EFAB00"/>
          </a:solidFill>
          <a:ln w="12700">
            <a:solidFill>
              <a:srgbClr val="EFAB00"/>
            </a:solidFill>
            <a:prstDash val="solid"/>
          </a:ln>
        </p:spPr>
      </p:sp>
      <p:sp>
        <p:nvSpPr>
          <p:cNvPr id="7" name="Text 2"/>
          <p:cNvSpPr txBox="1"/>
          <p:nvPr/>
        </p:nvSpPr>
        <p:spPr>
          <a:xfrm>
            <a:off x="731520" y="3108960"/>
            <a:ext cx="2468880" cy="266700"/>
          </a:xfrm>
          <a:prstGeom prst="rect">
            <a:avLst/>
          </a:prstGeom>
          <a:noFill/>
          <a:ln/>
        </p:spPr>
        <p:txBody>
          <a:bodyPr wrap="square" lIns="0" tIns="0" rIns="0" bIns="0" rtlCol="0" anchor="ctr"/>
          <a:lstStyle/>
          <a:p>
            <a:pPr algn="l" indent="0" marL="0">
              <a:buNone/>
            </a:pPr>
            <a:r>
              <a:rPr lang="en-US" sz="1400" b="1" spc="252" kern="0" dirty="0">
                <a:solidFill>
                  <a:srgbClr val="003976"/>
                </a:solidFill>
                <a:latin typeface="Source Sans 3" pitchFamily="34" charset="0"/>
                <a:ea typeface="Source Sans 3" pitchFamily="34" charset="-122"/>
                <a:cs typeface="Source Sans 3" pitchFamily="34" charset="-120"/>
              </a:rPr>
              <a:t>ROOM</a:t>
            </a:r>
            <a:endParaRPr lang="en-US" sz="1400" dirty="0"/>
          </a:p>
        </p:txBody>
      </p:sp>
      <p:sp>
        <p:nvSpPr>
          <p:cNvPr id="8" name="Text 3"/>
          <p:cNvSpPr/>
          <p:nvPr>
            <p:ph idx="106" type="body" hasCustomPrompt="1"/>
          </p:nvPr>
        </p:nvSpPr>
        <p:spPr>
          <a:xfrm>
            <a:off x="548640" y="3429000"/>
            <a:ext cx="2834640" cy="1234440"/>
          </a:xfrm>
          <a:prstGeom prst="rect">
            <a:avLst/>
          </a:prstGeom>
          <a:noFill/>
          <a:ln/>
        </p:spPr>
        <p:txBody>
          <a:bodyPr wrap="square" lIns="0" tIns="0" rIns="0" bIns="0" rtlCol="0" anchor="ctr">
            <a:normAutofit/>
          </a:bodyPr>
          <a:lstStyle>
            <a:lvl1pPr algn="ctr" indent="0" marL="0">
              <a:buNone/>
              <a:defRPr lang="en-US" sz="7200" b="1" dirty="0">
                <a:solidFill>
                  <a:srgbClr val="003976"/>
                </a:solidFill>
                <a:latin typeface="Roboto Slab" pitchFamily="34" charset="0"/>
                <a:ea typeface="Roboto Slab" pitchFamily="34" charset="-122"/>
                <a:cs typeface="Roboto Slab" pitchFamily="34" charset="-120"/>
              </a:defRPr>
            </a:lvl1pPr>
          </a:lstStyle>
          <a:p>
            <a:pPr algn="ctr" indent="0" marL="0">
              <a:buNone/>
            </a:pPr>
            <a:r>
              <a:rPr lang="en-US" sz="7200" b="1" dirty="0">
                <a:solidFill>
                  <a:srgbClr val="003976"/>
                </a:solidFill>
                <a:latin typeface="Roboto Slab" pitchFamily="34" charset="0"/>
                <a:ea typeface="Roboto Slab" pitchFamily="34" charset="-122"/>
                <a:cs typeface="Roboto Slab" pitchFamily="34" charset="-120"/>
              </a:rPr>
              <a:t>[###]</a:t>
            </a:r>
            <a:endParaRPr lang="en-US" sz="7200" dirty="0"/>
          </a:p>
        </p:txBody>
      </p:sp>
      <p:sp>
        <p:nvSpPr>
          <p:cNvPr id="9" name="Text 3"/>
          <p:cNvSpPr/>
          <p:nvPr>
            <p:ph idx="107" type="body" hasCustomPrompt="1"/>
          </p:nvPr>
        </p:nvSpPr>
        <p:spPr>
          <a:xfrm>
            <a:off x="3749040" y="2944368"/>
            <a:ext cx="3566160" cy="658368"/>
          </a:xfrm>
          <a:prstGeom prst="rect">
            <a:avLst/>
          </a:prstGeom>
          <a:noFill/>
          <a:ln/>
        </p:spPr>
        <p:txBody>
          <a:bodyPr wrap="square" lIns="0" tIns="0" rIns="0" bIns="0" rtlCol="0" anchor="t">
            <a:normAutofit/>
          </a:bodyPr>
          <a:lstStyle>
            <a:lvl1pPr algn="l" indent="0" marL="0">
              <a:lnSpc>
                <a:spcPts val="2400"/>
              </a:lnSpc>
              <a:buNone/>
              <a:defRPr lang="en-US" sz="2000" b="1" dirty="0">
                <a:solidFill>
                  <a:srgbClr val="FFFFFF"/>
                </a:solidFill>
                <a:latin typeface="Source Sans 3" pitchFamily="34" charset="0"/>
                <a:ea typeface="Source Sans 3" pitchFamily="34" charset="-122"/>
                <a:cs typeface="Source Sans 3" pitchFamily="34" charset="-120"/>
              </a:defRPr>
            </a:lvl1pPr>
          </a:lstStyle>
          <a:p>
            <a:pPr algn="l" indent="0" marL="0">
              <a:lnSpc>
                <a:spcPts val="2400"/>
              </a:lnSpc>
              <a:buNone/>
            </a:pPr>
            <a:r>
              <a:rPr lang="en-US" sz="2000" b="1" dirty="0">
                <a:solidFill>
                  <a:srgbClr val="FFFFFF"/>
                </a:solidFill>
                <a:latin typeface="Source Sans 3" pitchFamily="34" charset="0"/>
                <a:ea typeface="Source Sans 3" pitchFamily="34" charset="-122"/>
                <a:cs typeface="Source Sans 3" pitchFamily="34" charset="-120"/>
              </a:rPr>
              <a:t>Mathematical Sciences Building</a:t>
            </a:r>
            <a:endParaRPr lang="en-US" sz="2000" dirty="0"/>
          </a:p>
        </p:txBody>
      </p:sp>
      <p:sp>
        <p:nvSpPr>
          <p:cNvPr id="10" name="Text 3"/>
          <p:cNvSpPr/>
          <p:nvPr>
            <p:ph idx="108" type="body" hasCustomPrompt="1"/>
          </p:nvPr>
        </p:nvSpPr>
        <p:spPr>
          <a:xfrm>
            <a:off x="3749040" y="3639312"/>
            <a:ext cx="3566160" cy="274320"/>
          </a:xfrm>
          <a:prstGeom prst="rect">
            <a:avLst/>
          </a:prstGeom>
          <a:noFill/>
          <a:ln/>
        </p:spPr>
        <p:txBody>
          <a:bodyPr wrap="square" lIns="0" tIns="0" rIns="0" bIns="0" rtlCol="0" anchor="ctr">
            <a:normAutofit/>
          </a:bodyPr>
          <a:lstStyle>
            <a:lvl1pPr algn="l" indent="0" marL="0">
              <a:buNone/>
              <a:defRPr lang="en-US" sz="1600" dirty="0">
                <a:solidFill>
                  <a:srgbClr val="FFFFFF"/>
                </a:solidFill>
                <a:latin typeface="Source Sans 3" pitchFamily="34" charset="0"/>
                <a:ea typeface="Source Sans 3" pitchFamily="34" charset="-122"/>
                <a:cs typeface="Source Sans 3" pitchFamily="34" charset="-120"/>
              </a:defRPr>
            </a:lvl1pPr>
          </a:lstStyle>
          <a:p>
            <a:pPr algn="l" indent="0" marL="0">
              <a:buNone/>
            </a:pPr>
            <a:r>
              <a:rPr lang="en-US" sz="1600" dirty="0">
                <a:solidFill>
                  <a:srgbClr val="FFFFFF"/>
                </a:solidFill>
                <a:latin typeface="Source Sans 3" pitchFamily="34" charset="0"/>
                <a:ea typeface="Source Sans 3" pitchFamily="34" charset="-122"/>
                <a:cs typeface="Source Sans 3" pitchFamily="34" charset="-120"/>
              </a:rPr>
              <a:t>Kent State University, Kent, Ohio</a:t>
            </a:r>
            <a:endParaRPr lang="en-US" sz="1600" dirty="0"/>
          </a:p>
        </p:txBody>
      </p:sp>
      <p:sp>
        <p:nvSpPr>
          <p:cNvPr id="11" name="Text 3"/>
          <p:cNvSpPr txBox="1"/>
          <p:nvPr/>
        </p:nvSpPr>
        <p:spPr>
          <a:xfrm>
            <a:off x="3749040" y="4069080"/>
            <a:ext cx="3566160" cy="228600"/>
          </a:xfrm>
          <a:prstGeom prst="rect">
            <a:avLst/>
          </a:prstGeom>
          <a:noFill/>
          <a:ln/>
        </p:spPr>
        <p:txBody>
          <a:bodyPr wrap="square" lIns="0" tIns="0" rIns="0" bIns="0" rtlCol="0" anchor="ctr"/>
          <a:lstStyle/>
          <a:p>
            <a:pPr algn="l" indent="0" marL="0">
              <a:buNone/>
            </a:pPr>
            <a:r>
              <a:rPr lang="en-US" sz="1200" b="1" spc="216" kern="0" dirty="0">
                <a:solidFill>
                  <a:srgbClr val="EFAB00"/>
                </a:solidFill>
                <a:latin typeface="Source Sans 3" pitchFamily="34" charset="0"/>
                <a:ea typeface="Source Sans 3" pitchFamily="34" charset="-122"/>
                <a:cs typeface="Source Sans 3" pitchFamily="34" charset="-120"/>
              </a:rPr>
              <a:t>HOURS</a:t>
            </a:r>
            <a:endParaRPr lang="en-US" sz="1200" dirty="0"/>
          </a:p>
        </p:txBody>
      </p:sp>
      <p:sp>
        <p:nvSpPr>
          <p:cNvPr id="12" name="Text 4"/>
          <p:cNvSpPr/>
          <p:nvPr>
            <p:ph idx="110" type="body" hasCustomPrompt="1"/>
          </p:nvPr>
        </p:nvSpPr>
        <p:spPr>
          <a:xfrm>
            <a:off x="3749040" y="4297680"/>
            <a:ext cx="3566160" cy="292608"/>
          </a:xfrm>
          <a:prstGeom prst="rect">
            <a:avLst/>
          </a:prstGeom>
          <a:noFill/>
          <a:ln/>
        </p:spPr>
        <p:txBody>
          <a:bodyPr wrap="square" lIns="0" tIns="0" rIns="0" bIns="0" rtlCol="0" anchor="ctr">
            <a:normAutofit/>
          </a:bodyPr>
          <a:lstStyle>
            <a:lvl1pPr algn="l" indent="0" marL="0">
              <a:buNone/>
              <a:defRPr lang="en-US" sz="1800" dirty="0">
                <a:solidFill>
                  <a:srgbClr val="FFFFFF"/>
                </a:solidFill>
                <a:latin typeface="Source Sans 3" pitchFamily="34" charset="0"/>
                <a:ea typeface="Source Sans 3" pitchFamily="34" charset="-122"/>
                <a:cs typeface="Source Sans 3" pitchFamily="34" charset="-120"/>
              </a:defRPr>
            </a:lvl1pPr>
          </a:lstStyle>
          <a:p>
            <a:pPr algn="l" indent="0" marL="0">
              <a:buNone/>
            </a:pPr>
            <a:r>
              <a:rPr lang="en-US" sz="1800" dirty="0">
                <a:solidFill>
                  <a:srgbClr val="FFFFFF"/>
                </a:solidFill>
                <a:latin typeface="Source Sans 3" pitchFamily="34" charset="0"/>
                <a:ea typeface="Source Sans 3" pitchFamily="34" charset="-122"/>
                <a:cs typeface="Source Sans 3" pitchFamily="34" charset="-120"/>
              </a:rPr>
              <a:t>[Mon.-Fri., 9 a.m.-5 p.m.]</a:t>
            </a:r>
            <a:endParaRPr lang="en-US" sz="1800" dirty="0"/>
          </a:p>
        </p:txBody>
      </p:sp>
      <p:sp>
        <p:nvSpPr>
          <p:cNvPr id="13" name="Text 4"/>
          <p:cNvSpPr/>
          <p:nvPr>
            <p:ph idx="111" type="body" hasCustomPrompt="1"/>
          </p:nvPr>
        </p:nvSpPr>
        <p:spPr>
          <a:xfrm>
            <a:off x="3749040" y="4590288"/>
            <a:ext cx="3566160" cy="256032"/>
          </a:xfrm>
          <a:prstGeom prst="rect">
            <a:avLst/>
          </a:prstGeom>
          <a:noFill/>
          <a:ln/>
        </p:spPr>
        <p:txBody>
          <a:bodyPr wrap="square" lIns="0" tIns="0" rIns="0" bIns="0" rtlCol="0" anchor="ctr">
            <a:normAutofit/>
          </a:bodyPr>
          <a:lstStyle>
            <a:lvl1pPr algn="l" indent="0" marL="0">
              <a:buNone/>
              <a:defRPr lang="en-US" sz="1400" dirty="0">
                <a:solidFill>
                  <a:srgbClr val="FFFFFF"/>
                </a:solidFill>
                <a:latin typeface="Source Sans 3" pitchFamily="34" charset="0"/>
                <a:ea typeface="Source Sans 3" pitchFamily="34" charset="-122"/>
                <a:cs typeface="Source Sans 3" pitchFamily="34" charset="-120"/>
              </a:defRPr>
            </a:lvl1pPr>
          </a:lstStyle>
          <a:p>
            <a:pPr algn="l" indent="0" marL="0">
              <a:buNone/>
            </a:pPr>
            <a:r>
              <a:rPr lang="en-US" sz="1400" dirty="0">
                <a:solidFill>
                  <a:srgbClr val="FFFFFF"/>
                </a:solidFill>
                <a:latin typeface="Source Sans 3" pitchFamily="34" charset="0"/>
                <a:ea typeface="Source Sans 3" pitchFamily="34" charset="-122"/>
                <a:cs typeface="Source Sans 3" pitchFamily="34" charset="-120"/>
              </a:rPr>
              <a:t>[By appointment: name@kent.edu]</a:t>
            </a:r>
            <a:endParaRPr lang="en-US" sz="1400" dirty="0"/>
          </a:p>
        </p:txBody>
      </p:sp>
      <p:sp>
        <p:nvSpPr>
          <p:cNvPr id="14" name="Text 4"/>
          <p:cNvSpPr/>
          <p:nvPr>
            <p:ph idx="112" type="body" hasCustomPrompt="1"/>
          </p:nvPr>
        </p:nvSpPr>
        <p:spPr>
          <a:xfrm>
            <a:off x="3749040" y="4864608"/>
            <a:ext cx="3566160" cy="457200"/>
          </a:xfrm>
          <a:prstGeom prst="rect">
            <a:avLst/>
          </a:prstGeom>
          <a:noFill/>
          <a:ln/>
        </p:spPr>
        <p:txBody>
          <a:bodyPr wrap="square" lIns="0" tIns="0" rIns="0" bIns="0" rtlCol="0" anchor="t">
            <a:normAutofit/>
          </a:bodyPr>
          <a:lstStyle>
            <a:lvl1pPr algn="l" indent="0" marL="0">
              <a:lnSpc>
                <a:spcPts val="1800"/>
              </a:lnSpc>
              <a:buNone/>
              <a:defRPr lang="en-US" sz="1400" dirty="0">
                <a:solidFill>
                  <a:srgbClr val="FFFFFF"/>
                </a:solidFill>
                <a:latin typeface="Source Sans 3" pitchFamily="34" charset="0"/>
                <a:ea typeface="Source Sans 3" pitchFamily="34" charset="-122"/>
                <a:cs typeface="Source Sans 3" pitchFamily="34" charset="-120"/>
              </a:defRPr>
            </a:lvl1pPr>
          </a:lstStyle>
          <a:p>
            <a:pPr algn="l" indent="0" marL="0">
              <a:lnSpc>
                <a:spcPts val="1800"/>
              </a:lnSpc>
              <a:buNone/>
            </a:pPr>
            <a:r>
              <a:rPr lang="en-US" sz="1400" dirty="0">
                <a:solidFill>
                  <a:srgbClr val="FFFFFF"/>
                </a:solidFill>
                <a:latin typeface="Source Sans 3" pitchFamily="34" charset="0"/>
                <a:ea typeface="Source Sans 3" pitchFamily="34" charset="-122"/>
                <a:cs typeface="Source Sans 3" pitchFamily="34" charset="-120"/>
              </a:rPr>
              <a:t>[Lab phone]</a:t>
            </a:r>
            <a:endParaRPr lang="en-US" sz="1400" dirty="0"/>
          </a:p>
          <a:p>
            <a:pPr algn="l" indent="0" marL="0">
              <a:lnSpc>
                <a:spcPts val="1800"/>
              </a:lnSpc>
              <a:buNone/>
            </a:pPr>
            <a:r>
              <a:rPr lang="en-US" sz="1400" dirty="0">
                <a:solidFill>
                  <a:srgbClr val="FFFFFF"/>
                </a:solidFill>
                <a:latin typeface="Source Sans 3" pitchFamily="34" charset="0"/>
                <a:ea typeface="Source Sans 3" pitchFamily="34" charset="-122"/>
                <a:cs typeface="Source Sans 3" pitchFamily="34" charset="-120"/>
              </a:rPr>
              <a:t>Department office 330-672-9980</a:t>
            </a:r>
            <a:endParaRPr lang="en-US" sz="1400" dirty="0"/>
          </a:p>
        </p:txBody>
      </p:sp>
      <p:sp>
        <p:nvSpPr>
          <p:cNvPr id="15" name="Text 4"/>
          <p:cNvSpPr/>
          <p:nvPr>
            <p:ph idx="113" type="title" hasCustomPrompt="1"/>
          </p:nvPr>
        </p:nvSpPr>
        <p:spPr>
          <a:xfrm>
            <a:off x="457200" y="5486400"/>
            <a:ext cx="6858000" cy="365760"/>
          </a:xfrm>
          <a:prstGeom prst="rect">
            <a:avLst/>
          </a:prstGeom>
          <a:noFill/>
          <a:ln/>
        </p:spPr>
        <p:txBody>
          <a:bodyPr wrap="square" lIns="0" tIns="0" rIns="0" bIns="0" rtlCol="0" anchor="ctr">
            <a:normAutofit/>
          </a:bodyPr>
          <a:lstStyle>
            <a:lvl1pPr algn="l" indent="0" marL="0">
              <a:buNone/>
              <a:defRPr lang="en-US" sz="2200" b="1" dirty="0">
                <a:solidFill>
                  <a:srgbClr val="FFFFFF"/>
                </a:solidFill>
                <a:latin typeface="Source Sans 3" pitchFamily="34" charset="0"/>
                <a:ea typeface="Source Sans 3" pitchFamily="34" charset="-122"/>
                <a:cs typeface="Source Sans 3" pitchFamily="34" charset="-120"/>
              </a:defRPr>
            </a:lvl1pPr>
          </a:lstStyle>
          <a:p>
            <a:pPr algn="l" indent="0" marL="0">
              <a:buNone/>
            </a:pPr>
            <a:r>
              <a:rPr lang="en-US" sz="2200" b="1" dirty="0">
                <a:solidFill>
                  <a:srgbClr val="FFFFFF"/>
                </a:solidFill>
                <a:latin typeface="Source Sans 3" pitchFamily="34" charset="0"/>
                <a:ea typeface="Source Sans 3" pitchFamily="34" charset="-122"/>
                <a:cs typeface="Source Sans 3" pitchFamily="34" charset="-120"/>
              </a:rPr>
              <a:t>Advanced Telerobotics Research Lab</a:t>
            </a:r>
            <a:endParaRPr lang="en-US" sz="2200" dirty="0"/>
          </a:p>
        </p:txBody>
      </p:sp>
      <p:sp>
        <p:nvSpPr>
          <p:cNvPr id="16" name="Text 4"/>
          <p:cNvSpPr/>
          <p:nvPr>
            <p:ph idx="114" type="body" hasCustomPrompt="1"/>
          </p:nvPr>
        </p:nvSpPr>
        <p:spPr>
          <a:xfrm>
            <a:off x="457200" y="5897880"/>
            <a:ext cx="6675120" cy="841248"/>
          </a:xfrm>
          <a:prstGeom prst="rect">
            <a:avLst/>
          </a:prstGeom>
          <a:noFill/>
          <a:ln/>
        </p:spPr>
        <p:txBody>
          <a:bodyPr wrap="square" lIns="0" tIns="0" rIns="0" bIns="0" rtlCol="0" anchor="t">
            <a:normAutofit/>
          </a:bodyPr>
          <a:lstStyle>
            <a:lvl1pPr algn="l" indent="0" marL="0">
              <a:lnSpc>
                <a:spcPts val="2100"/>
              </a:lnSpc>
              <a:buNone/>
              <a:defRPr lang="en-US" sz="1600" dirty="0">
                <a:solidFill>
                  <a:srgbClr val="FFFFFF"/>
                </a:solidFill>
                <a:latin typeface="Source Sans 3" pitchFamily="34" charset="0"/>
                <a:ea typeface="Source Sans 3" pitchFamily="34" charset="-122"/>
                <a:cs typeface="Source Sans 3" pitchFamily="34" charset="-120"/>
              </a:defRPr>
            </a:lvl1pPr>
          </a:lstStyle>
          <a:p>
            <a:pPr algn="l" indent="0" marL="0">
              <a:lnSpc>
                <a:spcPts val="2100"/>
              </a:lnSpc>
              <a:buNone/>
            </a:pPr>
            <a:r>
              <a:rPr lang="en-US" sz="1600" dirty="0">
                <a:solidFill>
                  <a:srgbClr val="FFFFFF"/>
                </a:solidFill>
                <a:latin typeface="Source Sans 3" pitchFamily="34" charset="0"/>
                <a:ea typeface="Source Sans 3" pitchFamily="34" charset="-122"/>
                <a:cs typeface="Source Sans 3" pitchFamily="34" charset="-120"/>
              </a:rPr>
              <a:t>An innovation research laboratory focused on exploring the frontiers of telepresence robotics, tele-embodiment, autonomy and artificial intelligence.</a:t>
            </a:r>
            <a:endParaRPr lang="en-US" sz="1600" dirty="0"/>
          </a:p>
        </p:txBody>
      </p:sp>
      <p:sp>
        <p:nvSpPr>
          <p:cNvPr id="17" name="Text 4"/>
          <p:cNvSpPr/>
          <p:nvPr>
            <p:ph idx="115" type="body" hasCustomPrompt="1"/>
          </p:nvPr>
        </p:nvSpPr>
        <p:spPr>
          <a:xfrm>
            <a:off x="457200" y="6766560"/>
            <a:ext cx="6675120" cy="256032"/>
          </a:xfrm>
          <a:prstGeom prst="rect">
            <a:avLst/>
          </a:prstGeom>
          <a:noFill/>
          <a:ln/>
        </p:spPr>
        <p:txBody>
          <a:bodyPr wrap="square" lIns="0" tIns="0" rIns="0" bIns="0" rtlCol="0" anchor="ctr">
            <a:normAutofit/>
          </a:bodyPr>
          <a:lstStyle>
            <a:lvl1pPr algn="l" indent="0" marL="0">
              <a:buNone/>
              <a:defRPr lang="en-US" sz="1600" dirty="0">
                <a:solidFill>
                  <a:srgbClr val="FFFFFF"/>
                </a:solidFill>
                <a:latin typeface="Source Sans 3" pitchFamily="34" charset="0"/>
                <a:ea typeface="Source Sans 3" pitchFamily="34" charset="-122"/>
                <a:cs typeface="Source Sans 3" pitchFamily="34" charset="-120"/>
              </a:defRPr>
            </a:lvl1pPr>
          </a:lstStyle>
          <a:p>
            <a:pPr algn="l" indent="0" marL="0">
              <a:buNone/>
            </a:pPr>
            <a:r>
              <a:rPr lang="en-US" sz="1600" dirty="0">
                <a:solidFill>
                  <a:srgbClr val="FFFFFF"/>
                </a:solidFill>
                <a:latin typeface="Source Sans 3" pitchFamily="34" charset="0"/>
                <a:ea typeface="Source Sans 3" pitchFamily="34" charset="-122"/>
                <a:cs typeface="Source Sans 3" pitchFamily="34" charset="-120"/>
              </a:rPr>
              <a:t>Department of Computer Science, Kent State University</a:t>
            </a:r>
            <a:endParaRPr lang="en-US" sz="1600" dirty="0"/>
          </a:p>
        </p:txBody>
      </p:sp>
      <p:pic>
        <p:nvPicPr>
          <p:cNvPr id="18" name="Image 3" descr="Website">    </p:cNvPr>
          <p:cNvPicPr>
            <a:picLocks noChangeAspect="1"/>
          </p:cNvPicPr>
          <p:nvPr/>
        </p:nvPicPr>
        <p:blipFill>
          <a:blip r:embed="rId4"/>
          <a:stretch>
            <a:fillRect/>
          </a:stretch>
        </p:blipFill>
        <p:spPr>
          <a:xfrm>
            <a:off x="457200" y="7214616"/>
            <a:ext cx="310896" cy="310896"/>
          </a:xfrm>
          <a:prstGeom prst="rect">
            <a:avLst/>
          </a:prstGeom>
        </p:spPr>
      </p:pic>
      <p:sp>
        <p:nvSpPr>
          <p:cNvPr id="19" name="Text 4"/>
          <p:cNvSpPr/>
          <p:nvPr>
            <p:ph idx="117" type="body" hasCustomPrompt="1"/>
          </p:nvPr>
        </p:nvSpPr>
        <p:spPr>
          <a:xfrm>
            <a:off x="914400" y="7223760"/>
            <a:ext cx="4572000" cy="292608"/>
          </a:xfrm>
          <a:prstGeom prst="rect">
            <a:avLst/>
          </a:prstGeom>
          <a:noFill/>
          <a:ln/>
        </p:spPr>
        <p:txBody>
          <a:bodyPr wrap="square" lIns="0" tIns="0" rIns="0" bIns="0" rtlCol="0" anchor="ctr">
            <a:normAutofit/>
          </a:bodyPr>
          <a:lstStyle>
            <a:lvl1pPr algn="l" indent="0" marL="0">
              <a:buNone/>
              <a:defRPr lang="en-US" sz="1600" dirty="0">
                <a:solidFill>
                  <a:srgbClr val="FFFFFF"/>
                </a:solidFill>
                <a:latin typeface="Source Sans 3" pitchFamily="34" charset="0"/>
                <a:ea typeface="Source Sans 3" pitchFamily="34" charset="-122"/>
                <a:cs typeface="Source Sans 3" pitchFamily="34" charset="-120"/>
              </a:defRPr>
            </a:lvl1pPr>
          </a:lstStyle>
          <a:p>
            <a:pPr algn="l" indent="0" marL="0">
              <a:buNone/>
            </a:pPr>
            <a:r>
              <a:rPr lang="en-US" sz="1600" dirty="0">
                <a:solidFill>
                  <a:srgbClr val="FFFFFF"/>
                </a:solidFill>
                <a:latin typeface="Source Sans 3" pitchFamily="34" charset="0"/>
                <a:ea typeface="Source Sans 3" pitchFamily="34" charset="-122"/>
                <a:cs typeface="Source Sans 3" pitchFamily="34" charset="-120"/>
              </a:rPr>
              <a:t>atr.cs.kent.edu</a:t>
            </a:r>
            <a:endParaRPr lang="en-US" sz="1600" dirty="0"/>
          </a:p>
        </p:txBody>
      </p:sp>
      <p:pic>
        <p:nvPicPr>
          <p:cNvPr id="20" name="Image 4" descr="Email">    </p:cNvPr>
          <p:cNvPicPr>
            <a:picLocks noChangeAspect="1"/>
          </p:cNvPicPr>
          <p:nvPr/>
        </p:nvPicPr>
        <p:blipFill>
          <a:blip r:embed="rId5"/>
          <a:stretch>
            <a:fillRect/>
          </a:stretch>
        </p:blipFill>
        <p:spPr>
          <a:xfrm>
            <a:off x="457200" y="7635240"/>
            <a:ext cx="310896" cy="310896"/>
          </a:xfrm>
          <a:prstGeom prst="rect">
            <a:avLst/>
          </a:prstGeom>
        </p:spPr>
      </p:pic>
      <p:sp>
        <p:nvSpPr>
          <p:cNvPr id="21" name="Text 4"/>
          <p:cNvSpPr/>
          <p:nvPr>
            <p:ph idx="119" type="body" hasCustomPrompt="1"/>
          </p:nvPr>
        </p:nvSpPr>
        <p:spPr>
          <a:xfrm>
            <a:off x="914400" y="7644384"/>
            <a:ext cx="4572000" cy="292608"/>
          </a:xfrm>
          <a:prstGeom prst="rect">
            <a:avLst/>
          </a:prstGeom>
          <a:noFill/>
          <a:ln/>
        </p:spPr>
        <p:txBody>
          <a:bodyPr wrap="square" lIns="0" tIns="0" rIns="0" bIns="0" rtlCol="0" anchor="ctr">
            <a:normAutofit/>
          </a:bodyPr>
          <a:lstStyle>
            <a:lvl1pPr algn="l" indent="0" marL="0">
              <a:buNone/>
              <a:defRPr lang="en-US" sz="1600" dirty="0">
                <a:solidFill>
                  <a:srgbClr val="FFFFFF"/>
                </a:solidFill>
                <a:latin typeface="Source Sans 3" pitchFamily="34" charset="0"/>
                <a:ea typeface="Source Sans 3" pitchFamily="34" charset="-122"/>
                <a:cs typeface="Source Sans 3" pitchFamily="34" charset="-120"/>
              </a:defRPr>
            </a:lvl1pPr>
          </a:lstStyle>
          <a:p>
            <a:pPr algn="l" indent="0" marL="0">
              <a:buNone/>
            </a:pPr>
            <a:r>
              <a:rPr lang="en-US" sz="1600" dirty="0">
                <a:solidFill>
                  <a:srgbClr val="FFFFFF"/>
                </a:solidFill>
                <a:latin typeface="Source Sans 3" pitchFamily="34" charset="0"/>
                <a:ea typeface="Source Sans 3" pitchFamily="34" charset="-122"/>
                <a:cs typeface="Source Sans 3" pitchFamily="34" charset="-120"/>
              </a:rPr>
              <a:t>atrlab.kent@gmail.com</a:t>
            </a:r>
            <a:endParaRPr lang="en-US" sz="1600" dirty="0"/>
          </a:p>
        </p:txBody>
      </p:sp>
      <p:pic>
        <p:nvPicPr>
          <p:cNvPr id="22" name="Image 5" descr="GitHub">    </p:cNvPr>
          <p:cNvPicPr>
            <a:picLocks noChangeAspect="1"/>
          </p:cNvPicPr>
          <p:nvPr/>
        </p:nvPicPr>
        <p:blipFill>
          <a:blip r:embed="rId6"/>
          <a:stretch>
            <a:fillRect/>
          </a:stretch>
        </p:blipFill>
        <p:spPr>
          <a:xfrm>
            <a:off x="457200" y="8055864"/>
            <a:ext cx="310896" cy="310896"/>
          </a:xfrm>
          <a:prstGeom prst="rect">
            <a:avLst/>
          </a:prstGeom>
        </p:spPr>
      </p:pic>
      <p:sp>
        <p:nvSpPr>
          <p:cNvPr id="23" name="Text 4"/>
          <p:cNvSpPr/>
          <p:nvPr>
            <p:ph idx="121" type="body" hasCustomPrompt="1"/>
          </p:nvPr>
        </p:nvSpPr>
        <p:spPr>
          <a:xfrm>
            <a:off x="914400" y="8065008"/>
            <a:ext cx="4572000" cy="292608"/>
          </a:xfrm>
          <a:prstGeom prst="rect">
            <a:avLst/>
          </a:prstGeom>
          <a:noFill/>
          <a:ln/>
        </p:spPr>
        <p:txBody>
          <a:bodyPr wrap="square" lIns="0" tIns="0" rIns="0" bIns="0" rtlCol="0" anchor="ctr">
            <a:normAutofit/>
          </a:bodyPr>
          <a:lstStyle>
            <a:lvl1pPr algn="l" indent="0" marL="0">
              <a:buNone/>
              <a:defRPr lang="en-US" sz="1600" dirty="0">
                <a:solidFill>
                  <a:srgbClr val="FFFFFF"/>
                </a:solidFill>
                <a:latin typeface="Source Sans 3" pitchFamily="34" charset="0"/>
                <a:ea typeface="Source Sans 3" pitchFamily="34" charset="-122"/>
                <a:cs typeface="Source Sans 3" pitchFamily="34" charset="-120"/>
              </a:defRPr>
            </a:lvl1pPr>
          </a:lstStyle>
          <a:p>
            <a:pPr algn="l" indent="0" marL="0">
              <a:buNone/>
            </a:pPr>
            <a:r>
              <a:rPr lang="en-US" sz="1600" dirty="0">
                <a:solidFill>
                  <a:srgbClr val="FFFFFF"/>
                </a:solidFill>
                <a:latin typeface="Source Sans 3" pitchFamily="34" charset="0"/>
                <a:ea typeface="Source Sans 3" pitchFamily="34" charset="-122"/>
                <a:cs typeface="Source Sans 3" pitchFamily="34" charset="-120"/>
              </a:rPr>
              <a:t>github.com/ATR-Lab</a:t>
            </a:r>
            <a:endParaRPr lang="en-US" sz="1600" dirty="0"/>
          </a:p>
        </p:txBody>
      </p:sp>
      <p:sp>
        <p:nvSpPr>
          <p:cNvPr id="24" name="Text 4"/>
          <p:cNvSpPr/>
          <p:nvPr>
            <p:ph idx="122" type="body" hasCustomPrompt="1"/>
          </p:nvPr>
        </p:nvSpPr>
        <p:spPr>
          <a:xfrm>
            <a:off x="5486400" y="8101584"/>
            <a:ext cx="1828800" cy="182880"/>
          </a:xfrm>
          <a:prstGeom prst="rect">
            <a:avLst/>
          </a:prstGeom>
          <a:noFill/>
          <a:ln/>
        </p:spPr>
        <p:txBody>
          <a:bodyPr wrap="square" lIns="0" tIns="0" rIns="0" bIns="0" rtlCol="0" anchor="ctr"/>
          <a:lstStyle>
            <a:lvl1pPr algn="ctr" indent="0" marL="0">
              <a:buNone/>
              <a:defRPr lang="en-US" sz="900" dirty="0">
                <a:solidFill>
                  <a:srgbClr val="FFFFFF"/>
                </a:solidFill>
                <a:latin typeface="Source Sans 3" pitchFamily="34" charset="0"/>
                <a:ea typeface="Source Sans 3" pitchFamily="34" charset="-122"/>
                <a:cs typeface="Source Sans 3" pitchFamily="34" charset="-120"/>
              </a:defRPr>
            </a:lvl1pPr>
          </a:lstStyle>
          <a:p>
            <a:pPr algn="ctr" indent="0" marL="0">
              <a:buNone/>
            </a:pPr>
            <a:r>
              <a:rPr lang="en-US" sz="900" dirty="0">
                <a:solidFill>
                  <a:srgbClr val="FFFFFF"/>
                </a:solidFill>
                <a:latin typeface="Source Sans 3" pitchFamily="34" charset="0"/>
                <a:ea typeface="Source Sans 3" pitchFamily="34" charset="-122"/>
                <a:cs typeface="Source Sans 3" pitchFamily="34" charset="-120"/>
              </a:rPr>
              <a:t>Scan for directions and contact</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formational sign (white)">
    <p:bg>
      <p:bgPr>
        <a:solidFill>
          <a:srgbClr val="FFFFFF"/>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tretch>
            <a:fillRect/>
          </a:stretch>
        </p:blipFill>
        <p:spPr>
          <a:xfrm>
            <a:off x="0" y="0"/>
            <a:ext cx="7772400" cy="388620"/>
          </a:xfrm>
          <a:prstGeom prst="rect">
            <a:avLst/>
          </a:prstGeom>
        </p:spPr>
      </p:pic>
      <p:pic>
        <p:nvPicPr>
          <p:cNvPr id="3" name="Image 1" descr="">    </p:cNvPr>
          <p:cNvPicPr>
            <a:picLocks noChangeAspect="1"/>
          </p:cNvPicPr>
          <p:nvPr/>
        </p:nvPicPr>
        <p:blipFill>
          <a:blip r:embed="rId2"/>
          <a:stretch>
            <a:fillRect/>
          </a:stretch>
        </p:blipFill>
        <p:spPr>
          <a:xfrm>
            <a:off x="0" y="9669780"/>
            <a:ext cx="7772400" cy="388620"/>
          </a:xfrm>
          <a:prstGeom prst="rect">
            <a:avLst/>
          </a:prstGeom>
        </p:spPr>
      </p:pic>
      <p:pic>
        <p:nvPicPr>
          <p:cNvPr id="4" name="Image 2" descr="Advanced Telerobotics Research logo">    </p:cNvPr>
          <p:cNvPicPr>
            <a:picLocks noChangeAspect="1"/>
          </p:cNvPicPr>
          <p:nvPr/>
        </p:nvPicPr>
        <p:blipFill>
          <a:blip r:embed="rId3"/>
          <a:stretch>
            <a:fillRect/>
          </a:stretch>
        </p:blipFill>
        <p:spPr>
          <a:xfrm>
            <a:off x="457200" y="8435340"/>
            <a:ext cx="2430379" cy="923544"/>
          </a:xfrm>
          <a:prstGeom prst="rect">
            <a:avLst/>
          </a:prstGeom>
        </p:spPr>
      </p:pic>
      <p:pic>
        <p:nvPicPr>
          <p:cNvPr id="5" name="Image 3" descr="Kent State University wordmark">    </p:cNvPr>
          <p:cNvPicPr>
            <a:picLocks noChangeAspect="1"/>
          </p:cNvPicPr>
          <p:nvPr/>
        </p:nvPicPr>
        <p:blipFill>
          <a:blip r:embed="rId4"/>
          <a:stretch>
            <a:fillRect/>
          </a:stretch>
        </p:blipFill>
        <p:spPr>
          <a:xfrm>
            <a:off x="6348128" y="8435340"/>
            <a:ext cx="967072" cy="923544"/>
          </a:xfrm>
          <a:prstGeom prst="rect">
            <a:avLst/>
          </a:prstGeom>
        </p:spPr>
      </p:pic>
      <p:sp>
        <p:nvSpPr>
          <p:cNvPr id="6" name="Text 0"/>
          <p:cNvSpPr txBox="1"/>
          <p:nvPr/>
        </p:nvSpPr>
        <p:spPr>
          <a:xfrm>
            <a:off x="3291840" y="8709660"/>
            <a:ext cx="2697480" cy="329184"/>
          </a:xfrm>
          <a:prstGeom prst="rect">
            <a:avLst/>
          </a:prstGeom>
          <a:noFill/>
          <a:ln/>
        </p:spPr>
        <p:txBody>
          <a:bodyPr wrap="square" lIns="0" tIns="0" rIns="0" bIns="0" rtlCol="0" anchor="ctr"/>
          <a:lstStyle/>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Kent State University, Kent State and KSU are registered trademarks and may not be used without permission.</a:t>
            </a:r>
            <a:endParaRPr lang="en-US" sz="800" dirty="0"/>
          </a:p>
        </p:txBody>
      </p:sp>
      <p:sp>
        <p:nvSpPr>
          <p:cNvPr id="7" name="Shape 1"/>
          <p:cNvSpPr/>
          <p:nvPr/>
        </p:nvSpPr>
        <p:spPr>
          <a:xfrm>
            <a:off x="457200" y="6126480"/>
            <a:ext cx="6858000" cy="1234440"/>
          </a:xfrm>
          <a:prstGeom prst="rect">
            <a:avLst/>
          </a:prstGeom>
          <a:solidFill>
            <a:srgbClr val="EFAB00"/>
          </a:solidFill>
          <a:ln w="12700">
            <a:solidFill>
              <a:srgbClr val="EFAB00"/>
            </a:solidFill>
            <a:prstDash val="solid"/>
          </a:ln>
        </p:spPr>
      </p:sp>
      <p:sp>
        <p:nvSpPr>
          <p:cNvPr id="8" name="Text 2"/>
          <p:cNvSpPr/>
          <p:nvPr>
            <p:ph idx="106" type="title" hasCustomPrompt="1"/>
          </p:nvPr>
        </p:nvSpPr>
        <p:spPr>
          <a:xfrm>
            <a:off x="457200" y="2880360"/>
            <a:ext cx="6858000" cy="1691640"/>
          </a:xfrm>
          <a:prstGeom prst="rect">
            <a:avLst/>
          </a:prstGeom>
          <a:noFill/>
          <a:ln/>
        </p:spPr>
        <p:txBody>
          <a:bodyPr wrap="square" lIns="0" tIns="0" rIns="0" bIns="0" rtlCol="0" anchor="t">
            <a:normAutofit/>
          </a:bodyPr>
          <a:lstStyle>
            <a:lvl1pPr algn="l" indent="0" marL="0">
              <a:lnSpc>
                <a:spcPts val="6400"/>
              </a:lnSpc>
              <a:buNone/>
              <a:defRPr lang="en-US" sz="6000" dirty="0">
                <a:solidFill>
                  <a:srgbClr val="003976"/>
                </a:solidFill>
                <a:latin typeface="Source Sans 3 Black" pitchFamily="34" charset="0"/>
                <a:ea typeface="Source Sans 3 Black" pitchFamily="34" charset="-122"/>
                <a:cs typeface="Source Sans 3 Black" pitchFamily="34" charset="-120"/>
              </a:defRPr>
            </a:lvl1pPr>
          </a:lstStyle>
          <a:p>
            <a:pPr algn="l" indent="0" marL="0">
              <a:lnSpc>
                <a:spcPts val="6400"/>
              </a:lnSpc>
              <a:buNone/>
            </a:pPr>
            <a:r>
              <a:rPr lang="en-US" sz="6000" dirty="0">
                <a:solidFill>
                  <a:srgbClr val="003976"/>
                </a:solidFill>
                <a:latin typeface="Source Sans 3 Black" pitchFamily="34" charset="0"/>
                <a:ea typeface="Source Sans 3 Black" pitchFamily="34" charset="-122"/>
                <a:cs typeface="Source Sans 3 Black" pitchFamily="34" charset="-120"/>
              </a:rPr>
              <a:t>[Headline]</a:t>
            </a:r>
            <a:endParaRPr lang="en-US" sz="6000" dirty="0"/>
          </a:p>
        </p:txBody>
      </p:sp>
      <p:sp>
        <p:nvSpPr>
          <p:cNvPr id="9" name="Text 2"/>
          <p:cNvSpPr/>
          <p:nvPr>
            <p:ph idx="107" type="body" hasCustomPrompt="1"/>
          </p:nvPr>
        </p:nvSpPr>
        <p:spPr>
          <a:xfrm>
            <a:off x="457200" y="4754880"/>
            <a:ext cx="6858000" cy="1188720"/>
          </a:xfrm>
          <a:prstGeom prst="rect">
            <a:avLst/>
          </a:prstGeom>
          <a:noFill/>
          <a:ln/>
        </p:spPr>
        <p:txBody>
          <a:bodyPr wrap="square" lIns="0" tIns="0" rIns="0" bIns="0" rtlCol="0" anchor="t">
            <a:normAutofit/>
          </a:bodyPr>
          <a:lstStyle>
            <a:lvl1pPr algn="l" indent="0" marL="0">
              <a:lnSpc>
                <a:spcPts val="3000"/>
              </a:lnSpc>
              <a:buNone/>
              <a:defRPr lang="en-US" sz="2400" dirty="0">
                <a:solidFill>
                  <a:srgbClr val="1B2533"/>
                </a:solidFill>
                <a:latin typeface="Source Sans 3" pitchFamily="34" charset="0"/>
                <a:ea typeface="Source Sans 3" pitchFamily="34" charset="-122"/>
                <a:cs typeface="Source Sans 3" pitchFamily="34" charset="-120"/>
              </a:defRPr>
            </a:lvl1pPr>
          </a:lstStyle>
          <a:p>
            <a:pPr algn="l" indent="0" marL="0">
              <a:lnSpc>
                <a:spcPts val="3000"/>
              </a:lnSpc>
              <a:buNone/>
            </a:pPr>
            <a:r>
              <a:rPr lang="en-US" sz="2400" dirty="0">
                <a:solidFill>
                  <a:srgbClr val="1B2533"/>
                </a:solidFill>
                <a:latin typeface="Source Sans 3" pitchFamily="34" charset="0"/>
                <a:ea typeface="Source Sans 3" pitchFamily="34" charset="-122"/>
                <a:cs typeface="Source Sans 3" pitchFamily="34" charset="-120"/>
              </a:rPr>
              <a:t>[Instruction in two or three lines.]</a:t>
            </a:r>
            <a:endParaRPr lang="en-US" sz="2400" dirty="0"/>
          </a:p>
        </p:txBody>
      </p:sp>
      <p:sp>
        <p:nvSpPr>
          <p:cNvPr id="10" name="Text 2"/>
          <p:cNvSpPr/>
          <p:nvPr>
            <p:ph idx="108" type="body" hasCustomPrompt="1"/>
          </p:nvPr>
        </p:nvSpPr>
        <p:spPr>
          <a:xfrm>
            <a:off x="731520" y="6291072"/>
            <a:ext cx="6309360" cy="266700"/>
          </a:xfrm>
          <a:prstGeom prst="rect">
            <a:avLst/>
          </a:prstGeom>
          <a:noFill/>
          <a:ln/>
        </p:spPr>
        <p:txBody>
          <a:bodyPr wrap="square" lIns="0" tIns="0" rIns="0" bIns="0" rtlCol="0" anchor="ctr"/>
          <a:lstStyle>
            <a:lvl1pPr algn="l" indent="0" marL="0">
              <a:buNone/>
              <a:defRPr lang="en-US" sz="1400" b="1" spc="252" kern="0" dirty="0">
                <a:solidFill>
                  <a:srgbClr val="003976"/>
                </a:solidFill>
                <a:latin typeface="Source Sans 3" pitchFamily="34" charset="0"/>
                <a:ea typeface="Source Sans 3" pitchFamily="34" charset="-122"/>
                <a:cs typeface="Source Sans 3" pitchFamily="34" charset="-120"/>
              </a:defRPr>
            </a:lvl1pPr>
          </a:lstStyle>
          <a:p>
            <a:pPr algn="l" indent="0" marL="0">
              <a:buNone/>
            </a:pPr>
            <a:r>
              <a:rPr lang="en-US" sz="1400" b="1" spc="252" kern="0" dirty="0">
                <a:solidFill>
                  <a:srgbClr val="003976"/>
                </a:solidFill>
                <a:latin typeface="Source Sans 3" pitchFamily="34" charset="0"/>
                <a:ea typeface="Source Sans 3" pitchFamily="34" charset="-122"/>
                <a:cs typeface="Source Sans 3" pitchFamily="34" charset="-120"/>
              </a:rPr>
              <a:t>[LABEL]</a:t>
            </a:r>
            <a:endParaRPr lang="en-US" sz="1400" dirty="0"/>
          </a:p>
        </p:txBody>
      </p:sp>
      <p:sp>
        <p:nvSpPr>
          <p:cNvPr id="11" name="Text 2"/>
          <p:cNvSpPr/>
          <p:nvPr>
            <p:ph idx="109" type="body" hasCustomPrompt="1"/>
          </p:nvPr>
        </p:nvSpPr>
        <p:spPr>
          <a:xfrm>
            <a:off x="731520" y="6629400"/>
            <a:ext cx="6309360" cy="502920"/>
          </a:xfrm>
          <a:prstGeom prst="rect">
            <a:avLst/>
          </a:prstGeom>
          <a:noFill/>
          <a:ln/>
        </p:spPr>
        <p:txBody>
          <a:bodyPr wrap="square" lIns="0" tIns="0" rIns="0" bIns="0" rtlCol="0" anchor="ctr">
            <a:normAutofit/>
          </a:bodyPr>
          <a:lstStyle>
            <a:lvl1pPr algn="l" indent="0" marL="0">
              <a:buNone/>
              <a:defRPr lang="en-US" sz="2600" b="1" dirty="0">
                <a:solidFill>
                  <a:srgbClr val="003976"/>
                </a:solidFill>
                <a:latin typeface="Source Sans 3" pitchFamily="34" charset="0"/>
                <a:ea typeface="Source Sans 3" pitchFamily="34" charset="-122"/>
                <a:cs typeface="Source Sans 3" pitchFamily="34" charset="-120"/>
              </a:defRPr>
            </a:lvl1pPr>
          </a:lstStyle>
          <a:p>
            <a:pPr algn="l" indent="0" marL="0">
              <a:buNone/>
            </a:pPr>
            <a:r>
              <a:rPr lang="en-US" sz="2600" b="1" dirty="0">
                <a:solidFill>
                  <a:srgbClr val="003976"/>
                </a:solidFill>
                <a:latin typeface="Source Sans 3" pitchFamily="34" charset="0"/>
                <a:ea typeface="Source Sans 3" pitchFamily="34" charset="-122"/>
                <a:cs typeface="Source Sans 3" pitchFamily="34" charset="-120"/>
              </a:rPr>
              <a:t>[Name]  ·  [Lab phone]</a:t>
            </a:r>
            <a:endParaRPr lang="en-US" sz="2600" dirty="0"/>
          </a:p>
        </p:txBody>
      </p:sp>
      <p:sp>
        <p:nvSpPr>
          <p:cNvPr id="12" name="Text 2"/>
          <p:cNvSpPr/>
          <p:nvPr>
            <p:ph idx="110" type="body" hasCustomPrompt="1"/>
          </p:nvPr>
        </p:nvSpPr>
        <p:spPr>
          <a:xfrm>
            <a:off x="457200" y="7479792"/>
            <a:ext cx="6858000" cy="621792"/>
          </a:xfrm>
          <a:prstGeom prst="rect">
            <a:avLst/>
          </a:prstGeom>
          <a:noFill/>
          <a:ln/>
        </p:spPr>
        <p:txBody>
          <a:bodyPr wrap="square" lIns="0" tIns="0" rIns="0" bIns="0" rtlCol="0" anchor="t">
            <a:normAutofit/>
          </a:bodyPr>
          <a:lstStyle>
            <a:lvl1pPr algn="l" indent="0" marL="0">
              <a:lnSpc>
                <a:spcPts val="2400"/>
              </a:lnSpc>
              <a:buNone/>
              <a:defRPr lang="en-US" sz="2000" b="1" dirty="0">
                <a:solidFill>
                  <a:srgbClr val="1B2533"/>
                </a:solidFill>
                <a:latin typeface="Source Sans 3" pitchFamily="34" charset="0"/>
                <a:ea typeface="Source Sans 3" pitchFamily="34" charset="-122"/>
                <a:cs typeface="Source Sans 3" pitchFamily="34" charset="-120"/>
              </a:defRPr>
            </a:lvl1pPr>
          </a:lstStyle>
          <a:p>
            <a:pPr algn="l" indent="0" marL="0">
              <a:lnSpc>
                <a:spcPts val="2400"/>
              </a:lnSpc>
              <a:buNone/>
            </a:pPr>
            <a:r>
              <a:rPr lang="en-US" sz="2000" b="1" dirty="0">
                <a:solidFill>
                  <a:srgbClr val="1B2533"/>
                </a:solidFill>
                <a:latin typeface="Source Sans 3" pitchFamily="34" charset="0"/>
                <a:ea typeface="Source Sans 3" pitchFamily="34" charset="-122"/>
                <a:cs typeface="Source Sans 3" pitchFamily="34" charset="-120"/>
              </a:rPr>
              <a:t>[Second instruction]</a:t>
            </a: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3"/>
          <p:cNvSpPr/>
          <p:nvPr>
            <p:ph idx="106" type="body" hasCustomPrompt="1"/>
          </p:nvPr>
        </p:nvSpPr>
        <p:spPr>
          <a:xfrm>
            <a:off x="548640" y="3429000"/>
            <a:ext cx="2834640" cy="1234440"/>
          </a:xfrm>
          <a:prstGeom prst="rect">
            <a:avLst/>
          </a:prstGeom>
          <a:noFill/>
          <a:ln/>
        </p:spPr>
        <p:txBody>
          <a:bodyPr wrap="square" lIns="0" tIns="0" rIns="0" bIns="0" rtlCol="0" anchor="ctr">
            <a:normAutofit/>
          </a:bodyPr>
          <a:lstStyle/>
          <a:p>
            <a:pPr algn="ctr" indent="0" marL="0">
              <a:buNone/>
            </a:pPr>
            <a:r>
              <a:rPr lang="en-US" sz="7200" b="1" dirty="0">
                <a:solidFill>
                  <a:srgbClr val="003976"/>
                </a:solidFill>
                <a:latin typeface="Roboto Slab" pitchFamily="34" charset="0"/>
                <a:ea typeface="Roboto Slab" pitchFamily="34" charset="-122"/>
                <a:cs typeface="Roboto Slab" pitchFamily="34" charset="-120"/>
              </a:rPr>
              <a:t>[###]</a:t>
            </a:r>
            <a:endParaRPr lang="en-US" sz="7200" dirty="0"/>
          </a:p>
        </p:txBody>
      </p:sp>
      <p:sp>
        <p:nvSpPr>
          <p:cNvPr id="3" name="Text 3"/>
          <p:cNvSpPr/>
          <p:nvPr>
            <p:ph idx="107" type="body" hasCustomPrompt="1"/>
          </p:nvPr>
        </p:nvSpPr>
        <p:spPr>
          <a:xfrm>
            <a:off x="3749040" y="2944368"/>
            <a:ext cx="3566160" cy="658368"/>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FFFFF"/>
                </a:solidFill>
                <a:latin typeface="Source Sans 3" pitchFamily="34" charset="0"/>
                <a:ea typeface="Source Sans 3" pitchFamily="34" charset="-122"/>
                <a:cs typeface="Source Sans 3" pitchFamily="34" charset="-120"/>
              </a:rPr>
              <a:t>Mathematical Sciences Building</a:t>
            </a:r>
            <a:endParaRPr lang="en-US" sz="2000" dirty="0"/>
          </a:p>
        </p:txBody>
      </p:sp>
      <p:sp>
        <p:nvSpPr>
          <p:cNvPr id="4" name="Text 3"/>
          <p:cNvSpPr/>
          <p:nvPr>
            <p:ph idx="108" type="body" hasCustomPrompt="1"/>
          </p:nvPr>
        </p:nvSpPr>
        <p:spPr>
          <a:xfrm>
            <a:off x="3749040" y="3639312"/>
            <a:ext cx="3566160" cy="274320"/>
          </a:xfrm>
          <a:prstGeom prst="rect">
            <a:avLst/>
          </a:prstGeom>
          <a:noFill/>
          <a:ln/>
        </p:spPr>
        <p:txBody>
          <a:bodyPr wrap="square" lIns="0" tIns="0" rIns="0" bIns="0" rtlCol="0" anchor="ctr">
            <a:normAutofit/>
          </a:bodyPr>
          <a:lstStyle/>
          <a:p>
            <a:pPr algn="l" indent="0" marL="0">
              <a:buNone/>
            </a:pPr>
            <a:r>
              <a:rPr lang="en-US" sz="1600" dirty="0">
                <a:solidFill>
                  <a:srgbClr val="FFFFFF"/>
                </a:solidFill>
                <a:latin typeface="Source Sans 3" pitchFamily="34" charset="0"/>
                <a:ea typeface="Source Sans 3" pitchFamily="34" charset="-122"/>
                <a:cs typeface="Source Sans 3" pitchFamily="34" charset="-120"/>
              </a:rPr>
              <a:t>Kent State University, Kent, Ohio</a:t>
            </a:r>
            <a:endParaRPr lang="en-US" sz="1600" dirty="0"/>
          </a:p>
        </p:txBody>
      </p:sp>
      <p:sp>
        <p:nvSpPr>
          <p:cNvPr id="5" name="Text 4"/>
          <p:cNvSpPr/>
          <p:nvPr>
            <p:ph idx="110" type="body" hasCustomPrompt="1"/>
          </p:nvPr>
        </p:nvSpPr>
        <p:spPr>
          <a:xfrm>
            <a:off x="3749040" y="4297680"/>
            <a:ext cx="3566160" cy="292608"/>
          </a:xfrm>
          <a:prstGeom prst="rect">
            <a:avLst/>
          </a:prstGeom>
          <a:noFill/>
          <a:ln/>
        </p:spPr>
        <p:txBody>
          <a:bodyPr wrap="square" lIns="0" tIns="0" rIns="0" bIns="0" rtlCol="0" anchor="ctr">
            <a:normAutofit/>
          </a:bodyPr>
          <a:lstStyle/>
          <a:p>
            <a:pPr algn="l" indent="0" marL="0">
              <a:buNone/>
            </a:pPr>
            <a:r>
              <a:rPr lang="en-US" sz="1800" dirty="0">
                <a:solidFill>
                  <a:srgbClr val="FFFFFF"/>
                </a:solidFill>
                <a:latin typeface="Source Sans 3" pitchFamily="34" charset="0"/>
                <a:ea typeface="Source Sans 3" pitchFamily="34" charset="-122"/>
                <a:cs typeface="Source Sans 3" pitchFamily="34" charset="-120"/>
              </a:rPr>
              <a:t>[Mon.-Fri., 9 a.m.-5 p.m.]</a:t>
            </a:r>
            <a:endParaRPr lang="en-US" sz="1800" dirty="0"/>
          </a:p>
        </p:txBody>
      </p:sp>
      <p:sp>
        <p:nvSpPr>
          <p:cNvPr id="6" name="Text 4"/>
          <p:cNvSpPr/>
          <p:nvPr>
            <p:ph idx="111" type="body" hasCustomPrompt="1"/>
          </p:nvPr>
        </p:nvSpPr>
        <p:spPr>
          <a:xfrm>
            <a:off x="3749040" y="4590288"/>
            <a:ext cx="3566160" cy="256032"/>
          </a:xfrm>
          <a:prstGeom prst="rect">
            <a:avLst/>
          </a:prstGeom>
          <a:noFill/>
          <a:ln/>
        </p:spPr>
        <p:txBody>
          <a:bodyPr wrap="square" lIns="0" tIns="0" rIns="0" bIns="0" rtlCol="0" anchor="ctr">
            <a:normAutofit/>
          </a:bodyPr>
          <a:lstStyle/>
          <a:p>
            <a:pPr algn="l" indent="0" marL="0">
              <a:buNone/>
            </a:pPr>
            <a:r>
              <a:rPr lang="en-US" sz="1400" dirty="0">
                <a:solidFill>
                  <a:srgbClr val="FFFFFF"/>
                </a:solidFill>
                <a:latin typeface="Source Sans 3" pitchFamily="34" charset="0"/>
                <a:ea typeface="Source Sans 3" pitchFamily="34" charset="-122"/>
                <a:cs typeface="Source Sans 3" pitchFamily="34" charset="-120"/>
              </a:rPr>
              <a:t>[By appointment: name@kent.edu]</a:t>
            </a:r>
            <a:endParaRPr lang="en-US" sz="1400" dirty="0"/>
          </a:p>
        </p:txBody>
      </p:sp>
      <p:sp>
        <p:nvSpPr>
          <p:cNvPr id="7" name="Text 4"/>
          <p:cNvSpPr/>
          <p:nvPr>
            <p:ph idx="112" type="body" hasCustomPrompt="1"/>
          </p:nvPr>
        </p:nvSpPr>
        <p:spPr>
          <a:xfrm>
            <a:off x="3749040" y="4864608"/>
            <a:ext cx="3566160" cy="457200"/>
          </a:xfrm>
          <a:prstGeom prst="rect">
            <a:avLst/>
          </a:prstGeom>
          <a:noFill/>
          <a:ln/>
        </p:spPr>
        <p:txBody>
          <a:bodyPr wrap="square" lIns="0" tIns="0" rIns="0" bIns="0" rtlCol="0" anchor="t">
            <a:normAutofit/>
          </a:bodyPr>
          <a:lstStyle/>
          <a:p>
            <a:pPr algn="l" indent="0" marL="0">
              <a:lnSpc>
                <a:spcPts val="1800"/>
              </a:lnSpc>
              <a:buNone/>
            </a:pPr>
            <a:r>
              <a:rPr lang="en-US" sz="1400" dirty="0">
                <a:solidFill>
                  <a:srgbClr val="FFFFFF"/>
                </a:solidFill>
                <a:latin typeface="Source Sans 3" pitchFamily="34" charset="0"/>
                <a:ea typeface="Source Sans 3" pitchFamily="34" charset="-122"/>
                <a:cs typeface="Source Sans 3" pitchFamily="34" charset="-120"/>
              </a:rPr>
              <a:t>[Lab phone]</a:t>
            </a:r>
            <a:endParaRPr lang="en-US" sz="1400" dirty="0"/>
          </a:p>
          <a:p>
            <a:pPr algn="l" indent="0" marL="0">
              <a:lnSpc>
                <a:spcPts val="1800"/>
              </a:lnSpc>
              <a:buNone/>
            </a:pPr>
            <a:r>
              <a:rPr lang="en-US" sz="1400" dirty="0">
                <a:solidFill>
                  <a:srgbClr val="FFFFFF"/>
                </a:solidFill>
                <a:latin typeface="Source Sans 3" pitchFamily="34" charset="0"/>
                <a:ea typeface="Source Sans 3" pitchFamily="34" charset="-122"/>
                <a:cs typeface="Source Sans 3" pitchFamily="34" charset="-120"/>
              </a:rPr>
              <a:t>Department office 330-672-9980</a:t>
            </a:r>
            <a:endParaRPr lang="en-US" sz="1400" dirty="0"/>
          </a:p>
        </p:txBody>
      </p:sp>
      <p:sp>
        <p:nvSpPr>
          <p:cNvPr id="8" name="Text 4"/>
          <p:cNvSpPr/>
          <p:nvPr>
            <p:ph idx="113" type="title" hasCustomPrompt="1"/>
          </p:nvPr>
        </p:nvSpPr>
        <p:spPr>
          <a:xfrm>
            <a:off x="457200" y="5486400"/>
            <a:ext cx="6858000" cy="365760"/>
          </a:xfrm>
          <a:prstGeom prst="rect">
            <a:avLst/>
          </a:prstGeom>
          <a:noFill/>
          <a:ln/>
        </p:spPr>
        <p:txBody>
          <a:bodyPr wrap="square" lIns="0" tIns="0" rIns="0" bIns="0" rtlCol="0" anchor="ctr">
            <a:normAutofit/>
          </a:bodyPr>
          <a:lstStyle/>
          <a:p>
            <a:pPr algn="l" indent="0" marL="0">
              <a:buNone/>
            </a:pPr>
            <a:r>
              <a:rPr lang="en-US" sz="2200" b="1" dirty="0">
                <a:solidFill>
                  <a:srgbClr val="FFFFFF"/>
                </a:solidFill>
                <a:latin typeface="Source Sans 3" pitchFamily="34" charset="0"/>
                <a:ea typeface="Source Sans 3" pitchFamily="34" charset="-122"/>
                <a:cs typeface="Source Sans 3" pitchFamily="34" charset="-120"/>
              </a:rPr>
              <a:t>Advanced Telerobotics Research Lab</a:t>
            </a:r>
            <a:endParaRPr lang="en-US" sz="2200" dirty="0"/>
          </a:p>
        </p:txBody>
      </p:sp>
      <p:sp>
        <p:nvSpPr>
          <p:cNvPr id="9" name="Text 4"/>
          <p:cNvSpPr/>
          <p:nvPr>
            <p:ph idx="114" type="body" hasCustomPrompt="1"/>
          </p:nvPr>
        </p:nvSpPr>
        <p:spPr>
          <a:xfrm>
            <a:off x="457200" y="5897880"/>
            <a:ext cx="6675120" cy="841248"/>
          </a:xfrm>
          <a:prstGeom prst="rect">
            <a:avLst/>
          </a:prstGeom>
          <a:noFill/>
          <a:ln/>
        </p:spPr>
        <p:txBody>
          <a:bodyPr wrap="square" lIns="0" tIns="0" rIns="0" bIns="0" rtlCol="0" anchor="t">
            <a:normAutofit/>
          </a:bodyPr>
          <a:lstStyle/>
          <a:p>
            <a:pPr algn="l" indent="0" marL="0">
              <a:lnSpc>
                <a:spcPts val="2100"/>
              </a:lnSpc>
              <a:buNone/>
            </a:pPr>
            <a:r>
              <a:rPr lang="en-US" sz="1600" dirty="0">
                <a:solidFill>
                  <a:srgbClr val="FFFFFF"/>
                </a:solidFill>
                <a:latin typeface="Source Sans 3" pitchFamily="34" charset="0"/>
                <a:ea typeface="Source Sans 3" pitchFamily="34" charset="-122"/>
                <a:cs typeface="Source Sans 3" pitchFamily="34" charset="-120"/>
              </a:rPr>
              <a:t>An innovation research laboratory focused on exploring the frontiers of telepresence robotics, tele-embodiment, autonomy and artificial intelligence.</a:t>
            </a:r>
            <a:endParaRPr lang="en-US" sz="1600" dirty="0"/>
          </a:p>
        </p:txBody>
      </p:sp>
      <p:sp>
        <p:nvSpPr>
          <p:cNvPr id="10" name="Text 4"/>
          <p:cNvSpPr/>
          <p:nvPr>
            <p:ph idx="115" type="body" hasCustomPrompt="1"/>
          </p:nvPr>
        </p:nvSpPr>
        <p:spPr>
          <a:xfrm>
            <a:off x="457200" y="6766560"/>
            <a:ext cx="6675120" cy="256032"/>
          </a:xfrm>
          <a:prstGeom prst="rect">
            <a:avLst/>
          </a:prstGeom>
          <a:noFill/>
          <a:ln/>
        </p:spPr>
        <p:txBody>
          <a:bodyPr wrap="square" lIns="0" tIns="0" rIns="0" bIns="0" rtlCol="0" anchor="ctr">
            <a:normAutofit/>
          </a:bodyPr>
          <a:lstStyle/>
          <a:p>
            <a:pPr algn="l" indent="0" marL="0">
              <a:buNone/>
            </a:pPr>
            <a:r>
              <a:rPr lang="en-US" sz="1600" dirty="0">
                <a:solidFill>
                  <a:srgbClr val="FFFFFF"/>
                </a:solidFill>
                <a:latin typeface="Source Sans 3" pitchFamily="34" charset="0"/>
                <a:ea typeface="Source Sans 3" pitchFamily="34" charset="-122"/>
                <a:cs typeface="Source Sans 3" pitchFamily="34" charset="-120"/>
              </a:rPr>
              <a:t>Department of Computer Science, Kent State University</a:t>
            </a:r>
            <a:endParaRPr lang="en-US" sz="1600" dirty="0"/>
          </a:p>
        </p:txBody>
      </p:sp>
      <p:sp>
        <p:nvSpPr>
          <p:cNvPr id="11" name="Text 4"/>
          <p:cNvSpPr/>
          <p:nvPr>
            <p:ph idx="117" type="body" hasCustomPrompt="1"/>
          </p:nvPr>
        </p:nvSpPr>
        <p:spPr>
          <a:xfrm>
            <a:off x="914400" y="7223760"/>
            <a:ext cx="4572000" cy="292608"/>
          </a:xfrm>
          <a:prstGeom prst="rect">
            <a:avLst/>
          </a:prstGeom>
          <a:noFill/>
          <a:ln/>
        </p:spPr>
        <p:txBody>
          <a:bodyPr wrap="square" lIns="0" tIns="0" rIns="0" bIns="0" rtlCol="0" anchor="ctr">
            <a:normAutofit/>
          </a:bodyPr>
          <a:lstStyle/>
          <a:p>
            <a:pPr algn="l" indent="0" marL="0">
              <a:buNone/>
            </a:pPr>
            <a:r>
              <a:rPr lang="en-US" sz="1600" dirty="0">
                <a:solidFill>
                  <a:srgbClr val="FFFFFF"/>
                </a:solidFill>
                <a:latin typeface="Source Sans 3" pitchFamily="34" charset="0"/>
                <a:ea typeface="Source Sans 3" pitchFamily="34" charset="-122"/>
                <a:cs typeface="Source Sans 3" pitchFamily="34" charset="-120"/>
              </a:rPr>
              <a:t>atr.cs.kent.edu</a:t>
            </a:r>
            <a:endParaRPr lang="en-US" sz="1600" dirty="0"/>
          </a:p>
        </p:txBody>
      </p:sp>
      <p:sp>
        <p:nvSpPr>
          <p:cNvPr id="12" name="Text 4"/>
          <p:cNvSpPr/>
          <p:nvPr>
            <p:ph idx="119" type="body" hasCustomPrompt="1"/>
          </p:nvPr>
        </p:nvSpPr>
        <p:spPr>
          <a:xfrm>
            <a:off x="914400" y="7644384"/>
            <a:ext cx="4572000" cy="292608"/>
          </a:xfrm>
          <a:prstGeom prst="rect">
            <a:avLst/>
          </a:prstGeom>
          <a:noFill/>
          <a:ln/>
        </p:spPr>
        <p:txBody>
          <a:bodyPr wrap="square" lIns="0" tIns="0" rIns="0" bIns="0" rtlCol="0" anchor="ctr">
            <a:normAutofit/>
          </a:bodyPr>
          <a:lstStyle/>
          <a:p>
            <a:pPr algn="l" indent="0" marL="0">
              <a:buNone/>
            </a:pPr>
            <a:r>
              <a:rPr lang="en-US" sz="1600" dirty="0">
                <a:solidFill>
                  <a:srgbClr val="FFFFFF"/>
                </a:solidFill>
                <a:latin typeface="Source Sans 3" pitchFamily="34" charset="0"/>
                <a:ea typeface="Source Sans 3" pitchFamily="34" charset="-122"/>
                <a:cs typeface="Source Sans 3" pitchFamily="34" charset="-120"/>
              </a:rPr>
              <a:t>atrlab.kent@gmail.com</a:t>
            </a:r>
            <a:endParaRPr lang="en-US" sz="1600" dirty="0"/>
          </a:p>
        </p:txBody>
      </p:sp>
      <p:sp>
        <p:nvSpPr>
          <p:cNvPr id="13" name="Text 4"/>
          <p:cNvSpPr/>
          <p:nvPr>
            <p:ph idx="121" type="body" hasCustomPrompt="1"/>
          </p:nvPr>
        </p:nvSpPr>
        <p:spPr>
          <a:xfrm>
            <a:off x="914400" y="8065008"/>
            <a:ext cx="4572000" cy="292608"/>
          </a:xfrm>
          <a:prstGeom prst="rect">
            <a:avLst/>
          </a:prstGeom>
          <a:noFill/>
          <a:ln/>
        </p:spPr>
        <p:txBody>
          <a:bodyPr wrap="square" lIns="0" tIns="0" rIns="0" bIns="0" rtlCol="0" anchor="ctr">
            <a:normAutofit/>
          </a:bodyPr>
          <a:lstStyle/>
          <a:p>
            <a:pPr algn="l" indent="0" marL="0">
              <a:buNone/>
            </a:pPr>
            <a:r>
              <a:rPr lang="en-US" sz="1600" dirty="0">
                <a:solidFill>
                  <a:srgbClr val="FFFFFF"/>
                </a:solidFill>
                <a:latin typeface="Source Sans 3" pitchFamily="34" charset="0"/>
                <a:ea typeface="Source Sans 3" pitchFamily="34" charset="-122"/>
                <a:cs typeface="Source Sans 3" pitchFamily="34" charset="-120"/>
              </a:rPr>
              <a:t>github.com/ATR-Lab</a:t>
            </a:r>
            <a:endParaRPr lang="en-US" sz="1600" dirty="0"/>
          </a:p>
        </p:txBody>
      </p:sp>
      <p:sp>
        <p:nvSpPr>
          <p:cNvPr id="14" name="Shape 12"/>
          <p:cNvSpPr/>
          <p:nvPr/>
        </p:nvSpPr>
        <p:spPr>
          <a:xfrm>
            <a:off x="5760720" y="6766560"/>
            <a:ext cx="1280160" cy="1280160"/>
          </a:xfrm>
          <a:prstGeom prst="rect">
            <a:avLst/>
          </a:prstGeom>
          <a:solidFill>
            <a:srgbClr val="FFFFFF"/>
          </a:solidFill>
          <a:ln w="9525">
            <a:solidFill>
              <a:srgbClr val="D6DEE8"/>
            </a:solidFill>
            <a:prstDash val="solid"/>
          </a:ln>
        </p:spPr>
      </p:sp>
      <p:sp>
        <p:nvSpPr>
          <p:cNvPr id="15" name="Text 13"/>
          <p:cNvSpPr txBox="1"/>
          <p:nvPr/>
        </p:nvSpPr>
        <p:spPr>
          <a:xfrm>
            <a:off x="5815584" y="6821424"/>
            <a:ext cx="1170432" cy="1170432"/>
          </a:xfrm>
          <a:prstGeom prst="rect">
            <a:avLst/>
          </a:prstGeom>
          <a:noFill/>
          <a:ln/>
        </p:spPr>
        <p:txBody>
          <a:bodyPr wrap="square" lIns="0" tIns="0" rIns="0" bIns="0" rtlCol="0" anchor="ctr"/>
          <a:lstStyle/>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[QR code]</a:t>
            </a:r>
            <a:endParaRPr lang="en-US" sz="800" dirty="0"/>
          </a:p>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navy on white,</a:t>
            </a:r>
            <a:endParaRPr lang="en-US" sz="800" dirty="0"/>
          </a:p>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4-module quiet zone</a:t>
            </a:r>
            <a:endParaRPr lang="en-US" sz="800" dirty="0"/>
          </a:p>
        </p:txBody>
      </p:sp>
      <p:sp>
        <p:nvSpPr>
          <p:cNvPr id="16" name="Text 4"/>
          <p:cNvSpPr/>
          <p:nvPr>
            <p:ph idx="122" type="body" hasCustomPrompt="1"/>
          </p:nvPr>
        </p:nvSpPr>
        <p:spPr>
          <a:xfrm>
            <a:off x="5486400" y="8101584"/>
            <a:ext cx="1828800" cy="182880"/>
          </a:xfrm>
          <a:prstGeom prst="rect">
            <a:avLst/>
          </a:prstGeom>
          <a:noFill/>
          <a:ln/>
        </p:spPr>
        <p:txBody>
          <a:bodyPr wrap="square" lIns="0" tIns="0" rIns="0" bIns="0" rtlCol="0" anchor="ctr"/>
          <a:lstStyle/>
          <a:p>
            <a:pPr algn="ctr" indent="0" marL="0">
              <a:buNone/>
            </a:pPr>
            <a:r>
              <a:rPr lang="en-US" sz="900" dirty="0">
                <a:solidFill>
                  <a:srgbClr val="FFFFFF"/>
                </a:solidFill>
                <a:latin typeface="Source Sans 3" pitchFamily="34" charset="0"/>
                <a:ea typeface="Source Sans 3" pitchFamily="34" charset="-122"/>
                <a:cs typeface="Source Sans 3" pitchFamily="34" charset="-120"/>
              </a:rPr>
              <a:t>Scan for directions and contact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afety shield icon">    </p:cNvPr>
          <p:cNvPicPr>
            <a:picLocks noChangeAspect="1"/>
          </p:cNvPicPr>
          <p:nvPr/>
        </p:nvPicPr>
        <p:blipFill>
          <a:blip r:embed="rId1"/>
          <a:stretch>
            <a:fillRect/>
          </a:stretch>
        </p:blipFill>
        <p:spPr>
          <a:xfrm>
            <a:off x="457200" y="1188720"/>
            <a:ext cx="1463040" cy="1463040"/>
          </a:xfrm>
          <a:prstGeom prst="rect">
            <a:avLst/>
          </a:prstGeom>
        </p:spPr>
      </p:pic>
      <p:sp>
        <p:nvSpPr>
          <p:cNvPr id="3" name="Text 2"/>
          <p:cNvSpPr/>
          <p:nvPr>
            <p:ph idx="106" type="title" hasCustomPrompt="1"/>
          </p:nvPr>
        </p:nvSpPr>
        <p:spPr>
          <a:xfrm>
            <a:off x="457200" y="2880360"/>
            <a:ext cx="6858000" cy="1691640"/>
          </a:xfrm>
          <a:prstGeom prst="rect">
            <a:avLst/>
          </a:prstGeom>
          <a:noFill/>
          <a:ln/>
        </p:spPr>
        <p:txBody>
          <a:bodyPr wrap="square" lIns="0" tIns="0" rIns="0" bIns="0" rtlCol="0" anchor="t">
            <a:normAutofit/>
          </a:bodyPr>
          <a:lstStyle/>
          <a:p>
            <a:pPr algn="l" indent="0" marL="0">
              <a:lnSpc>
                <a:spcPts val="6400"/>
              </a:lnSpc>
              <a:buNone/>
            </a:pPr>
            <a:r>
              <a:rPr lang="en-US" sz="6000" dirty="0">
                <a:solidFill>
                  <a:srgbClr val="003976"/>
                </a:solidFill>
                <a:latin typeface="Source Sans 3 Black" pitchFamily="34" charset="0"/>
                <a:ea typeface="Source Sans 3 Black" pitchFamily="34" charset="-122"/>
                <a:cs typeface="Source Sans 3 Black" pitchFamily="34" charset="-120"/>
              </a:rPr>
              <a:t>Robots in operation</a:t>
            </a:r>
            <a:endParaRPr lang="en-US" sz="6000" dirty="0"/>
          </a:p>
        </p:txBody>
      </p:sp>
      <p:sp>
        <p:nvSpPr>
          <p:cNvPr id="4" name="Text 2"/>
          <p:cNvSpPr/>
          <p:nvPr>
            <p:ph idx="107" type="body" hasCustomPrompt="1"/>
          </p:nvPr>
        </p:nvSpPr>
        <p:spPr>
          <a:xfrm>
            <a:off x="457200" y="4754880"/>
            <a:ext cx="6858000" cy="118872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1B2533"/>
                </a:solidFill>
                <a:latin typeface="Source Sans 3" pitchFamily="34" charset="0"/>
                <a:ea typeface="Source Sans 3" pitchFamily="34" charset="-122"/>
                <a:cs typeface="Source Sans 3" pitchFamily="34" charset="-120"/>
              </a:rPr>
              <a:t>Stay behind the yellow line. Ask the operator before you enter the work cell.</a:t>
            </a:r>
            <a:endParaRPr lang="en-US" sz="2400" dirty="0"/>
          </a:p>
        </p:txBody>
      </p:sp>
      <p:sp>
        <p:nvSpPr>
          <p:cNvPr id="5" name="Text 2"/>
          <p:cNvSpPr/>
          <p:nvPr>
            <p:ph idx="108" type="body" hasCustomPrompt="1"/>
          </p:nvPr>
        </p:nvSpPr>
        <p:spPr>
          <a:xfrm>
            <a:off x="731520" y="6291072"/>
            <a:ext cx="6309360" cy="266700"/>
          </a:xfrm>
          <a:prstGeom prst="rect">
            <a:avLst/>
          </a:prstGeom>
          <a:noFill/>
          <a:ln/>
        </p:spPr>
        <p:txBody>
          <a:bodyPr wrap="square" lIns="0" tIns="0" rIns="0" bIns="0" rtlCol="0" anchor="ctr"/>
          <a:lstStyle/>
          <a:p>
            <a:pPr algn="l" indent="0" marL="0">
              <a:buNone/>
            </a:pPr>
            <a:r>
              <a:rPr lang="en-US" sz="1400" b="1" spc="252" kern="0" dirty="0">
                <a:solidFill>
                  <a:srgbClr val="003976"/>
                </a:solidFill>
                <a:latin typeface="Source Sans 3" pitchFamily="34" charset="0"/>
                <a:ea typeface="Source Sans 3" pitchFamily="34" charset="-122"/>
                <a:cs typeface="Source Sans 3" pitchFamily="34" charset="-120"/>
              </a:rPr>
              <a:t>OPERATOR ON DUTY</a:t>
            </a:r>
            <a:endParaRPr lang="en-US" sz="1400" dirty="0"/>
          </a:p>
        </p:txBody>
      </p:sp>
      <p:sp>
        <p:nvSpPr>
          <p:cNvPr id="6" name="Text 2"/>
          <p:cNvSpPr/>
          <p:nvPr>
            <p:ph idx="109" type="body" hasCustomPrompt="1"/>
          </p:nvPr>
        </p:nvSpPr>
        <p:spPr>
          <a:xfrm>
            <a:off x="731520" y="6629400"/>
            <a:ext cx="6309360" cy="502920"/>
          </a:xfrm>
          <a:prstGeom prst="rect">
            <a:avLst/>
          </a:prstGeom>
          <a:noFill/>
          <a:ln/>
        </p:spPr>
        <p:txBody>
          <a:bodyPr wrap="square" lIns="0" tIns="0" rIns="0" bIns="0" rtlCol="0" anchor="ctr">
            <a:normAutofit/>
          </a:bodyPr>
          <a:lstStyle/>
          <a:p>
            <a:pPr algn="l" indent="0" marL="0">
              <a:buNone/>
            </a:pPr>
            <a:r>
              <a:rPr lang="en-US" sz="2600" b="1" dirty="0">
                <a:solidFill>
                  <a:srgbClr val="003976"/>
                </a:solidFill>
                <a:latin typeface="Source Sans 3" pitchFamily="34" charset="0"/>
                <a:ea typeface="Source Sans 3" pitchFamily="34" charset="-122"/>
                <a:cs typeface="Source Sans 3" pitchFamily="34" charset="-120"/>
              </a:rPr>
              <a:t>[Name]  ·  [Lab phone]</a:t>
            </a:r>
            <a:endParaRPr lang="en-US" sz="2600" dirty="0"/>
          </a:p>
        </p:txBody>
      </p:sp>
      <p:sp>
        <p:nvSpPr>
          <p:cNvPr id="7" name="Text 2"/>
          <p:cNvSpPr/>
          <p:nvPr>
            <p:ph idx="110" type="body" hasCustomPrompt="1"/>
          </p:nvPr>
        </p:nvSpPr>
        <p:spPr>
          <a:xfrm>
            <a:off x="457200" y="7479792"/>
            <a:ext cx="6858000" cy="621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533"/>
                </a:solidFill>
                <a:latin typeface="Source Sans 3" pitchFamily="34" charset="0"/>
                <a:ea typeface="Source Sans 3" pitchFamily="34" charset="-122"/>
                <a:cs typeface="Source Sans 3" pitchFamily="34" charset="-120"/>
              </a:rPr>
              <a:t>Emergency stop: [location, e.g. red button on the left pillar]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amera icon">    </p:cNvPr>
          <p:cNvPicPr>
            <a:picLocks noChangeAspect="1"/>
          </p:cNvPicPr>
          <p:nvPr/>
        </p:nvPicPr>
        <p:blipFill>
          <a:blip r:embed="rId1"/>
          <a:stretch>
            <a:fillRect/>
          </a:stretch>
        </p:blipFill>
        <p:spPr>
          <a:xfrm>
            <a:off x="457200" y="1188720"/>
            <a:ext cx="1463040" cy="1463040"/>
          </a:xfrm>
          <a:prstGeom prst="rect">
            <a:avLst/>
          </a:prstGeom>
        </p:spPr>
      </p:pic>
      <p:sp>
        <p:nvSpPr>
          <p:cNvPr id="3" name="Text 2"/>
          <p:cNvSpPr/>
          <p:nvPr>
            <p:ph idx="106" type="title" hasCustomPrompt="1"/>
          </p:nvPr>
        </p:nvSpPr>
        <p:spPr>
          <a:xfrm>
            <a:off x="457200" y="2880360"/>
            <a:ext cx="6858000" cy="1691640"/>
          </a:xfrm>
          <a:prstGeom prst="rect">
            <a:avLst/>
          </a:prstGeom>
          <a:noFill/>
          <a:ln/>
        </p:spPr>
        <p:txBody>
          <a:bodyPr wrap="square" lIns="0" tIns="0" rIns="0" bIns="0" rtlCol="0" anchor="t">
            <a:normAutofit/>
          </a:bodyPr>
          <a:lstStyle/>
          <a:p>
            <a:pPr algn="l" indent="0" marL="0">
              <a:lnSpc>
                <a:spcPts val="6400"/>
              </a:lnSpc>
              <a:buNone/>
            </a:pPr>
            <a:r>
              <a:rPr lang="en-US" sz="6000" dirty="0">
                <a:solidFill>
                  <a:srgbClr val="003976"/>
                </a:solidFill>
                <a:latin typeface="Source Sans 3 Black" pitchFamily="34" charset="0"/>
                <a:ea typeface="Source Sans 3 Black" pitchFamily="34" charset="-122"/>
                <a:cs typeface="Source Sans 3 Black" pitchFamily="34" charset="-120"/>
              </a:rPr>
              <a:t>Recording in progress</a:t>
            </a:r>
            <a:endParaRPr lang="en-US" sz="6000" dirty="0"/>
          </a:p>
        </p:txBody>
      </p:sp>
      <p:sp>
        <p:nvSpPr>
          <p:cNvPr id="4" name="Text 2"/>
          <p:cNvSpPr/>
          <p:nvPr>
            <p:ph idx="107" type="body" hasCustomPrompt="1"/>
          </p:nvPr>
        </p:nvSpPr>
        <p:spPr>
          <a:xfrm>
            <a:off x="457200" y="4754880"/>
            <a:ext cx="6858000" cy="118872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1B2533"/>
                </a:solidFill>
                <a:latin typeface="Source Sans 3" pitchFamily="34" charset="0"/>
                <a:ea typeface="Source Sans 3" pitchFamily="34" charset="-122"/>
                <a:cs typeface="Source Sans 3" pitchFamily="34" charset="-120"/>
              </a:rPr>
              <a:t>Video and photos are being recorded here for research and outreach. Tell a lab member if you prefer not to be recorded.</a:t>
            </a:r>
            <a:endParaRPr lang="en-US" sz="2400" dirty="0"/>
          </a:p>
        </p:txBody>
      </p:sp>
      <p:sp>
        <p:nvSpPr>
          <p:cNvPr id="5" name="Text 2"/>
          <p:cNvSpPr/>
          <p:nvPr>
            <p:ph idx="108" type="body" hasCustomPrompt="1"/>
          </p:nvPr>
        </p:nvSpPr>
        <p:spPr>
          <a:xfrm>
            <a:off x="731520" y="6291072"/>
            <a:ext cx="6309360" cy="266700"/>
          </a:xfrm>
          <a:prstGeom prst="rect">
            <a:avLst/>
          </a:prstGeom>
          <a:noFill/>
          <a:ln/>
        </p:spPr>
        <p:txBody>
          <a:bodyPr wrap="square" lIns="0" tIns="0" rIns="0" bIns="0" rtlCol="0" anchor="ctr"/>
          <a:lstStyle/>
          <a:p>
            <a:pPr algn="l" indent="0" marL="0">
              <a:buNone/>
            </a:pPr>
            <a:r>
              <a:rPr lang="en-US" sz="1400" b="1" spc="252" kern="0" dirty="0">
                <a:solidFill>
                  <a:srgbClr val="003976"/>
                </a:solidFill>
                <a:latin typeface="Source Sans 3" pitchFamily="34" charset="0"/>
                <a:ea typeface="Source Sans 3" pitchFamily="34" charset="-122"/>
                <a:cs typeface="Source Sans 3" pitchFamily="34" charset="-120"/>
              </a:rPr>
              <a:t>CONTACT</a:t>
            </a:r>
            <a:endParaRPr lang="en-US" sz="1400" dirty="0"/>
          </a:p>
        </p:txBody>
      </p:sp>
      <p:sp>
        <p:nvSpPr>
          <p:cNvPr id="6" name="Text 2"/>
          <p:cNvSpPr/>
          <p:nvPr>
            <p:ph idx="109" type="body" hasCustomPrompt="1"/>
          </p:nvPr>
        </p:nvSpPr>
        <p:spPr>
          <a:xfrm>
            <a:off x="731520" y="6629400"/>
            <a:ext cx="6309360" cy="502920"/>
          </a:xfrm>
          <a:prstGeom prst="rect">
            <a:avLst/>
          </a:prstGeom>
          <a:noFill/>
          <a:ln/>
        </p:spPr>
        <p:txBody>
          <a:bodyPr wrap="square" lIns="0" tIns="0" rIns="0" bIns="0" rtlCol="0" anchor="ctr">
            <a:normAutofit/>
          </a:bodyPr>
          <a:lstStyle/>
          <a:p>
            <a:pPr algn="l" indent="0" marL="0">
              <a:buNone/>
            </a:pPr>
            <a:r>
              <a:rPr lang="en-US" sz="2600" b="1" dirty="0">
                <a:solidFill>
                  <a:srgbClr val="003976"/>
                </a:solidFill>
                <a:latin typeface="Source Sans 3" pitchFamily="34" charset="0"/>
                <a:ea typeface="Source Sans 3" pitchFamily="34" charset="-122"/>
                <a:cs typeface="Source Sans 3" pitchFamily="34" charset="-120"/>
              </a:rPr>
              <a:t>[Name]  ·  [Lab phone]</a:t>
            </a:r>
            <a:endParaRPr lang="en-US" sz="2600" dirty="0"/>
          </a:p>
        </p:txBody>
      </p:sp>
      <p:sp>
        <p:nvSpPr>
          <p:cNvPr id="7" name="Text 2"/>
          <p:cNvSpPr/>
          <p:nvPr>
            <p:ph idx="110" type="body" hasCustomPrompt="1"/>
          </p:nvPr>
        </p:nvSpPr>
        <p:spPr>
          <a:xfrm>
            <a:off x="457200" y="7479792"/>
            <a:ext cx="6858000" cy="621792"/>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533"/>
                </a:solidFill>
                <a:latin typeface="Source Sans 3" pitchFamily="34" charset="0"/>
                <a:ea typeface="Source Sans 3" pitchFamily="34" charset="-122"/>
                <a:cs typeface="Source Sans 3" pitchFamily="34" charset="-120"/>
              </a:rPr>
              <a:t>Recordings of minors need a signed parent or guardian release.</a:t>
            </a:r>
            <a:endParaRPr lang="en-US" sz="200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door and informational sign template (Letter)</dc:title>
  <dc:subject>Lab door sign and informational signs, Advanced Telerobotics Research Lab, Kent State University</dc:subject>
  <dc:creator>Advanced Telerobotics Research Lab, Kent State University</dc:creator>
  <cp:lastModifiedBy>Advanced Telerobotics Research Lab, Kent State University</cp:lastModifiedBy>
  <cp:revision>1</cp:revision>
  <dcterms:created xsi:type="dcterms:W3CDTF">2026-09-29T05:19:48Z</dcterms:created>
  <dcterms:modified xsi:type="dcterms:W3CDTF">2026-09-29T05:19:48Z</dcterms:modified>
</cp:coreProperties>
</file>