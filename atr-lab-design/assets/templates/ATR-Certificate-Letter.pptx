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CERTIFICATE OF COMPLETION. Replace the [bracketed] placeholders: recipient, program name (verified program types: summer internship for high school students, summer workshop for middle school students), dates in Kent State style ("June 15-26, 2027", "Sept. 23, 2026"), the two signature blocks and the certificate number (YYYY-NNN, kept in the program's register).
Use "Completion" when the recipient finished the full program; use the Participation slide for partial attendance or one-day events.
Character budgets: recipient name up to 28 characters on one line at 44 pt Roboto Slab; a longer name shrinks to two lines at about 34 pt (about 50 characters). Body: three lines at 14 pt (about 260 characters). Signature name: 30 characters at 10.5 pt bold; role line: two lines at 9.5 pt (about 70 characters); shorten rather than shrink. Keynote and Google Slides do not shrink text, so keep inside the budgets there.
The roundel (assets/logos/png/atr-seal-navy-3000.png) is the lab's own ceremonial mark. Never use the Kent State University seal (reserved for the president, trustees and deans) or the sunburst as ornament. The gold/navy hazard band on the bottom edge and the mono certificate-number line are the only other devices; nothing sits within 0.30 in of the band.
Small print: the certificate number and the Kent State trademark line sit centred in the logo row in 8-9 pt slate (8 pt is the print floor for fine print), because the front has no other position that respects the logos' clear space and the band clearance. Kent State prefers the trademark line on the back of a publication; if you print the certificate duplex, move the line to the back and delete it here (View &gt; Slide Master).
Paper: bright white 65-110 lb cover, smooth, linen or laid. No parchment, cream or ivory (they shift the gold). Gold foil No. 817 on the roundel is an option through a contracted printer; it replaces the gold ink, not the navy.
K-12 privacy: the recipient's name belongs on the certificate they take home, but do not post photos of named certificates without a signed parent or guardian release.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CERTIFICATE OF PARTICIPATION. Replace the [bracketed] placeholders: recipient, program name (verified program types: summer internship for high school students, summer workshop for middle school students), dates in Kent State style ("June 15-26, 2027", "Sept. 23, 2026"), the two signature blocks and the certificate number (YYYY-NNN, kept in the program's register).
Use "Participation" for one-day workshops, demo days and partial attendance; use the Completion slide for a finished program.
Character budgets: recipient name up to 28 characters on one line at 44 pt Roboto Slab; a longer name shrinks to two lines at about 34 pt (about 50 characters). Body: three lines at 14 pt (about 260 characters). Signature name: 30 characters at 10.5 pt bold; role line: two lines at 9.5 pt (about 70 characters); shorten rather than shrink. Keynote and Google Slides do not shrink text, so keep inside the budgets there.
The roundel (assets/logos/png/atr-seal-navy-3000.png) is the lab's own ceremonial mark. Never use the Kent State University seal (reserved for the president, trustees and deans) or the sunburst as ornament. The gold/navy hazard band on the bottom edge and the mono certificate-number line are the only other devices; nothing sits within 0.30 in of the band.
Small print: the certificate number and the Kent State trademark line sit centred in the logo row in 8-9 pt slate (8 pt is the print floor for fine print), because the front has no other position that respects the logos' clear space and the band clearance. Kent State prefers the trademark line on the back of a publication; if you print the certificate duplex, move the line to the back and delete it here (View &gt; Slide Master).
Paper: bright white 65-110 lb cover, smooth, linen or laid. No parchment, cream or ivory (they shift the gold). Gold foil No. 817 on the roundel is an option through a contracted printer; it replaces the gold ink, not the navy.
K-12 privacy: the recipient's name belongs on the certificate they take home, but do not post photos of named certificates without a signed parent or guardian release.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Certificate">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7437120"/>
            <a:ext cx="10058400" cy="335280"/>
          </a:xfrm>
          <a:prstGeom prst="rect">
            <a:avLst/>
          </a:prstGeom>
        </p:spPr>
      </p:pic>
      <p:pic>
        <p:nvPicPr>
          <p:cNvPr id="3" name="Image 1" descr="Advanced Telerobotics Research roundel">    </p:cNvPr>
          <p:cNvPicPr>
            <a:picLocks noChangeAspect="1"/>
          </p:cNvPicPr>
          <p:nvPr/>
        </p:nvPicPr>
        <p:blipFill>
          <a:blip r:embed="rId2"/>
          <a:stretch>
            <a:fillRect/>
          </a:stretch>
        </p:blipFill>
        <p:spPr>
          <a:xfrm>
            <a:off x="4365346" y="457200"/>
            <a:ext cx="1327709" cy="1371600"/>
          </a:xfrm>
          <a:prstGeom prst="rect">
            <a:avLst/>
          </a:prstGeom>
        </p:spPr>
      </p:pic>
      <p:sp>
        <p:nvSpPr>
          <p:cNvPr id="4" name="Text 0"/>
          <p:cNvSpPr txBox="1"/>
          <p:nvPr/>
        </p:nvSpPr>
        <p:spPr>
          <a:xfrm>
            <a:off x="1371600" y="2011680"/>
            <a:ext cx="7315200" cy="209550"/>
          </a:xfrm>
          <a:prstGeom prst="rect">
            <a:avLst/>
          </a:prstGeom>
          <a:noFill/>
          <a:ln/>
        </p:spPr>
        <p:txBody>
          <a:bodyPr wrap="square" lIns="0" tIns="0" rIns="0" bIns="0" rtlCol="0" anchor="ctr"/>
          <a:lstStyle/>
          <a:p>
            <a:pPr algn="ctr" indent="0" marL="0">
              <a:buNone/>
            </a:pPr>
            <a:r>
              <a:rPr lang="en-US" sz="1100" b="1" spc="198" kern="0" dirty="0">
                <a:solidFill>
                  <a:srgbClr val="8A6100"/>
                </a:solidFill>
                <a:latin typeface="Source Sans 3" pitchFamily="34" charset="0"/>
                <a:ea typeface="Source Sans 3" pitchFamily="34" charset="-122"/>
                <a:cs typeface="Source Sans 3" pitchFamily="34" charset="-120"/>
              </a:rPr>
              <a:t>ADVANCED TELEROBOTICS RESEARCH LAB  ·  KENT STATE UNIVERSITY</a:t>
            </a:r>
            <a:endParaRPr lang="en-US" sz="1100" dirty="0"/>
          </a:p>
        </p:txBody>
      </p:sp>
      <p:sp>
        <p:nvSpPr>
          <p:cNvPr id="5" name="Text 1"/>
          <p:cNvSpPr txBox="1"/>
          <p:nvPr/>
        </p:nvSpPr>
        <p:spPr>
          <a:xfrm>
            <a:off x="1371600" y="2907792"/>
            <a:ext cx="7315200" cy="237744"/>
          </a:xfrm>
          <a:prstGeom prst="rect">
            <a:avLst/>
          </a:prstGeom>
          <a:noFill/>
          <a:ln/>
        </p:spPr>
        <p:txBody>
          <a:bodyPr wrap="square" lIns="0" tIns="0" rIns="0" bIns="0" rtlCol="0" anchor="ctr"/>
          <a:lstStyle/>
          <a:p>
            <a:pPr algn="ctr" indent="0" marL="0">
              <a:buNone/>
            </a:pPr>
            <a:r>
              <a:rPr lang="en-US" sz="1400" dirty="0">
                <a:solidFill>
                  <a:srgbClr val="4A5868"/>
                </a:solidFill>
                <a:latin typeface="Source Sans 3" pitchFamily="34" charset="0"/>
                <a:ea typeface="Source Sans 3" pitchFamily="34" charset="-122"/>
                <a:cs typeface="Source Sans 3" pitchFamily="34" charset="-120"/>
              </a:rPr>
              <a:t>is presented to</a:t>
            </a:r>
            <a:endParaRPr lang="en-US" sz="1400" dirty="0"/>
          </a:p>
        </p:txBody>
      </p:sp>
      <p:sp>
        <p:nvSpPr>
          <p:cNvPr id="6" name="Shape 2"/>
          <p:cNvSpPr/>
          <p:nvPr/>
        </p:nvSpPr>
        <p:spPr>
          <a:xfrm>
            <a:off x="914400" y="5303520"/>
            <a:ext cx="3108960" cy="0"/>
          </a:xfrm>
          <a:prstGeom prst="line">
            <a:avLst/>
          </a:prstGeom>
          <a:noFill/>
          <a:ln w="9525">
            <a:solidFill>
              <a:srgbClr val="003976"/>
            </a:solidFill>
            <a:prstDash val="solid"/>
          </a:ln>
        </p:spPr>
      </p:sp>
      <p:sp>
        <p:nvSpPr>
          <p:cNvPr id="7" name="Shape 3"/>
          <p:cNvSpPr/>
          <p:nvPr/>
        </p:nvSpPr>
        <p:spPr>
          <a:xfrm>
            <a:off x="4343400" y="5303520"/>
            <a:ext cx="1371600" cy="0"/>
          </a:xfrm>
          <a:prstGeom prst="line">
            <a:avLst/>
          </a:prstGeom>
          <a:noFill/>
          <a:ln w="9525">
            <a:solidFill>
              <a:srgbClr val="003976"/>
            </a:solidFill>
            <a:prstDash val="solid"/>
          </a:ln>
        </p:spPr>
      </p:sp>
      <p:sp>
        <p:nvSpPr>
          <p:cNvPr id="8" name="Shape 4"/>
          <p:cNvSpPr/>
          <p:nvPr/>
        </p:nvSpPr>
        <p:spPr>
          <a:xfrm>
            <a:off x="6035040" y="5303520"/>
            <a:ext cx="3108960" cy="0"/>
          </a:xfrm>
          <a:prstGeom prst="line">
            <a:avLst/>
          </a:prstGeom>
          <a:noFill/>
          <a:ln w="9525">
            <a:solidFill>
              <a:srgbClr val="003976"/>
            </a:solidFill>
            <a:prstDash val="solid"/>
          </a:ln>
        </p:spPr>
      </p:sp>
      <p:sp>
        <p:nvSpPr>
          <p:cNvPr id="9" name="Text 5"/>
          <p:cNvSpPr txBox="1"/>
          <p:nvPr/>
        </p:nvSpPr>
        <p:spPr>
          <a:xfrm>
            <a:off x="4343400" y="5568696"/>
            <a:ext cx="1371600" cy="182880"/>
          </a:xfrm>
          <a:prstGeom prst="rect">
            <a:avLst/>
          </a:prstGeom>
          <a:noFill/>
          <a:ln/>
        </p:spPr>
        <p:txBody>
          <a:bodyPr wrap="square" lIns="0" tIns="0" rIns="0" bIns="0" rtlCol="0" anchor="ctr"/>
          <a:lstStyle/>
          <a:p>
            <a:pPr algn="l" indent="0" marL="0">
              <a:buNone/>
            </a:pPr>
            <a:r>
              <a:rPr lang="en-US" sz="950" dirty="0">
                <a:solidFill>
                  <a:srgbClr val="4A5868"/>
                </a:solidFill>
                <a:latin typeface="Source Sans 3" pitchFamily="34" charset="0"/>
                <a:ea typeface="Source Sans 3" pitchFamily="34" charset="-122"/>
                <a:cs typeface="Source Sans 3" pitchFamily="34" charset="-120"/>
              </a:rPr>
              <a:t>Date</a:t>
            </a:r>
            <a:endParaRPr lang="en-US" sz="950" dirty="0"/>
          </a:p>
        </p:txBody>
      </p:sp>
      <p:pic>
        <p:nvPicPr>
          <p:cNvPr id="10" name="Image 2" descr="Advanced Telerobotics Research logo">    </p:cNvPr>
          <p:cNvPicPr>
            <a:picLocks noChangeAspect="1"/>
          </p:cNvPicPr>
          <p:nvPr/>
        </p:nvPicPr>
        <p:blipFill>
          <a:blip r:embed="rId3"/>
          <a:stretch>
            <a:fillRect/>
          </a:stretch>
        </p:blipFill>
        <p:spPr>
          <a:xfrm>
            <a:off x="685800" y="6208776"/>
            <a:ext cx="2430379" cy="923544"/>
          </a:xfrm>
          <a:prstGeom prst="rect">
            <a:avLst/>
          </a:prstGeom>
        </p:spPr>
      </p:pic>
      <p:pic>
        <p:nvPicPr>
          <p:cNvPr id="11" name="Image 3" descr="Kent State University wordmark">    </p:cNvPr>
          <p:cNvPicPr>
            <a:picLocks noChangeAspect="1"/>
          </p:cNvPicPr>
          <p:nvPr/>
        </p:nvPicPr>
        <p:blipFill>
          <a:blip r:embed="rId4"/>
          <a:stretch>
            <a:fillRect/>
          </a:stretch>
        </p:blipFill>
        <p:spPr>
          <a:xfrm>
            <a:off x="8405528" y="6208776"/>
            <a:ext cx="967072" cy="923544"/>
          </a:xfrm>
          <a:prstGeom prst="rect">
            <a:avLst/>
          </a:prstGeom>
        </p:spPr>
      </p:pic>
      <p:sp>
        <p:nvSpPr>
          <p:cNvPr id="12" name="Text 6"/>
          <p:cNvSpPr txBox="1"/>
          <p:nvPr/>
        </p:nvSpPr>
        <p:spPr>
          <a:xfrm>
            <a:off x="3474720" y="6665976"/>
            <a:ext cx="3108960" cy="329184"/>
          </a:xfrm>
          <a:prstGeom prst="rect">
            <a:avLst/>
          </a:prstGeom>
          <a:noFill/>
          <a:ln/>
        </p:spPr>
        <p:txBody>
          <a:bodyPr wrap="square" lIns="0" tIns="0" rIns="0" bIns="0" rtlCol="0" anchor="ct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13" name="Text 7"/>
          <p:cNvSpPr/>
          <p:nvPr>
            <p:ph idx="111" type="title" hasCustomPrompt="1"/>
          </p:nvPr>
        </p:nvSpPr>
        <p:spPr>
          <a:xfrm>
            <a:off x="1371600" y="2240280"/>
            <a:ext cx="7315200" cy="621792"/>
          </a:xfrm>
          <a:prstGeom prst="rect">
            <a:avLst/>
          </a:prstGeom>
          <a:noFill/>
          <a:ln/>
        </p:spPr>
        <p:txBody>
          <a:bodyPr wrap="square" lIns="0" tIns="0" rIns="0" bIns="0" rtlCol="0" anchor="ctr">
            <a:normAutofit/>
          </a:bodyPr>
          <a:lstStyle>
            <a:lvl1pPr algn="ctr" indent="0" marL="0">
              <a:buNone/>
              <a:defRPr lang="en-US" sz="4000" dirty="0">
                <a:solidFill>
                  <a:srgbClr val="003976"/>
                </a:solidFill>
                <a:latin typeface="Source Sans 3 Black" pitchFamily="34" charset="0"/>
                <a:ea typeface="Source Sans 3 Black" pitchFamily="34" charset="-122"/>
                <a:cs typeface="Source Sans 3 Black" pitchFamily="34" charset="-120"/>
              </a:defRPr>
            </a:lvl1pPr>
          </a:lstStyle>
          <a:p>
            <a:pPr algn="ctr" indent="0" marL="0">
              <a:buNone/>
            </a:pPr>
            <a:r>
              <a:rPr lang="en-US" sz="4000" dirty="0">
                <a:solidFill>
                  <a:srgbClr val="003976"/>
                </a:solidFill>
                <a:latin typeface="Source Sans 3 Black" pitchFamily="34" charset="0"/>
                <a:ea typeface="Source Sans 3 Black" pitchFamily="34" charset="-122"/>
                <a:cs typeface="Source Sans 3 Black" pitchFamily="34" charset="-120"/>
              </a:rPr>
              <a:t>Certificate of [Completion]</a:t>
            </a:r>
            <a:endParaRPr lang="en-US" sz="4000" dirty="0"/>
          </a:p>
        </p:txBody>
      </p:sp>
      <p:sp>
        <p:nvSpPr>
          <p:cNvPr id="14" name="Text 7"/>
          <p:cNvSpPr/>
          <p:nvPr>
            <p:ph idx="112" type="body" hasCustomPrompt="1"/>
          </p:nvPr>
        </p:nvSpPr>
        <p:spPr>
          <a:xfrm>
            <a:off x="914400" y="3200400"/>
            <a:ext cx="8229600" cy="868680"/>
          </a:xfrm>
          <a:prstGeom prst="rect">
            <a:avLst/>
          </a:prstGeom>
          <a:noFill/>
          <a:ln/>
        </p:spPr>
        <p:txBody>
          <a:bodyPr wrap="square" lIns="0" tIns="0" rIns="0" bIns="0" rtlCol="0" anchor="ctr">
            <a:normAutofit/>
          </a:bodyPr>
          <a:lstStyle>
            <a:lvl1pPr algn="ctr" indent="0" marL="0">
              <a:lnSpc>
                <a:spcPts val="4800"/>
              </a:lnSpc>
              <a:buNone/>
              <a:defRPr lang="en-US" sz="4400" dirty="0">
                <a:solidFill>
                  <a:srgbClr val="1B2533"/>
                </a:solidFill>
                <a:latin typeface="Roboto Slab" pitchFamily="34" charset="0"/>
                <a:ea typeface="Roboto Slab" pitchFamily="34" charset="-122"/>
                <a:cs typeface="Roboto Slab" pitchFamily="34" charset="-120"/>
              </a:defRPr>
            </a:lvl1pPr>
          </a:lstStyle>
          <a:p>
            <a:pPr algn="ctr" indent="0" marL="0">
              <a:lnSpc>
                <a:spcPts val="4800"/>
              </a:lnSpc>
              <a:buNone/>
            </a:pPr>
            <a:r>
              <a:rPr lang="en-US" sz="4400" dirty="0">
                <a:solidFill>
                  <a:srgbClr val="1B2533"/>
                </a:solidFill>
                <a:latin typeface="Roboto Slab" pitchFamily="34" charset="0"/>
                <a:ea typeface="Roboto Slab" pitchFamily="34" charset="-122"/>
                <a:cs typeface="Roboto Slab" pitchFamily="34" charset="-120"/>
              </a:rPr>
              <a:t>[Recipient Name]</a:t>
            </a:r>
            <a:endParaRPr lang="en-US" sz="4400" dirty="0"/>
          </a:p>
        </p:txBody>
      </p:sp>
      <p:sp>
        <p:nvSpPr>
          <p:cNvPr id="15" name="Text 7"/>
          <p:cNvSpPr/>
          <p:nvPr>
            <p:ph idx="113" type="body" hasCustomPrompt="1"/>
          </p:nvPr>
        </p:nvSpPr>
        <p:spPr>
          <a:xfrm>
            <a:off x="1280160" y="4206240"/>
            <a:ext cx="7498080" cy="731520"/>
          </a:xfrm>
          <a:prstGeom prst="rect">
            <a:avLst/>
          </a:prstGeom>
          <a:noFill/>
          <a:ln/>
        </p:spPr>
        <p:txBody>
          <a:bodyPr wrap="square" lIns="0" tIns="0" rIns="0" bIns="0" rtlCol="0" anchor="t">
            <a:normAutofit/>
          </a:bodyPr>
          <a:lstStyle>
            <a:lvl1pPr algn="ctr" indent="0" marL="0">
              <a:lnSpc>
                <a:spcPts val="1900"/>
              </a:lnSpc>
              <a:buNone/>
              <a:defRPr lang="en-US" sz="1400" dirty="0">
                <a:solidFill>
                  <a:srgbClr val="1B2533"/>
                </a:solidFill>
                <a:latin typeface="Source Sans 3" pitchFamily="34" charset="0"/>
                <a:ea typeface="Source Sans 3" pitchFamily="34" charset="-122"/>
                <a:cs typeface="Source Sans 3" pitchFamily="34" charset="-120"/>
              </a:defRPr>
            </a:lvl1pPr>
          </a:lstStyle>
          <a:p>
            <a:pPr algn="ctr" indent="0" marL="0">
              <a:lnSpc>
                <a:spcPts val="1900"/>
              </a:lnSpc>
              <a:buNone/>
            </a:pPr>
            <a:r>
              <a:rPr lang="en-US" sz="1400" dirty="0">
                <a:solidFill>
                  <a:srgbClr val="1B2533"/>
                </a:solidFill>
                <a:latin typeface="Source Sans 3" pitchFamily="34" charset="0"/>
                <a:ea typeface="Source Sans 3" pitchFamily="34" charset="-122"/>
                <a:cs typeface="Source Sans 3" pitchFamily="34" charset="-120"/>
              </a:rPr>
              <a:t>[for completing the Program Name, a summer program at the Advanced Telerobotics Research Lab, Kent State University, Kent, Ohio, June 15-26, 2027.]</a:t>
            </a:r>
            <a:endParaRPr lang="en-US" sz="1400" dirty="0"/>
          </a:p>
        </p:txBody>
      </p:sp>
      <p:sp>
        <p:nvSpPr>
          <p:cNvPr id="16" name="Text 7"/>
          <p:cNvSpPr/>
          <p:nvPr>
            <p:ph idx="114" type="body" hasCustomPrompt="1"/>
          </p:nvPr>
        </p:nvSpPr>
        <p:spPr>
          <a:xfrm>
            <a:off x="914400" y="5358384"/>
            <a:ext cx="3108960" cy="201168"/>
          </a:xfrm>
          <a:prstGeom prst="rect">
            <a:avLst/>
          </a:prstGeom>
          <a:noFill/>
          <a:ln/>
        </p:spPr>
        <p:txBody>
          <a:bodyPr wrap="square" lIns="0" tIns="0" rIns="0" bIns="0" rtlCol="0" anchor="ctr">
            <a:normAutofit/>
          </a:bodyPr>
          <a:lstStyle>
            <a:lvl1pPr algn="l" indent="0" marL="0">
              <a:buNone/>
              <a:defRPr lang="en-US" sz="1050" b="1" dirty="0">
                <a:solidFill>
                  <a:srgbClr val="1B2533"/>
                </a:solidFill>
                <a:latin typeface="Source Sans 3" pitchFamily="34" charset="0"/>
                <a:ea typeface="Source Sans 3" pitchFamily="34" charset="-122"/>
                <a:cs typeface="Source Sans 3" pitchFamily="34" charset="-120"/>
              </a:defRPr>
            </a:lvl1p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[Name]</a:t>
            </a:r>
            <a:endParaRPr lang="en-US" sz="1050" dirty="0"/>
          </a:p>
        </p:txBody>
      </p:sp>
      <p:sp>
        <p:nvSpPr>
          <p:cNvPr id="17" name="Text 7"/>
          <p:cNvSpPr/>
          <p:nvPr>
            <p:ph idx="115" type="body" hasCustomPrompt="1"/>
          </p:nvPr>
        </p:nvSpPr>
        <p:spPr>
          <a:xfrm>
            <a:off x="914400" y="5568696"/>
            <a:ext cx="3108960" cy="329184"/>
          </a:xfrm>
          <a:prstGeom prst="rect">
            <a:avLst/>
          </a:prstGeom>
          <a:noFill/>
          <a:ln/>
        </p:spPr>
        <p:txBody>
          <a:bodyPr wrap="square" lIns="0" tIns="0" rIns="0" bIns="0" rtlCol="0" anchor="t">
            <a:normAutofit/>
          </a:bodyPr>
          <a:lstStyle>
            <a:lvl1pPr algn="l" indent="0" marL="0">
              <a:lnSpc>
                <a:spcPts val="1200"/>
              </a:lnSpc>
              <a:buNone/>
              <a:defRPr lang="en-US" sz="95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950" dirty="0">
                <a:solidFill>
                  <a:srgbClr val="4A5868"/>
                </a:solidFill>
                <a:latin typeface="Source Sans 3" pitchFamily="34" charset="0"/>
                <a:ea typeface="Source Sans 3" pitchFamily="34" charset="-122"/>
                <a:cs typeface="Source Sans 3" pitchFamily="34" charset="-120"/>
              </a:rPr>
              <a:t>[Title], Program Director</a:t>
            </a:r>
            <a:endParaRPr lang="en-US" sz="950" dirty="0"/>
          </a:p>
        </p:txBody>
      </p:sp>
      <p:sp>
        <p:nvSpPr>
          <p:cNvPr id="18" name="Text 7"/>
          <p:cNvSpPr/>
          <p:nvPr>
            <p:ph idx="116" type="body" hasCustomPrompt="1"/>
          </p:nvPr>
        </p:nvSpPr>
        <p:spPr>
          <a:xfrm>
            <a:off x="4343400" y="5358384"/>
            <a:ext cx="1371600" cy="201168"/>
          </a:xfrm>
          <a:prstGeom prst="rect">
            <a:avLst/>
          </a:prstGeom>
          <a:noFill/>
          <a:ln/>
        </p:spPr>
        <p:txBody>
          <a:bodyPr wrap="square" lIns="0" tIns="0" rIns="0" bIns="0" rtlCol="0" anchor="ctr">
            <a:normAutofit/>
          </a:bodyPr>
          <a:lstStyle>
            <a:lvl1pPr algn="l" indent="0" marL="0">
              <a:buNone/>
              <a:defRPr lang="en-US" sz="1050" b="1" dirty="0">
                <a:solidFill>
                  <a:srgbClr val="1B2533"/>
                </a:solidFill>
                <a:latin typeface="Source Sans 3" pitchFamily="34" charset="0"/>
                <a:ea typeface="Source Sans 3" pitchFamily="34" charset="-122"/>
                <a:cs typeface="Source Sans 3" pitchFamily="34" charset="-120"/>
              </a:defRPr>
            </a:lvl1p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[Month DD, YYYY]</a:t>
            </a:r>
            <a:endParaRPr lang="en-US" sz="1050" dirty="0"/>
          </a:p>
        </p:txBody>
      </p:sp>
      <p:sp>
        <p:nvSpPr>
          <p:cNvPr id="19" name="Text 7"/>
          <p:cNvSpPr/>
          <p:nvPr>
            <p:ph idx="117" type="body" hasCustomPrompt="1"/>
          </p:nvPr>
        </p:nvSpPr>
        <p:spPr>
          <a:xfrm>
            <a:off x="6035040" y="5358384"/>
            <a:ext cx="3108960" cy="201168"/>
          </a:xfrm>
          <a:prstGeom prst="rect">
            <a:avLst/>
          </a:prstGeom>
          <a:noFill/>
          <a:ln/>
        </p:spPr>
        <p:txBody>
          <a:bodyPr wrap="square" lIns="0" tIns="0" rIns="0" bIns="0" rtlCol="0" anchor="ctr">
            <a:normAutofit/>
          </a:bodyPr>
          <a:lstStyle>
            <a:lvl1pPr algn="l" indent="0" marL="0">
              <a:buNone/>
              <a:defRPr lang="en-US" sz="1050" b="1" dirty="0">
                <a:solidFill>
                  <a:srgbClr val="1B2533"/>
                </a:solidFill>
                <a:latin typeface="Source Sans 3" pitchFamily="34" charset="0"/>
                <a:ea typeface="Source Sans 3" pitchFamily="34" charset="-122"/>
                <a:cs typeface="Source Sans 3" pitchFamily="34" charset="-120"/>
              </a:defRPr>
            </a:lvl1p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[Name]</a:t>
            </a:r>
            <a:endParaRPr lang="en-US" sz="1050" dirty="0"/>
          </a:p>
        </p:txBody>
      </p:sp>
      <p:sp>
        <p:nvSpPr>
          <p:cNvPr id="20" name="Text 7"/>
          <p:cNvSpPr/>
          <p:nvPr>
            <p:ph idx="118" type="body" hasCustomPrompt="1"/>
          </p:nvPr>
        </p:nvSpPr>
        <p:spPr>
          <a:xfrm>
            <a:off x="6035040" y="5568696"/>
            <a:ext cx="3108960" cy="329184"/>
          </a:xfrm>
          <a:prstGeom prst="rect">
            <a:avLst/>
          </a:prstGeom>
          <a:noFill/>
          <a:ln/>
        </p:spPr>
        <p:txBody>
          <a:bodyPr wrap="square" lIns="0" tIns="0" rIns="0" bIns="0" rtlCol="0" anchor="t">
            <a:normAutofit/>
          </a:bodyPr>
          <a:lstStyle>
            <a:lvl1pPr algn="l" indent="0" marL="0">
              <a:lnSpc>
                <a:spcPts val="1200"/>
              </a:lnSpc>
              <a:buNone/>
              <a:defRPr lang="en-US" sz="95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950" dirty="0">
                <a:solidFill>
                  <a:srgbClr val="4A5868"/>
                </a:solidFill>
                <a:latin typeface="Source Sans 3" pitchFamily="34" charset="0"/>
                <a:ea typeface="Source Sans 3" pitchFamily="34" charset="-122"/>
                <a:cs typeface="Source Sans 3" pitchFamily="34" charset="-120"/>
              </a:rPr>
              <a:t>[Title], Lab Director, Advanced Telerobotics Research Lab</a:t>
            </a:r>
            <a:endParaRPr lang="en-US" sz="950" dirty="0"/>
          </a:p>
        </p:txBody>
      </p:sp>
      <p:sp>
        <p:nvSpPr>
          <p:cNvPr id="21" name="Text 7"/>
          <p:cNvSpPr/>
          <p:nvPr>
            <p:ph idx="119" type="body" hasCustomPrompt="1"/>
          </p:nvPr>
        </p:nvSpPr>
        <p:spPr>
          <a:xfrm>
            <a:off x="3474720" y="6355080"/>
            <a:ext cx="3108960" cy="182880"/>
          </a:xfrm>
          <a:prstGeom prst="rect">
            <a:avLst/>
          </a:prstGeom>
          <a:noFill/>
          <a:ln/>
        </p:spPr>
        <p:txBody>
          <a:bodyPr wrap="square" lIns="0" tIns="0" rIns="0" bIns="0" rtlCol="0" anchor="ctr"/>
          <a:lstStyle>
            <a:lvl1pPr algn="ctr" indent="0" marL="0">
              <a:buNone/>
              <a:defRPr lang="en-US" sz="900" dirty="0">
                <a:solidFill>
                  <a:srgbClr val="4A5868"/>
                </a:solidFill>
                <a:latin typeface="Source Code Pro" pitchFamily="34" charset="0"/>
                <a:ea typeface="Source Code Pro" pitchFamily="34" charset="-122"/>
                <a:cs typeface="Source Code Pro" pitchFamily="34" charset="-120"/>
              </a:defRPr>
            </a:lvl1pPr>
          </a:lstStyle>
          <a:p>
            <a:pPr algn="ctr" indent="0" marL="0">
              <a:buNone/>
            </a:pPr>
            <a:r>
              <a:rPr lang="en-US" sz="900" dirty="0">
                <a:solidFill>
                  <a:srgbClr val="4A5868"/>
                </a:solidFill>
                <a:latin typeface="Source Code Pro" pitchFamily="34" charset="0"/>
                <a:ea typeface="Source Code Pro" pitchFamily="34" charset="-122"/>
                <a:cs typeface="Source Code Pro" pitchFamily="34" charset="-120"/>
              </a:rPr>
              <a:t>CERTIFICATE NO. // [YYYY-NNN]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7"/>
          <p:cNvSpPr/>
          <p:nvPr>
            <p:ph idx="111" type="title" hasCustomPrompt="1"/>
          </p:nvPr>
        </p:nvSpPr>
        <p:spPr>
          <a:xfrm>
            <a:off x="1371600" y="2240280"/>
            <a:ext cx="7315200" cy="621792"/>
          </a:xfrm>
          <a:prstGeom prst="rect">
            <a:avLst/>
          </a:prstGeom>
          <a:noFill/>
          <a:ln/>
        </p:spPr>
        <p:txBody>
          <a:bodyPr wrap="square" lIns="0" tIns="0" rIns="0" bIns="0" rtlCol="0" anchor="ctr">
            <a:normAutofit/>
          </a:bodyPr>
          <a:lstStyle/>
          <a:p>
            <a:pPr algn="ctr" indent="0" marL="0">
              <a:buNone/>
            </a:pPr>
            <a:r>
              <a:rPr lang="en-US" sz="4000" dirty="0">
                <a:solidFill>
                  <a:srgbClr val="003976"/>
                </a:solidFill>
                <a:latin typeface="Source Sans 3 Black" pitchFamily="34" charset="0"/>
                <a:ea typeface="Source Sans 3 Black" pitchFamily="34" charset="-122"/>
                <a:cs typeface="Source Sans 3 Black" pitchFamily="34" charset="-120"/>
              </a:rPr>
              <a:t>Certificate of Completion</a:t>
            </a:r>
            <a:endParaRPr lang="en-US" sz="4000" dirty="0"/>
          </a:p>
        </p:txBody>
      </p:sp>
      <p:sp>
        <p:nvSpPr>
          <p:cNvPr id="3" name="Text 7"/>
          <p:cNvSpPr/>
          <p:nvPr>
            <p:ph idx="112" type="body" hasCustomPrompt="1"/>
          </p:nvPr>
        </p:nvSpPr>
        <p:spPr>
          <a:xfrm>
            <a:off x="914400" y="3200400"/>
            <a:ext cx="8229600" cy="868680"/>
          </a:xfrm>
          <a:prstGeom prst="rect">
            <a:avLst/>
          </a:prstGeom>
          <a:noFill/>
          <a:ln/>
        </p:spPr>
        <p:txBody>
          <a:bodyPr wrap="square" lIns="0" tIns="0" rIns="0" bIns="0" rtlCol="0" anchor="ctr">
            <a:normAutofit/>
          </a:bodyPr>
          <a:lstStyle/>
          <a:p>
            <a:pPr algn="ctr" indent="0" marL="0">
              <a:lnSpc>
                <a:spcPts val="4800"/>
              </a:lnSpc>
              <a:buNone/>
            </a:pPr>
            <a:r>
              <a:rPr lang="en-US" sz="4400" dirty="0">
                <a:solidFill>
                  <a:srgbClr val="1B2533"/>
                </a:solidFill>
                <a:latin typeface="Roboto Slab" pitchFamily="34" charset="0"/>
                <a:ea typeface="Roboto Slab" pitchFamily="34" charset="-122"/>
                <a:cs typeface="Roboto Slab" pitchFamily="34" charset="-120"/>
              </a:rPr>
              <a:t>[Recipient Name]</a:t>
            </a:r>
            <a:endParaRPr lang="en-US" sz="4400" dirty="0"/>
          </a:p>
        </p:txBody>
      </p:sp>
      <p:sp>
        <p:nvSpPr>
          <p:cNvPr id="4" name="Text 7"/>
          <p:cNvSpPr/>
          <p:nvPr>
            <p:ph idx="113" type="body" hasCustomPrompt="1"/>
          </p:nvPr>
        </p:nvSpPr>
        <p:spPr>
          <a:xfrm>
            <a:off x="1280160" y="4206240"/>
            <a:ext cx="7498080" cy="731520"/>
          </a:xfrm>
          <a:prstGeom prst="rect">
            <a:avLst/>
          </a:prstGeom>
          <a:noFill/>
          <a:ln/>
        </p:spPr>
        <p:txBody>
          <a:bodyPr wrap="square" lIns="0" tIns="0" rIns="0" bIns="0" rtlCol="0" anchor="t">
            <a:normAutofit/>
          </a:bodyPr>
          <a:lstStyle/>
          <a:p>
            <a:pPr algn="ctr" indent="0" marL="0">
              <a:lnSpc>
                <a:spcPts val="1900"/>
              </a:lnSpc>
              <a:buNone/>
            </a:pPr>
            <a:r>
              <a:rPr lang="en-US" sz="1400" dirty="0">
                <a:solidFill>
                  <a:srgbClr val="1B2533"/>
                </a:solidFill>
                <a:latin typeface="Source Sans 3" pitchFamily="34" charset="0"/>
                <a:ea typeface="Source Sans 3" pitchFamily="34" charset="-122"/>
                <a:cs typeface="Source Sans 3" pitchFamily="34" charset="-120"/>
              </a:rPr>
              <a:t>for completing the [Program Name], a [two-week] summer program in robotics and Physical AI at the Advanced Telerobotics Research Lab, Kent State University, Kent, Ohio, [June 15-26, 2027].</a:t>
            </a:r>
            <a:endParaRPr lang="en-US" sz="1400" dirty="0"/>
          </a:p>
        </p:txBody>
      </p:sp>
      <p:sp>
        <p:nvSpPr>
          <p:cNvPr id="5" name="Text 7"/>
          <p:cNvSpPr/>
          <p:nvPr>
            <p:ph idx="114" type="body" hasCustomPrompt="1"/>
          </p:nvPr>
        </p:nvSpPr>
        <p:spPr>
          <a:xfrm>
            <a:off x="914400" y="5358384"/>
            <a:ext cx="3108960" cy="201168"/>
          </a:xfrm>
          <a:prstGeom prst="rect">
            <a:avLst/>
          </a:prstGeom>
          <a:noFill/>
          <a:ln/>
        </p:spPr>
        <p:txBody>
          <a:bodyPr wrap="square" lIns="0" tIns="0" rIns="0" bIns="0" rtlCol="0" anchor="ctr">
            <a:normAutofit/>
          </a:body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[Name]</a:t>
            </a:r>
            <a:endParaRPr lang="en-US" sz="1050" dirty="0"/>
          </a:p>
        </p:txBody>
      </p:sp>
      <p:sp>
        <p:nvSpPr>
          <p:cNvPr id="6" name="Text 7"/>
          <p:cNvSpPr/>
          <p:nvPr>
            <p:ph idx="115" type="body" hasCustomPrompt="1"/>
          </p:nvPr>
        </p:nvSpPr>
        <p:spPr>
          <a:xfrm>
            <a:off x="914400" y="5568696"/>
            <a:ext cx="3108960" cy="329184"/>
          </a:xfrm>
          <a:prstGeom prst="rect">
            <a:avLst/>
          </a:prstGeom>
          <a:noFill/>
          <a:ln/>
        </p:spPr>
        <p:txBody>
          <a:bodyPr wrap="square" lIns="0" tIns="0" rIns="0" bIns="0" rtlCol="0" anchor="t">
            <a:normAutofit/>
          </a:bodyPr>
          <a:lstStyle/>
          <a:p>
            <a:pPr algn="l" indent="0" marL="0">
              <a:lnSpc>
                <a:spcPts val="1200"/>
              </a:lnSpc>
              <a:buNone/>
            </a:pPr>
            <a:r>
              <a:rPr lang="en-US" sz="950" dirty="0">
                <a:solidFill>
                  <a:srgbClr val="4A5868"/>
                </a:solidFill>
                <a:latin typeface="Source Sans 3" pitchFamily="34" charset="0"/>
                <a:ea typeface="Source Sans 3" pitchFamily="34" charset="-122"/>
                <a:cs typeface="Source Sans 3" pitchFamily="34" charset="-120"/>
              </a:rPr>
              <a:t>[Title], Program Director</a:t>
            </a:r>
            <a:endParaRPr lang="en-US" sz="950" dirty="0"/>
          </a:p>
        </p:txBody>
      </p:sp>
      <p:sp>
        <p:nvSpPr>
          <p:cNvPr id="7" name="Text 7"/>
          <p:cNvSpPr/>
          <p:nvPr>
            <p:ph idx="116" type="body" hasCustomPrompt="1"/>
          </p:nvPr>
        </p:nvSpPr>
        <p:spPr>
          <a:xfrm>
            <a:off x="4343400" y="5358384"/>
            <a:ext cx="1371600" cy="201168"/>
          </a:xfrm>
          <a:prstGeom prst="rect">
            <a:avLst/>
          </a:prstGeom>
          <a:noFill/>
          <a:ln/>
        </p:spPr>
        <p:txBody>
          <a:bodyPr wrap="square" lIns="0" tIns="0" rIns="0" bIns="0" rtlCol="0" anchor="ctr">
            <a:normAutofit/>
          </a:body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[Month DD, YYYY]</a:t>
            </a:r>
            <a:endParaRPr lang="en-US" sz="1050" dirty="0"/>
          </a:p>
        </p:txBody>
      </p:sp>
      <p:sp>
        <p:nvSpPr>
          <p:cNvPr id="8" name="Text 7"/>
          <p:cNvSpPr/>
          <p:nvPr>
            <p:ph idx="117" type="body" hasCustomPrompt="1"/>
          </p:nvPr>
        </p:nvSpPr>
        <p:spPr>
          <a:xfrm>
            <a:off x="6035040" y="5358384"/>
            <a:ext cx="3108960" cy="201168"/>
          </a:xfrm>
          <a:prstGeom prst="rect">
            <a:avLst/>
          </a:prstGeom>
          <a:noFill/>
          <a:ln/>
        </p:spPr>
        <p:txBody>
          <a:bodyPr wrap="square" lIns="0" tIns="0" rIns="0" bIns="0" rtlCol="0" anchor="ctr">
            <a:normAutofit/>
          </a:body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[Name]</a:t>
            </a:r>
            <a:endParaRPr lang="en-US" sz="1050" dirty="0"/>
          </a:p>
        </p:txBody>
      </p:sp>
      <p:sp>
        <p:nvSpPr>
          <p:cNvPr id="9" name="Text 7"/>
          <p:cNvSpPr/>
          <p:nvPr>
            <p:ph idx="118" type="body" hasCustomPrompt="1"/>
          </p:nvPr>
        </p:nvSpPr>
        <p:spPr>
          <a:xfrm>
            <a:off x="6035040" y="5568696"/>
            <a:ext cx="3108960" cy="329184"/>
          </a:xfrm>
          <a:prstGeom prst="rect">
            <a:avLst/>
          </a:prstGeom>
          <a:noFill/>
          <a:ln/>
        </p:spPr>
        <p:txBody>
          <a:bodyPr wrap="square" lIns="0" tIns="0" rIns="0" bIns="0" rtlCol="0" anchor="t">
            <a:normAutofit/>
          </a:bodyPr>
          <a:lstStyle/>
          <a:p>
            <a:pPr algn="l" indent="0" marL="0">
              <a:lnSpc>
                <a:spcPts val="1200"/>
              </a:lnSpc>
              <a:buNone/>
            </a:pPr>
            <a:r>
              <a:rPr lang="en-US" sz="950" dirty="0">
                <a:solidFill>
                  <a:srgbClr val="4A5868"/>
                </a:solidFill>
                <a:latin typeface="Source Sans 3" pitchFamily="34" charset="0"/>
                <a:ea typeface="Source Sans 3" pitchFamily="34" charset="-122"/>
                <a:cs typeface="Source Sans 3" pitchFamily="34" charset="-120"/>
              </a:rPr>
              <a:t>[Title], Lab Director, Advanced Telerobotics Research Lab</a:t>
            </a:r>
            <a:endParaRPr lang="en-US" sz="950" dirty="0"/>
          </a:p>
        </p:txBody>
      </p:sp>
      <p:sp>
        <p:nvSpPr>
          <p:cNvPr id="10" name="Text 7"/>
          <p:cNvSpPr/>
          <p:nvPr>
            <p:ph idx="119" type="body" hasCustomPrompt="1"/>
          </p:nvPr>
        </p:nvSpPr>
        <p:spPr>
          <a:xfrm>
            <a:off x="3474720" y="6355080"/>
            <a:ext cx="3108960" cy="182880"/>
          </a:xfrm>
          <a:prstGeom prst="rect">
            <a:avLst/>
          </a:prstGeom>
          <a:noFill/>
          <a:ln/>
        </p:spPr>
        <p:txBody>
          <a:bodyPr wrap="square" lIns="0" tIns="0" rIns="0" bIns="0" rtlCol="0" anchor="ctr"/>
          <a:lstStyle/>
          <a:p>
            <a:pPr algn="ctr" indent="0" marL="0">
              <a:buNone/>
            </a:pPr>
            <a:r>
              <a:rPr lang="en-US" sz="900" dirty="0">
                <a:solidFill>
                  <a:srgbClr val="4A5868"/>
                </a:solidFill>
                <a:latin typeface="Source Code Pro" pitchFamily="34" charset="0"/>
                <a:ea typeface="Source Code Pro" pitchFamily="34" charset="-122"/>
                <a:cs typeface="Source Code Pro" pitchFamily="34" charset="-120"/>
              </a:rPr>
              <a:t>CERTIFICATE NO. // [YYYY-NNN]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p:nvPr>
            <p:ph idx="111" type="title" hasCustomPrompt="1"/>
          </p:nvPr>
        </p:nvSpPr>
        <p:spPr>
          <a:xfrm>
            <a:off x="1371600" y="2240280"/>
            <a:ext cx="7315200" cy="621792"/>
          </a:xfrm>
          <a:prstGeom prst="rect">
            <a:avLst/>
          </a:prstGeom>
          <a:noFill/>
          <a:ln/>
        </p:spPr>
        <p:txBody>
          <a:bodyPr wrap="square" lIns="0" tIns="0" rIns="0" bIns="0" rtlCol="0" anchor="ctr">
            <a:normAutofit/>
          </a:bodyPr>
          <a:lstStyle/>
          <a:p>
            <a:pPr algn="ctr" indent="0" marL="0">
              <a:buNone/>
            </a:pPr>
            <a:r>
              <a:rPr lang="en-US" sz="4000" dirty="0">
                <a:solidFill>
                  <a:srgbClr val="003976"/>
                </a:solidFill>
                <a:latin typeface="Source Sans 3 Black" pitchFamily="34" charset="0"/>
                <a:ea typeface="Source Sans 3 Black" pitchFamily="34" charset="-122"/>
                <a:cs typeface="Source Sans 3 Black" pitchFamily="34" charset="-120"/>
              </a:rPr>
              <a:t>Certificate of Participation</a:t>
            </a:r>
            <a:endParaRPr lang="en-US" sz="4000" dirty="0"/>
          </a:p>
        </p:txBody>
      </p:sp>
      <p:sp>
        <p:nvSpPr>
          <p:cNvPr id="3" name="Text 7"/>
          <p:cNvSpPr/>
          <p:nvPr>
            <p:ph idx="112" type="body" hasCustomPrompt="1"/>
          </p:nvPr>
        </p:nvSpPr>
        <p:spPr>
          <a:xfrm>
            <a:off x="914400" y="3200400"/>
            <a:ext cx="8229600" cy="868680"/>
          </a:xfrm>
          <a:prstGeom prst="rect">
            <a:avLst/>
          </a:prstGeom>
          <a:noFill/>
          <a:ln/>
        </p:spPr>
        <p:txBody>
          <a:bodyPr wrap="square" lIns="0" tIns="0" rIns="0" bIns="0" rtlCol="0" anchor="ctr">
            <a:normAutofit/>
          </a:bodyPr>
          <a:lstStyle/>
          <a:p>
            <a:pPr algn="ctr" indent="0" marL="0">
              <a:lnSpc>
                <a:spcPts val="4800"/>
              </a:lnSpc>
              <a:buNone/>
            </a:pPr>
            <a:r>
              <a:rPr lang="en-US" sz="4400" dirty="0">
                <a:solidFill>
                  <a:srgbClr val="1B2533"/>
                </a:solidFill>
                <a:latin typeface="Roboto Slab" pitchFamily="34" charset="0"/>
                <a:ea typeface="Roboto Slab" pitchFamily="34" charset="-122"/>
                <a:cs typeface="Roboto Slab" pitchFamily="34" charset="-120"/>
              </a:rPr>
              <a:t>[Recipient Name]</a:t>
            </a:r>
            <a:endParaRPr lang="en-US" sz="4400" dirty="0"/>
          </a:p>
        </p:txBody>
      </p:sp>
      <p:sp>
        <p:nvSpPr>
          <p:cNvPr id="4" name="Text 7"/>
          <p:cNvSpPr/>
          <p:nvPr>
            <p:ph idx="113" type="body" hasCustomPrompt="1"/>
          </p:nvPr>
        </p:nvSpPr>
        <p:spPr>
          <a:xfrm>
            <a:off x="1280160" y="4206240"/>
            <a:ext cx="7498080" cy="731520"/>
          </a:xfrm>
          <a:prstGeom prst="rect">
            <a:avLst/>
          </a:prstGeom>
          <a:noFill/>
          <a:ln/>
        </p:spPr>
        <p:txBody>
          <a:bodyPr wrap="square" lIns="0" tIns="0" rIns="0" bIns="0" rtlCol="0" anchor="t">
            <a:normAutofit/>
          </a:bodyPr>
          <a:lstStyle/>
          <a:p>
            <a:pPr algn="ctr" indent="0" marL="0">
              <a:lnSpc>
                <a:spcPts val="1900"/>
              </a:lnSpc>
              <a:buNone/>
            </a:pPr>
            <a:r>
              <a:rPr lang="en-US" sz="1400" dirty="0">
                <a:solidFill>
                  <a:srgbClr val="1B2533"/>
                </a:solidFill>
                <a:latin typeface="Source Sans 3" pitchFamily="34" charset="0"/>
                <a:ea typeface="Source Sans 3" pitchFamily="34" charset="-122"/>
                <a:cs typeface="Source Sans 3" pitchFamily="34" charset="-120"/>
              </a:rPr>
              <a:t>for participating in the [Program Name], a [two-week] summer program in robotics and Physical AI at the Advanced Telerobotics Research Lab, Kent State University, Kent, Ohio, [June 15-26, 2027].</a:t>
            </a:r>
            <a:endParaRPr lang="en-US" sz="1400" dirty="0"/>
          </a:p>
        </p:txBody>
      </p:sp>
      <p:sp>
        <p:nvSpPr>
          <p:cNvPr id="5" name="Text 7"/>
          <p:cNvSpPr/>
          <p:nvPr>
            <p:ph idx="114" type="body" hasCustomPrompt="1"/>
          </p:nvPr>
        </p:nvSpPr>
        <p:spPr>
          <a:xfrm>
            <a:off x="914400" y="5358384"/>
            <a:ext cx="3108960" cy="201168"/>
          </a:xfrm>
          <a:prstGeom prst="rect">
            <a:avLst/>
          </a:prstGeom>
          <a:noFill/>
          <a:ln/>
        </p:spPr>
        <p:txBody>
          <a:bodyPr wrap="square" lIns="0" tIns="0" rIns="0" bIns="0" rtlCol="0" anchor="ctr">
            <a:normAutofit/>
          </a:body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[Name]</a:t>
            </a:r>
            <a:endParaRPr lang="en-US" sz="1050" dirty="0"/>
          </a:p>
        </p:txBody>
      </p:sp>
      <p:sp>
        <p:nvSpPr>
          <p:cNvPr id="6" name="Text 7"/>
          <p:cNvSpPr/>
          <p:nvPr>
            <p:ph idx="115" type="body" hasCustomPrompt="1"/>
          </p:nvPr>
        </p:nvSpPr>
        <p:spPr>
          <a:xfrm>
            <a:off x="914400" y="5568696"/>
            <a:ext cx="3108960" cy="329184"/>
          </a:xfrm>
          <a:prstGeom prst="rect">
            <a:avLst/>
          </a:prstGeom>
          <a:noFill/>
          <a:ln/>
        </p:spPr>
        <p:txBody>
          <a:bodyPr wrap="square" lIns="0" tIns="0" rIns="0" bIns="0" rtlCol="0" anchor="t">
            <a:normAutofit/>
          </a:bodyPr>
          <a:lstStyle/>
          <a:p>
            <a:pPr algn="l" indent="0" marL="0">
              <a:lnSpc>
                <a:spcPts val="1200"/>
              </a:lnSpc>
              <a:buNone/>
            </a:pPr>
            <a:r>
              <a:rPr lang="en-US" sz="950" dirty="0">
                <a:solidFill>
                  <a:srgbClr val="4A5868"/>
                </a:solidFill>
                <a:latin typeface="Source Sans 3" pitchFamily="34" charset="0"/>
                <a:ea typeface="Source Sans 3" pitchFamily="34" charset="-122"/>
                <a:cs typeface="Source Sans 3" pitchFamily="34" charset="-120"/>
              </a:rPr>
              <a:t>[Title], Program Director</a:t>
            </a:r>
            <a:endParaRPr lang="en-US" sz="950" dirty="0"/>
          </a:p>
        </p:txBody>
      </p:sp>
      <p:sp>
        <p:nvSpPr>
          <p:cNvPr id="7" name="Text 7"/>
          <p:cNvSpPr/>
          <p:nvPr>
            <p:ph idx="116" type="body" hasCustomPrompt="1"/>
          </p:nvPr>
        </p:nvSpPr>
        <p:spPr>
          <a:xfrm>
            <a:off x="4343400" y="5358384"/>
            <a:ext cx="1371600" cy="201168"/>
          </a:xfrm>
          <a:prstGeom prst="rect">
            <a:avLst/>
          </a:prstGeom>
          <a:noFill/>
          <a:ln/>
        </p:spPr>
        <p:txBody>
          <a:bodyPr wrap="square" lIns="0" tIns="0" rIns="0" bIns="0" rtlCol="0" anchor="ctr">
            <a:normAutofit/>
          </a:body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[Month DD, YYYY]</a:t>
            </a:r>
            <a:endParaRPr lang="en-US" sz="1050" dirty="0"/>
          </a:p>
        </p:txBody>
      </p:sp>
      <p:sp>
        <p:nvSpPr>
          <p:cNvPr id="8" name="Text 7"/>
          <p:cNvSpPr/>
          <p:nvPr>
            <p:ph idx="117" type="body" hasCustomPrompt="1"/>
          </p:nvPr>
        </p:nvSpPr>
        <p:spPr>
          <a:xfrm>
            <a:off x="6035040" y="5358384"/>
            <a:ext cx="3108960" cy="201168"/>
          </a:xfrm>
          <a:prstGeom prst="rect">
            <a:avLst/>
          </a:prstGeom>
          <a:noFill/>
          <a:ln/>
        </p:spPr>
        <p:txBody>
          <a:bodyPr wrap="square" lIns="0" tIns="0" rIns="0" bIns="0" rtlCol="0" anchor="ctr">
            <a:normAutofit/>
          </a:bodyPr>
          <a:lstStyle/>
          <a:p>
            <a:pPr algn="l" indent="0" marL="0">
              <a:buNone/>
            </a:pPr>
            <a:r>
              <a:rPr lang="en-US" sz="1050" b="1" dirty="0">
                <a:solidFill>
                  <a:srgbClr val="1B2533"/>
                </a:solidFill>
                <a:latin typeface="Source Sans 3" pitchFamily="34" charset="0"/>
                <a:ea typeface="Source Sans 3" pitchFamily="34" charset="-122"/>
                <a:cs typeface="Source Sans 3" pitchFamily="34" charset="-120"/>
              </a:rPr>
              <a:t>[Name]</a:t>
            </a:r>
            <a:endParaRPr lang="en-US" sz="1050" dirty="0"/>
          </a:p>
        </p:txBody>
      </p:sp>
      <p:sp>
        <p:nvSpPr>
          <p:cNvPr id="9" name="Text 7"/>
          <p:cNvSpPr/>
          <p:nvPr>
            <p:ph idx="118" type="body" hasCustomPrompt="1"/>
          </p:nvPr>
        </p:nvSpPr>
        <p:spPr>
          <a:xfrm>
            <a:off x="6035040" y="5568696"/>
            <a:ext cx="3108960" cy="329184"/>
          </a:xfrm>
          <a:prstGeom prst="rect">
            <a:avLst/>
          </a:prstGeom>
          <a:noFill/>
          <a:ln/>
        </p:spPr>
        <p:txBody>
          <a:bodyPr wrap="square" lIns="0" tIns="0" rIns="0" bIns="0" rtlCol="0" anchor="t">
            <a:normAutofit/>
          </a:bodyPr>
          <a:lstStyle/>
          <a:p>
            <a:pPr algn="l" indent="0" marL="0">
              <a:lnSpc>
                <a:spcPts val="1200"/>
              </a:lnSpc>
              <a:buNone/>
            </a:pPr>
            <a:r>
              <a:rPr lang="en-US" sz="950" dirty="0">
                <a:solidFill>
                  <a:srgbClr val="4A5868"/>
                </a:solidFill>
                <a:latin typeface="Source Sans 3" pitchFamily="34" charset="0"/>
                <a:ea typeface="Source Sans 3" pitchFamily="34" charset="-122"/>
                <a:cs typeface="Source Sans 3" pitchFamily="34" charset="-120"/>
              </a:rPr>
              <a:t>[Title], Lab Director, Advanced Telerobotics Research Lab</a:t>
            </a:r>
            <a:endParaRPr lang="en-US" sz="950" dirty="0"/>
          </a:p>
        </p:txBody>
      </p:sp>
      <p:sp>
        <p:nvSpPr>
          <p:cNvPr id="10" name="Text 7"/>
          <p:cNvSpPr/>
          <p:nvPr>
            <p:ph idx="119" type="body" hasCustomPrompt="1"/>
          </p:nvPr>
        </p:nvSpPr>
        <p:spPr>
          <a:xfrm>
            <a:off x="3474720" y="6355080"/>
            <a:ext cx="3108960" cy="182880"/>
          </a:xfrm>
          <a:prstGeom prst="rect">
            <a:avLst/>
          </a:prstGeom>
          <a:noFill/>
          <a:ln/>
        </p:spPr>
        <p:txBody>
          <a:bodyPr wrap="square" lIns="0" tIns="0" rIns="0" bIns="0" rtlCol="0" anchor="ctr"/>
          <a:lstStyle/>
          <a:p>
            <a:pPr algn="ctr" indent="0" marL="0">
              <a:buNone/>
            </a:pPr>
            <a:r>
              <a:rPr lang="en-US" sz="900" dirty="0">
                <a:solidFill>
                  <a:srgbClr val="4A5868"/>
                </a:solidFill>
                <a:latin typeface="Source Code Pro" pitchFamily="34" charset="0"/>
                <a:ea typeface="Source Code Pro" pitchFamily="34" charset="-122"/>
                <a:cs typeface="Source Code Pro" pitchFamily="34" charset="-120"/>
              </a:rPr>
              <a:t>CERTIFICATE NO. // [YYYY-NNN]</a:t>
            </a:r>
            <a:endParaRPr lang="en-US" sz="9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certificate template (Letter landscape)</dc:title>
  <dc:subject>Certificates of completion and participation, Advanced Telerobotics Research Lab, Kent State University</dc:subject>
  <dc:creator>Advanced Telerobotics Research Lab, Kent State University</dc:creator>
  <cp:lastModifiedBy>Advanced Telerobotics Research Lab, Kent State University</cp:lastModifiedBy>
  <cp:revision>1</cp:revision>
  <dcterms:created xsi:type="dcterms:W3CDTF">2026-09-29T05:19:20Z</dcterms:created>
  <dcterms:modified xsi:type="dcterms:W3CDTF">2026-09-29T05:19:20Z</dcterms:modified>
</cp:coreProperties>
</file>