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3657600" cy="2743200"/>
  <p:notesSz cx="2743200" cy="3657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BADGE, 4 x 3 in (Avery 5392-compatible insert, 6 per Letter sheet; use 3 x 4 in holders for vertical badges). One badge per slide: New Slide &gt; Badge: Presenter / Staff / Student / Guest gives the strip, the role word and four text boxes (first name, full name or program, affiliation, event line). Duplicate per person or drive it from a mail merge in Word using the same positions.
Role strips: PRESENTER and STAFF on navy (white text), STUDENT on gold (navy text), GUEST on mist (navy text). The role word is always printed, so the color is never the only signal.
Character budgets (Source Sans 3; Arial is 8-9% wider): first name up to 11 characters at 40 pt; full name or program name up to 32 characters at 13 pt bold; affiliation up to 40 characters at 10.5 pt; event line up to 34 characters. In PowerPoint longer values shrink automatically (Shrink text on overflow) rather than wrapping onto the strip or into the logos. Keynote, Google Slides and LibreOffice ignore that setting, so there you must keep every value inside the budget (a long first name otherwise runs into the logos).
First name in Source Sans 3 Black 40 pt reads at about 2 m. Affiliation: "[Title]  ·  ATR Lab, Kent State" (short form; the full lab name is on the lockup). The name block ends 0.03 in above the role strip; the affiliation line is vertically centred in its box, so descenders and brackets never touch the strip.
Logos: the Kent State wordmark is at its 1.05 in minimum width (so UNIVERSITY is 1 in) with K-height (0.31 in) clear space from the band, the trim and the name block; the ATR horizontal-short lockup is 1.97 in wide (minimum 1.25). The hazard strip on the top edge is the lab-tape motif; nothing sits on it. Safe zone: every glyph is at least 0.25 in inside the trim; the strip text is centred 0.25 in above the bottom trim, where badge-holder lips clip.
Printing: print at 100% (no "scale to fit"), 6 badges per Letter sheet on Avery 5392 stock, or export PNG at 300 dpi into Avery Design and Print. Printed lanyards are merchandise: they need UCM approval and an Affinity-licensed vendor.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Editorial style: "Advanced Telerobotics Research Lab" on first reference, then "the lab"; "Kent State University" first, then "Kent State". No Oxford comma, "and" not "&amp;", dates like "Sept. 23", times like "9 a.m.-noon". Never invent facts: keep the [bracketed] placeholders until you have real values.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variant (navy strip). Same boxes as PRESENTER. Character budgets (Source Sans 3; Arial is 8-9% wider): first name up to 11 characters at 40 pt; full name or program name up to 32 characters at 13 pt bold; affiliation up to 40 characters at 10.5 pt; event line up to 34 characters. In PowerPoint longer values shrink automatically (Shrink text on overflow) rather than wrapping onto the strip or into the logos. Keynote, Google Slides and LibreOffice ignore that setting, so there you must keep every value inside the budget (a long first name otherwise runs into the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variant (gold strip, navy text). K-12 participants: FIRST NAME ONLY, no last name and no school (minors' privacy). The second line names the program instead of the full name; keep it to 30 characters (e.g. "Middle School Summer Workshop"), longer names shrink. Character budgets (Source Sans 3; Arial is 8-9% wider): first name up to 11 characters at 40 pt; full name or program name up to 32 characters at 13 pt bold; affiliation up to 40 characters at 10.5 pt; event line up to 34 characters. In PowerPoint longer values shrink automatically (Shrink text on overflow) rather than wrapping onto the strip or into the logos. Keynote, Google Slides and LibreOffice ignore that setting, so there you must keep every value inside the budget (a long first name otherwise runs into the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NO-PHOTO variant. For participants without a signed photo release: a distinct lanyard color PLUS the printed words "NO PHOTOS, PLEASE" in the event box on the strip, so the signal does not rely on color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GUEST variant (mist strip, navy text) for visitors, sponsors and families. Character budgets (Source Sans 3; Arial is 8-9% wider): first name up to 11 characters at 40 pt; full name or program name up to 32 characters at 13 pt bold; affiliation up to 40 characters at 10.5 pt; event line up to 34 characters. In PowerPoint longer values shrink automatically (Shrink text on overflow) rather than wrapping onto the strip or into the logos. Keynote, Google Slides and LibreOffice ignore that setting, so there you must keep every value inside the budget (a long first name otherwise runs into the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image-1004-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image-1005-3.png"/><Relationship Id="rId4"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dge: Presenter">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3657600" cy="121920"/>
          </a:xfrm>
          <a:prstGeom prst="rect">
            <a:avLst/>
          </a:prstGeom>
        </p:spPr>
      </p:pic>
      <p:pic>
        <p:nvPicPr>
          <p:cNvPr id="3" name="Image 1" descr="Kent State University wordmark">    </p:cNvPr>
          <p:cNvPicPr>
            <a:picLocks noChangeAspect="1"/>
          </p:cNvPicPr>
          <p:nvPr/>
        </p:nvPicPr>
        <p:blipFill>
          <a:blip r:embed="rId2"/>
          <a:stretch>
            <a:fillRect/>
          </a:stretch>
        </p:blipFill>
        <p:spPr>
          <a:xfrm>
            <a:off x="2414016" y="402336"/>
            <a:ext cx="960120" cy="916905"/>
          </a:xfrm>
          <a:prstGeom prst="rect">
            <a:avLst/>
          </a:prstGeom>
        </p:spPr>
      </p:pic>
      <p:pic>
        <p:nvPicPr>
          <p:cNvPr id="4" name="Image 2" descr="Advanced Telerobotics Research logo">    </p:cNvPr>
          <p:cNvPicPr>
            <a:picLocks noChangeAspect="1"/>
          </p:cNvPicPr>
          <p:nvPr/>
        </p:nvPicPr>
        <p:blipFill>
          <a:blip r:embed="rId3"/>
          <a:stretch>
            <a:fillRect/>
          </a:stretch>
        </p:blipFill>
        <p:spPr>
          <a:xfrm>
            <a:off x="228600" y="517889"/>
            <a:ext cx="1804737" cy="685800"/>
          </a:xfrm>
          <a:prstGeom prst="rect">
            <a:avLst/>
          </a:prstGeom>
        </p:spPr>
      </p:pic>
      <p:sp>
        <p:nvSpPr>
          <p:cNvPr id="5" name="Shape 0"/>
          <p:cNvSpPr/>
          <p:nvPr/>
        </p:nvSpPr>
        <p:spPr>
          <a:xfrm>
            <a:off x="0" y="2414016"/>
            <a:ext cx="3657600" cy="329184"/>
          </a:xfrm>
          <a:prstGeom prst="rect">
            <a:avLst/>
          </a:prstGeom>
          <a:solidFill>
            <a:srgbClr val="003976"/>
          </a:solidFill>
          <a:ln w="12700">
            <a:solidFill>
              <a:srgbClr val="003976"/>
            </a:solidFill>
            <a:prstDash val="solid"/>
          </a:ln>
        </p:spPr>
      </p:sp>
      <p:sp>
        <p:nvSpPr>
          <p:cNvPr id="6" name="Text 1"/>
          <p:cNvSpPr txBox="1"/>
          <p:nvPr/>
        </p:nvSpPr>
        <p:spPr>
          <a:xfrm>
            <a:off x="228600" y="2404872"/>
            <a:ext cx="1188720" cy="219456"/>
          </a:xfrm>
          <a:prstGeom prst="rect">
            <a:avLst/>
          </a:prstGeom>
          <a:noFill/>
          <a:ln/>
        </p:spPr>
        <p:txBody>
          <a:bodyPr wrap="square" lIns="0" tIns="0" rIns="0" bIns="0" rtlCol="0" anchor="ctr"/>
          <a:lstStyle/>
          <a:p>
            <a:pPr algn="l" indent="0" marL="0">
              <a:buNone/>
            </a:pPr>
            <a:r>
              <a:rPr lang="en-US" sz="1100" b="1" spc="198" kern="0" dirty="0">
                <a:solidFill>
                  <a:srgbClr val="FFFFFF"/>
                </a:solidFill>
                <a:latin typeface="Source Sans 3" pitchFamily="34" charset="0"/>
                <a:ea typeface="Source Sans 3" pitchFamily="34" charset="-122"/>
                <a:cs typeface="Source Sans 3" pitchFamily="34" charset="-120"/>
              </a:rPr>
              <a:t>PRESENTER</a:t>
            </a:r>
            <a:endParaRPr lang="en-US" sz="1100" dirty="0"/>
          </a:p>
        </p:txBody>
      </p:sp>
      <p:sp>
        <p:nvSpPr>
          <p:cNvPr id="7"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lvl1pPr algn="l" indent="0" marL="0">
              <a:lnSpc>
                <a:spcPts val="3500"/>
              </a:lnSpc>
              <a:buNone/>
              <a:defRPr lang="en-US" sz="4000" dirty="0">
                <a:solidFill>
                  <a:srgbClr val="1B2533"/>
                </a:solidFill>
                <a:latin typeface="Source Sans 3 Black" pitchFamily="34" charset="0"/>
                <a:ea typeface="Source Sans 3 Black" pitchFamily="34" charset="-122"/>
                <a:cs typeface="Source Sans 3 Black" pitchFamily="34" charset="-120"/>
              </a:defRPr>
            </a:lvl1p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8"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lvl1pPr algn="l" indent="0" marL="0">
              <a:lnSpc>
                <a:spcPts val="14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[First Last]</a:t>
            </a:r>
            <a:endParaRPr lang="en-US" sz="1300" dirty="0"/>
          </a:p>
        </p:txBody>
      </p:sp>
      <p:sp>
        <p:nvSpPr>
          <p:cNvPr id="9"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lvl1pPr algn="l" indent="0" marL="0">
              <a:lnSpc>
                <a:spcPts val="1200"/>
              </a:lnSpc>
              <a:buNone/>
              <a:defRPr lang="en-US" sz="1050" dirty="0">
                <a:solidFill>
                  <a:srgbClr val="4A5868"/>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[Title]  ·  ATR Lab, Kent State</a:t>
            </a:r>
            <a:endParaRPr lang="en-US" sz="1050" dirty="0"/>
          </a:p>
        </p:txBody>
      </p:sp>
      <p:sp>
        <p:nvSpPr>
          <p:cNvPr id="10"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lvl1pPr algn="r" indent="0" marL="0">
              <a:buNone/>
              <a:defRPr lang="en-US" sz="850" dirty="0">
                <a:solidFill>
                  <a:srgbClr val="FFFFFF"/>
                </a:solidFill>
                <a:latin typeface="Source Sans 3" pitchFamily="34" charset="0"/>
                <a:ea typeface="Source Sans 3" pitchFamily="34" charset="-122"/>
                <a:cs typeface="Source Sans 3" pitchFamily="34" charset="-120"/>
              </a:defRPr>
            </a:lvl1pPr>
          </a:lstStyle>
          <a:p>
            <a:pPr algn="r" indent="0" marL="0">
              <a:buNone/>
            </a:pPr>
            <a:r>
              <a:rPr lang="en-US" sz="850" dirty="0">
                <a:solidFill>
                  <a:srgbClr val="FFFFFF"/>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dge: Staff">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3657600" cy="121920"/>
          </a:xfrm>
          <a:prstGeom prst="rect">
            <a:avLst/>
          </a:prstGeom>
        </p:spPr>
      </p:pic>
      <p:pic>
        <p:nvPicPr>
          <p:cNvPr id="3" name="Image 1" descr="Kent State University wordmark">    </p:cNvPr>
          <p:cNvPicPr>
            <a:picLocks noChangeAspect="1"/>
          </p:cNvPicPr>
          <p:nvPr/>
        </p:nvPicPr>
        <p:blipFill>
          <a:blip r:embed="rId2"/>
          <a:stretch>
            <a:fillRect/>
          </a:stretch>
        </p:blipFill>
        <p:spPr>
          <a:xfrm>
            <a:off x="2414016" y="402336"/>
            <a:ext cx="960120" cy="916905"/>
          </a:xfrm>
          <a:prstGeom prst="rect">
            <a:avLst/>
          </a:prstGeom>
        </p:spPr>
      </p:pic>
      <p:pic>
        <p:nvPicPr>
          <p:cNvPr id="4" name="Image 2" descr="Advanced Telerobotics Research logo">    </p:cNvPr>
          <p:cNvPicPr>
            <a:picLocks noChangeAspect="1"/>
          </p:cNvPicPr>
          <p:nvPr/>
        </p:nvPicPr>
        <p:blipFill>
          <a:blip r:embed="rId3"/>
          <a:stretch>
            <a:fillRect/>
          </a:stretch>
        </p:blipFill>
        <p:spPr>
          <a:xfrm>
            <a:off x="228600" y="517889"/>
            <a:ext cx="1804737" cy="685800"/>
          </a:xfrm>
          <a:prstGeom prst="rect">
            <a:avLst/>
          </a:prstGeom>
        </p:spPr>
      </p:pic>
      <p:sp>
        <p:nvSpPr>
          <p:cNvPr id="5" name="Shape 0"/>
          <p:cNvSpPr/>
          <p:nvPr/>
        </p:nvSpPr>
        <p:spPr>
          <a:xfrm>
            <a:off x="0" y="2414016"/>
            <a:ext cx="3657600" cy="329184"/>
          </a:xfrm>
          <a:prstGeom prst="rect">
            <a:avLst/>
          </a:prstGeom>
          <a:solidFill>
            <a:srgbClr val="003976"/>
          </a:solidFill>
          <a:ln w="12700">
            <a:solidFill>
              <a:srgbClr val="003976"/>
            </a:solidFill>
            <a:prstDash val="solid"/>
          </a:ln>
        </p:spPr>
      </p:sp>
      <p:sp>
        <p:nvSpPr>
          <p:cNvPr id="6" name="Text 1"/>
          <p:cNvSpPr txBox="1"/>
          <p:nvPr/>
        </p:nvSpPr>
        <p:spPr>
          <a:xfrm>
            <a:off x="228600" y="2404872"/>
            <a:ext cx="1188720" cy="219456"/>
          </a:xfrm>
          <a:prstGeom prst="rect">
            <a:avLst/>
          </a:prstGeom>
          <a:noFill/>
          <a:ln/>
        </p:spPr>
        <p:txBody>
          <a:bodyPr wrap="square" lIns="0" tIns="0" rIns="0" bIns="0" rtlCol="0" anchor="ctr"/>
          <a:lstStyle/>
          <a:p>
            <a:pPr algn="l" indent="0" marL="0">
              <a:buNone/>
            </a:pPr>
            <a:r>
              <a:rPr lang="en-US" sz="1100" b="1" spc="198" kern="0" dirty="0">
                <a:solidFill>
                  <a:srgbClr val="FFFFFF"/>
                </a:solidFill>
                <a:latin typeface="Source Sans 3" pitchFamily="34" charset="0"/>
                <a:ea typeface="Source Sans 3" pitchFamily="34" charset="-122"/>
                <a:cs typeface="Source Sans 3" pitchFamily="34" charset="-120"/>
              </a:rPr>
              <a:t>STAFF</a:t>
            </a:r>
            <a:endParaRPr lang="en-US" sz="1100" dirty="0"/>
          </a:p>
        </p:txBody>
      </p:sp>
      <p:sp>
        <p:nvSpPr>
          <p:cNvPr id="7"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lvl1pPr algn="l" indent="0" marL="0">
              <a:lnSpc>
                <a:spcPts val="3500"/>
              </a:lnSpc>
              <a:buNone/>
              <a:defRPr lang="en-US" sz="4000" dirty="0">
                <a:solidFill>
                  <a:srgbClr val="1B2533"/>
                </a:solidFill>
                <a:latin typeface="Source Sans 3 Black" pitchFamily="34" charset="0"/>
                <a:ea typeface="Source Sans 3 Black" pitchFamily="34" charset="-122"/>
                <a:cs typeface="Source Sans 3 Black" pitchFamily="34" charset="-120"/>
              </a:defRPr>
            </a:lvl1p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8"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lvl1pPr algn="l" indent="0" marL="0">
              <a:lnSpc>
                <a:spcPts val="14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[First Last]</a:t>
            </a:r>
            <a:endParaRPr lang="en-US" sz="1300" dirty="0"/>
          </a:p>
        </p:txBody>
      </p:sp>
      <p:sp>
        <p:nvSpPr>
          <p:cNvPr id="9"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lvl1pPr algn="l" indent="0" marL="0">
              <a:lnSpc>
                <a:spcPts val="1200"/>
              </a:lnSpc>
              <a:buNone/>
              <a:defRPr lang="en-US" sz="1050" dirty="0">
                <a:solidFill>
                  <a:srgbClr val="4A5868"/>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[Title]  ·  ATR Lab, Kent State</a:t>
            </a:r>
            <a:endParaRPr lang="en-US" sz="1050" dirty="0"/>
          </a:p>
        </p:txBody>
      </p:sp>
      <p:sp>
        <p:nvSpPr>
          <p:cNvPr id="10"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lvl1pPr algn="r" indent="0" marL="0">
              <a:buNone/>
              <a:defRPr lang="en-US" sz="850" dirty="0">
                <a:solidFill>
                  <a:srgbClr val="FFFFFF"/>
                </a:solidFill>
                <a:latin typeface="Source Sans 3" pitchFamily="34" charset="0"/>
                <a:ea typeface="Source Sans 3" pitchFamily="34" charset="-122"/>
                <a:cs typeface="Source Sans 3" pitchFamily="34" charset="-120"/>
              </a:defRPr>
            </a:lvl1pPr>
          </a:lstStyle>
          <a:p>
            <a:pPr algn="r" indent="0" marL="0">
              <a:buNone/>
            </a:pPr>
            <a:r>
              <a:rPr lang="en-US" sz="850" dirty="0">
                <a:solidFill>
                  <a:srgbClr val="FFFFFF"/>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dge: Student">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3657600" cy="121920"/>
          </a:xfrm>
          <a:prstGeom prst="rect">
            <a:avLst/>
          </a:prstGeom>
        </p:spPr>
      </p:pic>
      <p:pic>
        <p:nvPicPr>
          <p:cNvPr id="3" name="Image 1" descr="Kent State University wordmark">    </p:cNvPr>
          <p:cNvPicPr>
            <a:picLocks noChangeAspect="1"/>
          </p:cNvPicPr>
          <p:nvPr/>
        </p:nvPicPr>
        <p:blipFill>
          <a:blip r:embed="rId2"/>
          <a:stretch>
            <a:fillRect/>
          </a:stretch>
        </p:blipFill>
        <p:spPr>
          <a:xfrm>
            <a:off x="2414016" y="402336"/>
            <a:ext cx="960120" cy="916905"/>
          </a:xfrm>
          <a:prstGeom prst="rect">
            <a:avLst/>
          </a:prstGeom>
        </p:spPr>
      </p:pic>
      <p:pic>
        <p:nvPicPr>
          <p:cNvPr id="4" name="Image 2" descr="Advanced Telerobotics Research logo">    </p:cNvPr>
          <p:cNvPicPr>
            <a:picLocks noChangeAspect="1"/>
          </p:cNvPicPr>
          <p:nvPr/>
        </p:nvPicPr>
        <p:blipFill>
          <a:blip r:embed="rId3"/>
          <a:stretch>
            <a:fillRect/>
          </a:stretch>
        </p:blipFill>
        <p:spPr>
          <a:xfrm>
            <a:off x="228600" y="517889"/>
            <a:ext cx="1804737" cy="685800"/>
          </a:xfrm>
          <a:prstGeom prst="rect">
            <a:avLst/>
          </a:prstGeom>
        </p:spPr>
      </p:pic>
      <p:sp>
        <p:nvSpPr>
          <p:cNvPr id="5" name="Shape 0"/>
          <p:cNvSpPr/>
          <p:nvPr/>
        </p:nvSpPr>
        <p:spPr>
          <a:xfrm>
            <a:off x="0" y="2414016"/>
            <a:ext cx="3657600" cy="329184"/>
          </a:xfrm>
          <a:prstGeom prst="rect">
            <a:avLst/>
          </a:prstGeom>
          <a:solidFill>
            <a:srgbClr val="EFAB00"/>
          </a:solidFill>
          <a:ln w="12700">
            <a:solidFill>
              <a:srgbClr val="EFAB00"/>
            </a:solidFill>
            <a:prstDash val="solid"/>
          </a:ln>
        </p:spPr>
      </p:sp>
      <p:sp>
        <p:nvSpPr>
          <p:cNvPr id="6" name="Text 1"/>
          <p:cNvSpPr txBox="1"/>
          <p:nvPr/>
        </p:nvSpPr>
        <p:spPr>
          <a:xfrm>
            <a:off x="228600" y="2404872"/>
            <a:ext cx="1188720" cy="219456"/>
          </a:xfrm>
          <a:prstGeom prst="rect">
            <a:avLst/>
          </a:prstGeom>
          <a:noFill/>
          <a:ln/>
        </p:spPr>
        <p:txBody>
          <a:bodyPr wrap="square" lIns="0" tIns="0" rIns="0" bIns="0" rtlCol="0" anchor="ctr"/>
          <a:lstStyle/>
          <a:p>
            <a:pPr algn="l" indent="0" marL="0">
              <a:buNone/>
            </a:pPr>
            <a:r>
              <a:rPr lang="en-US" sz="1100" b="1" spc="198" kern="0" dirty="0">
                <a:solidFill>
                  <a:srgbClr val="003976"/>
                </a:solidFill>
                <a:latin typeface="Source Sans 3" pitchFamily="34" charset="0"/>
                <a:ea typeface="Source Sans 3" pitchFamily="34" charset="-122"/>
                <a:cs typeface="Source Sans 3" pitchFamily="34" charset="-120"/>
              </a:rPr>
              <a:t>STUDENT</a:t>
            </a:r>
            <a:endParaRPr lang="en-US" sz="1100" dirty="0"/>
          </a:p>
        </p:txBody>
      </p:sp>
      <p:sp>
        <p:nvSpPr>
          <p:cNvPr id="7"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lvl1pPr algn="l" indent="0" marL="0">
              <a:lnSpc>
                <a:spcPts val="3500"/>
              </a:lnSpc>
              <a:buNone/>
              <a:defRPr lang="en-US" sz="4000" dirty="0">
                <a:solidFill>
                  <a:srgbClr val="1B2533"/>
                </a:solidFill>
                <a:latin typeface="Source Sans 3 Black" pitchFamily="34" charset="0"/>
                <a:ea typeface="Source Sans 3 Black" pitchFamily="34" charset="-122"/>
                <a:cs typeface="Source Sans 3 Black" pitchFamily="34" charset="-120"/>
              </a:defRPr>
            </a:lvl1p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8"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lvl1pPr algn="l" indent="0" marL="0">
              <a:lnSpc>
                <a:spcPts val="14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[First Last]</a:t>
            </a:r>
            <a:endParaRPr lang="en-US" sz="1300" dirty="0"/>
          </a:p>
        </p:txBody>
      </p:sp>
      <p:sp>
        <p:nvSpPr>
          <p:cNvPr id="9"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lvl1pPr algn="l" indent="0" marL="0">
              <a:lnSpc>
                <a:spcPts val="1200"/>
              </a:lnSpc>
              <a:buNone/>
              <a:defRPr lang="en-US" sz="1050" dirty="0">
                <a:solidFill>
                  <a:srgbClr val="4A5868"/>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[Title]  ·  ATR Lab, Kent State</a:t>
            </a:r>
            <a:endParaRPr lang="en-US" sz="1050" dirty="0"/>
          </a:p>
        </p:txBody>
      </p:sp>
      <p:sp>
        <p:nvSpPr>
          <p:cNvPr id="10"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lvl1pPr algn="r" indent="0" marL="0">
              <a:buNone/>
              <a:defRPr lang="en-US" sz="850" dirty="0">
                <a:solidFill>
                  <a:srgbClr val="003976"/>
                </a:solidFill>
                <a:latin typeface="Source Sans 3" pitchFamily="34" charset="0"/>
                <a:ea typeface="Source Sans 3" pitchFamily="34" charset="-122"/>
                <a:cs typeface="Source Sans 3" pitchFamily="34" charset="-120"/>
              </a:defRPr>
            </a:lvl1pPr>
          </a:lstStyle>
          <a:p>
            <a:pPr algn="r" indent="0" marL="0">
              <a:buNone/>
            </a:pPr>
            <a:r>
              <a:rPr lang="en-US" sz="850" dirty="0">
                <a:solidFill>
                  <a:srgbClr val="003976"/>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dge: Guest">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3657600" cy="121920"/>
          </a:xfrm>
          <a:prstGeom prst="rect">
            <a:avLst/>
          </a:prstGeom>
        </p:spPr>
      </p:pic>
      <p:pic>
        <p:nvPicPr>
          <p:cNvPr id="3" name="Image 1" descr="Kent State University wordmark">    </p:cNvPr>
          <p:cNvPicPr>
            <a:picLocks noChangeAspect="1"/>
          </p:cNvPicPr>
          <p:nvPr/>
        </p:nvPicPr>
        <p:blipFill>
          <a:blip r:embed="rId2"/>
          <a:stretch>
            <a:fillRect/>
          </a:stretch>
        </p:blipFill>
        <p:spPr>
          <a:xfrm>
            <a:off x="2414016" y="402336"/>
            <a:ext cx="960120" cy="916905"/>
          </a:xfrm>
          <a:prstGeom prst="rect">
            <a:avLst/>
          </a:prstGeom>
        </p:spPr>
      </p:pic>
      <p:pic>
        <p:nvPicPr>
          <p:cNvPr id="4" name="Image 2" descr="Advanced Telerobotics Research logo">    </p:cNvPr>
          <p:cNvPicPr>
            <a:picLocks noChangeAspect="1"/>
          </p:cNvPicPr>
          <p:nvPr/>
        </p:nvPicPr>
        <p:blipFill>
          <a:blip r:embed="rId3"/>
          <a:stretch>
            <a:fillRect/>
          </a:stretch>
        </p:blipFill>
        <p:spPr>
          <a:xfrm>
            <a:off x="228600" y="517889"/>
            <a:ext cx="1804737" cy="685800"/>
          </a:xfrm>
          <a:prstGeom prst="rect">
            <a:avLst/>
          </a:prstGeom>
        </p:spPr>
      </p:pic>
      <p:sp>
        <p:nvSpPr>
          <p:cNvPr id="5" name="Shape 0"/>
          <p:cNvSpPr/>
          <p:nvPr/>
        </p:nvSpPr>
        <p:spPr>
          <a:xfrm>
            <a:off x="0" y="2414016"/>
            <a:ext cx="3657600" cy="329184"/>
          </a:xfrm>
          <a:prstGeom prst="rect">
            <a:avLst/>
          </a:prstGeom>
          <a:solidFill>
            <a:srgbClr val="F3F6FA"/>
          </a:solidFill>
          <a:ln w="12700">
            <a:solidFill>
              <a:srgbClr val="F3F6FA"/>
            </a:solidFill>
            <a:prstDash val="solid"/>
          </a:ln>
        </p:spPr>
      </p:sp>
      <p:sp>
        <p:nvSpPr>
          <p:cNvPr id="6" name="Text 1"/>
          <p:cNvSpPr txBox="1"/>
          <p:nvPr/>
        </p:nvSpPr>
        <p:spPr>
          <a:xfrm>
            <a:off x="228600" y="2404872"/>
            <a:ext cx="1188720" cy="219456"/>
          </a:xfrm>
          <a:prstGeom prst="rect">
            <a:avLst/>
          </a:prstGeom>
          <a:noFill/>
          <a:ln/>
        </p:spPr>
        <p:txBody>
          <a:bodyPr wrap="square" lIns="0" tIns="0" rIns="0" bIns="0" rtlCol="0" anchor="ctr"/>
          <a:lstStyle/>
          <a:p>
            <a:pPr algn="l" indent="0" marL="0">
              <a:buNone/>
            </a:pPr>
            <a:r>
              <a:rPr lang="en-US" sz="1100" b="1" spc="198" kern="0" dirty="0">
                <a:solidFill>
                  <a:srgbClr val="003976"/>
                </a:solidFill>
                <a:latin typeface="Source Sans 3" pitchFamily="34" charset="0"/>
                <a:ea typeface="Source Sans 3" pitchFamily="34" charset="-122"/>
                <a:cs typeface="Source Sans 3" pitchFamily="34" charset="-120"/>
              </a:rPr>
              <a:t>GUEST</a:t>
            </a:r>
            <a:endParaRPr lang="en-US" sz="1100" dirty="0"/>
          </a:p>
        </p:txBody>
      </p:sp>
      <p:sp>
        <p:nvSpPr>
          <p:cNvPr id="7"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lvl1pPr algn="l" indent="0" marL="0">
              <a:lnSpc>
                <a:spcPts val="3500"/>
              </a:lnSpc>
              <a:buNone/>
              <a:defRPr lang="en-US" sz="4000" dirty="0">
                <a:solidFill>
                  <a:srgbClr val="1B2533"/>
                </a:solidFill>
                <a:latin typeface="Source Sans 3 Black" pitchFamily="34" charset="0"/>
                <a:ea typeface="Source Sans 3 Black" pitchFamily="34" charset="-122"/>
                <a:cs typeface="Source Sans 3 Black" pitchFamily="34" charset="-120"/>
              </a:defRPr>
            </a:lvl1p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8"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lvl1pPr algn="l" indent="0" marL="0">
              <a:lnSpc>
                <a:spcPts val="14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[First Last]</a:t>
            </a:r>
            <a:endParaRPr lang="en-US" sz="1300" dirty="0"/>
          </a:p>
        </p:txBody>
      </p:sp>
      <p:sp>
        <p:nvSpPr>
          <p:cNvPr id="9"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lvl1pPr algn="l" indent="0" marL="0">
              <a:lnSpc>
                <a:spcPts val="1200"/>
              </a:lnSpc>
              <a:buNone/>
              <a:defRPr lang="en-US" sz="1050" dirty="0">
                <a:solidFill>
                  <a:srgbClr val="4A5868"/>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[Title]  ·  ATR Lab, Kent State</a:t>
            </a:r>
            <a:endParaRPr lang="en-US" sz="1050" dirty="0"/>
          </a:p>
        </p:txBody>
      </p:sp>
      <p:sp>
        <p:nvSpPr>
          <p:cNvPr id="10"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lvl1pPr algn="r" indent="0" marL="0">
              <a:buNone/>
              <a:defRPr lang="en-US" sz="850" dirty="0">
                <a:solidFill>
                  <a:srgbClr val="003976"/>
                </a:solidFill>
                <a:latin typeface="Source Sans 3" pitchFamily="34" charset="0"/>
                <a:ea typeface="Source Sans 3" pitchFamily="34" charset="-122"/>
                <a:cs typeface="Source Sans 3" pitchFamily="34" charset="-120"/>
              </a:defRPr>
            </a:lvl1pPr>
          </a:lstStyle>
          <a:p>
            <a:pPr algn="r" indent="0" marL="0">
              <a:buNone/>
            </a:pPr>
            <a:r>
              <a:rPr lang="en-US" sz="850" dirty="0">
                <a:solidFill>
                  <a:srgbClr val="003976"/>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3"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[First Last]</a:t>
            </a:r>
            <a:endParaRPr lang="en-US" sz="1300" dirty="0"/>
          </a:p>
        </p:txBody>
      </p:sp>
      <p:sp>
        <p:nvSpPr>
          <p:cNvPr id="4"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[Title]  ·  ATR Lab, Kent State</a:t>
            </a:r>
            <a:endParaRPr lang="en-US" sz="1050" dirty="0"/>
          </a:p>
        </p:txBody>
      </p:sp>
      <p:sp>
        <p:nvSpPr>
          <p:cNvPr id="5"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p>
            <a:pPr algn="r" indent="0" marL="0">
              <a:buNone/>
            </a:pPr>
            <a:r>
              <a:rPr lang="en-US" sz="850" dirty="0">
                <a:solidFill>
                  <a:srgbClr val="FFFFFF"/>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3"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[First Last]</a:t>
            </a:r>
            <a:endParaRPr lang="en-US" sz="1300" dirty="0"/>
          </a:p>
        </p:txBody>
      </p:sp>
      <p:sp>
        <p:nvSpPr>
          <p:cNvPr id="4"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[Role]  ·  ATR Lab, Kent State</a:t>
            </a:r>
            <a:endParaRPr lang="en-US" sz="1050" dirty="0"/>
          </a:p>
        </p:txBody>
      </p:sp>
      <p:sp>
        <p:nvSpPr>
          <p:cNvPr id="5"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p>
            <a:pPr algn="r" indent="0" marL="0">
              <a:buNone/>
            </a:pPr>
            <a:r>
              <a:rPr lang="en-US" sz="850" dirty="0">
                <a:solidFill>
                  <a:srgbClr val="FFFFFF"/>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3"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[Program name]</a:t>
            </a:r>
            <a:endParaRPr lang="en-US" sz="1300" dirty="0"/>
          </a:p>
        </p:txBody>
      </p:sp>
      <p:sp>
        <p:nvSpPr>
          <p:cNvPr id="4"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Participant</a:t>
            </a:r>
            <a:endParaRPr lang="en-US" sz="1050" dirty="0"/>
          </a:p>
        </p:txBody>
      </p:sp>
      <p:sp>
        <p:nvSpPr>
          <p:cNvPr id="5"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p>
            <a:pPr algn="r" indent="0" marL="0">
              <a:buNone/>
            </a:pPr>
            <a:r>
              <a:rPr lang="en-US" sz="850" dirty="0">
                <a:solidFill>
                  <a:srgbClr val="003976"/>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3"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[Program name]</a:t>
            </a:r>
            <a:endParaRPr lang="en-US" sz="1300" dirty="0"/>
          </a:p>
        </p:txBody>
      </p:sp>
      <p:sp>
        <p:nvSpPr>
          <p:cNvPr id="4"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Participant</a:t>
            </a:r>
            <a:endParaRPr lang="en-US" sz="1050" dirty="0"/>
          </a:p>
        </p:txBody>
      </p:sp>
      <p:sp>
        <p:nvSpPr>
          <p:cNvPr id="5"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p>
            <a:pPr algn="r" indent="0" marL="0">
              <a:buNone/>
            </a:pPr>
            <a:r>
              <a:rPr lang="en-US" sz="850" b="1" dirty="0">
                <a:solidFill>
                  <a:srgbClr val="003976"/>
                </a:solidFill>
                <a:latin typeface="Source Sans 3" pitchFamily="34" charset="0"/>
                <a:ea typeface="Source Sans 3" pitchFamily="34" charset="-122"/>
                <a:cs typeface="Source Sans 3" pitchFamily="34" charset="-120"/>
              </a:rPr>
              <a:t>NO PHOTOS, PLEASE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5" type="body" hasCustomPrompt="1"/>
          </p:nvPr>
        </p:nvSpPr>
        <p:spPr>
          <a:xfrm>
            <a:off x="228600" y="1600200"/>
            <a:ext cx="3200400" cy="448056"/>
          </a:xfrm>
          <a:prstGeom prst="rect">
            <a:avLst/>
          </a:prstGeom>
          <a:noFill/>
          <a:ln/>
        </p:spPr>
        <p:txBody>
          <a:bodyPr wrap="square" lIns="0" tIns="0" rIns="0" bIns="0" rtlCol="0" anchor="b">
            <a:normAutofit/>
          </a:bodyPr>
          <a:lstStyle/>
          <a:p>
            <a:pPr algn="l" indent="0" marL="0">
              <a:lnSpc>
                <a:spcPts val="3500"/>
              </a:lnSpc>
              <a:buNone/>
            </a:pPr>
            <a:r>
              <a:rPr lang="en-US" sz="4000" dirty="0">
                <a:solidFill>
                  <a:srgbClr val="1B2533"/>
                </a:solidFill>
                <a:latin typeface="Source Sans 3 Black" pitchFamily="34" charset="0"/>
                <a:ea typeface="Source Sans 3 Black" pitchFamily="34" charset="-122"/>
                <a:cs typeface="Source Sans 3 Black" pitchFamily="34" charset="-120"/>
              </a:rPr>
              <a:t>[First]</a:t>
            </a:r>
            <a:endParaRPr lang="en-US" sz="4000" dirty="0"/>
          </a:p>
        </p:txBody>
      </p:sp>
      <p:sp>
        <p:nvSpPr>
          <p:cNvPr id="3" name="Text 2"/>
          <p:cNvSpPr/>
          <p:nvPr>
            <p:ph idx="106" type="body" hasCustomPrompt="1"/>
          </p:nvPr>
        </p:nvSpPr>
        <p:spPr>
          <a:xfrm>
            <a:off x="228600" y="2048256"/>
            <a:ext cx="3200400" cy="182880"/>
          </a:xfrm>
          <a:prstGeom prst="rect">
            <a:avLst/>
          </a:prstGeom>
          <a:noFill/>
          <a:ln/>
        </p:spPr>
        <p:txBody>
          <a:bodyPr wrap="square" lIns="0" tIns="0" rIns="0" bIns="0" rtlCol="0" anchor="ctr">
            <a:normAutofit/>
          </a:bodyPr>
          <a:lstStyle/>
          <a:p>
            <a:pPr algn="l" indent="0" marL="0">
              <a:lnSpc>
                <a:spcPts val="1400"/>
              </a:lnSpc>
              <a:buNone/>
            </a:pPr>
            <a:r>
              <a:rPr lang="en-US" sz="1300" b="1" dirty="0">
                <a:solidFill>
                  <a:srgbClr val="003976"/>
                </a:solidFill>
                <a:latin typeface="Source Sans 3" pitchFamily="34" charset="0"/>
                <a:ea typeface="Source Sans 3" pitchFamily="34" charset="-122"/>
                <a:cs typeface="Source Sans 3" pitchFamily="34" charset="-120"/>
              </a:rPr>
              <a:t>[First Last]</a:t>
            </a:r>
            <a:endParaRPr lang="en-US" sz="1300" dirty="0"/>
          </a:p>
        </p:txBody>
      </p:sp>
      <p:sp>
        <p:nvSpPr>
          <p:cNvPr id="4" name="Text 2"/>
          <p:cNvSpPr/>
          <p:nvPr>
            <p:ph idx="107" type="body" hasCustomPrompt="1"/>
          </p:nvPr>
        </p:nvSpPr>
        <p:spPr>
          <a:xfrm>
            <a:off x="228600" y="2231136"/>
            <a:ext cx="3200400" cy="155448"/>
          </a:xfrm>
          <a:prstGeom prst="rect">
            <a:avLst/>
          </a:prstGeom>
          <a:noFill/>
          <a:ln/>
        </p:spPr>
        <p:txBody>
          <a:bodyPr wrap="square" lIns="0" tIns="0" rIns="0" bIns="0" rtlCol="0" anchor="ctr">
            <a:normAutofit/>
          </a:bodyPr>
          <a:lstStyle/>
          <a:p>
            <a:pPr algn="l" indent="0" marL="0">
              <a:lnSpc>
                <a:spcPts val="1200"/>
              </a:lnSpc>
              <a:buNone/>
            </a:pPr>
            <a:r>
              <a:rPr lang="en-US" sz="1050" dirty="0">
                <a:solidFill>
                  <a:srgbClr val="4A5868"/>
                </a:solidFill>
                <a:latin typeface="Source Sans 3" pitchFamily="34" charset="0"/>
                <a:ea typeface="Source Sans 3" pitchFamily="34" charset="-122"/>
                <a:cs typeface="Source Sans 3" pitchFamily="34" charset="-120"/>
              </a:rPr>
              <a:t>[Organization]</a:t>
            </a:r>
            <a:endParaRPr lang="en-US" sz="1050" dirty="0"/>
          </a:p>
        </p:txBody>
      </p:sp>
      <p:sp>
        <p:nvSpPr>
          <p:cNvPr id="5" name="Text 2"/>
          <p:cNvSpPr/>
          <p:nvPr>
            <p:ph idx="108" type="body" hasCustomPrompt="1"/>
          </p:nvPr>
        </p:nvSpPr>
        <p:spPr>
          <a:xfrm>
            <a:off x="1463040" y="2404872"/>
            <a:ext cx="1965960" cy="219456"/>
          </a:xfrm>
          <a:prstGeom prst="rect">
            <a:avLst/>
          </a:prstGeom>
          <a:noFill/>
          <a:ln/>
        </p:spPr>
        <p:txBody>
          <a:bodyPr wrap="square" lIns="0" tIns="0" rIns="0" bIns="0" rtlCol="0" anchor="ctr">
            <a:normAutofit/>
          </a:bodyPr>
          <a:lstStyle/>
          <a:p>
            <a:pPr algn="r" indent="0" marL="0">
              <a:buNone/>
            </a:pPr>
            <a:r>
              <a:rPr lang="en-US" sz="850" dirty="0">
                <a:solidFill>
                  <a:srgbClr val="003976"/>
                </a:solidFill>
                <a:latin typeface="Source Sans 3" pitchFamily="34" charset="0"/>
                <a:ea typeface="Source Sans 3" pitchFamily="34" charset="-122"/>
                <a:cs typeface="Source Sans 3" pitchFamily="34" charset="-120"/>
              </a:rPr>
              <a:t>[EVENT NAME]  ·  [SEPT. 23]</a:t>
            </a:r>
            <a:endParaRPr lang="en-US" sz="85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event name badge template (4 x 3 in)</dc:title>
  <dc:subject>Event name badges, Advanced Telerobotics Research Lab, Kent State University</dc:subject>
  <dc:creator>Advanced Telerobotics Research Lab, Kent State University</dc:creator>
  <cp:lastModifiedBy>Advanced Telerobotics Research Lab, Kent State University</cp:lastModifiedBy>
  <cp:revision>1</cp:revision>
  <dcterms:created xsi:type="dcterms:W3CDTF">2026-09-29T05:19:38Z</dcterms:created>
  <dcterms:modified xsi:type="dcterms:W3CDTF">2026-09-29T05:19:38Z</dcterms:modified>
</cp:coreProperties>
</file>