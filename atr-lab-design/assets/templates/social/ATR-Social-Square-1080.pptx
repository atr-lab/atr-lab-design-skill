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0287000" cy="10287000"/>
  <p:notesSz cx="10287000" cy="10287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Announcement (navy tile). LinkedIn and Facebook square posts, X image posts. Export PNG at 1080 x 1080 px. NOT for the Instagram feed: use the Portrait file there.
SAFE ZONE: No platform UI overlaps a square post on LinkedIn, Facebook or X; keep everything inside the 72 px margins. On the Instagram profile grid a square is cropped to the centre 810 px (x 135 to 945): the first letters of the headline, the ATR mark and the Kent State wordmark would fall outside, so post Instagram tiles from the Portrait file.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eyebrow (keep "ATR LAB ·" and change the label; about 28 characters at most), the headline (three to eight words, up to 3 lines at 72 pt; longer text shrinks to fit, so cut words rather than accept small type), the support line (3 lines) and the link line. Twelve words or fewer on the whole tile.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1080 PX (this slide is 11.25 x 11.25 in; at PowerPoint's default 96 px/in that is exactly 1080 x 1080).
PowerPoint for Mac: File &gt; Export &gt; File Format: PNG &gt; set Width 1080 and Height 1080 &gt; Export; choose "Save Every Slide" for a folder of PNGs or "Save Current Slide Only".
PowerPoint for Windows: File &gt; Save As (or Save a Copy) &gt; file type PNG &gt; "Just This One" or "All Slides". Windows exports at 96 px/in, which gives 1080 x 1080; check the pixel size in the file's Details tab.
Google Slides: File &gt; Download &gt; PNG image (.png, current slide). Google Slides exports at its own fixed scale, not at the slide's pixel size, so check the downloaded file's size and resize it to exactly 1080 x 1080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Event (gold tile). LinkedIn and Facebook square posts, X image posts. Export PNG at 1080 x 1080 px. NOT for the Instagram feed: use the Portrait file there.
SAFE ZONE: No platform UI overlaps a square post on LinkedIn, Facebook or X; keep everything inside the 72 px margins. On the Instagram profile grid a square is cropped to the centre 810 px (x 135 to 945): the first letters of the headline, the ATR mark and the Kent State wordmark would fall outside, so post Instagram tiles from the Portrait file.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event name (up to 2 lines at 72 pt; longer text shrinks to fit, so cut words rather than accept small type; a one-line name leaves one line of air above the date row, which is by design), the date-and-time row, the place row and the call to action. Dates follow AP style ("Sept. 23", "6-8 p.m.", "9 a.m.-noon"). GOLD TILE RULE: navy or ink text only; never white text on gold (2.0:1). There is no approved Kent State wordmark for gold fields, so the text credit next to the mark names the university.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1080 PX (this slide is 11.25 x 11.25 in; at PowerPoint's default 96 px/in that is exactly 1080 x 1080).
PowerPoint for Mac: File &gt; Export &gt; File Format: PNG &gt; set Width 1080 and Height 1080 &gt; Export; choose "Save Every Slide" for a folder of PNGs or "Save Current Slide Only".
PowerPoint for Windows: File &gt; Save As (or Save a Copy) &gt; file type PNG &gt; "Just This One" or "All Slides". Windows exports at 96 px/in, which gives 1080 x 1080; check the pixel size in the file's Details tab.
Google Slides: File &gt; Download &gt; PNG image (.png, current slide). Google Slides exports at its own fixed scale, not at the slide's pixel size, so check the downloaded file's size and resize it to exactly 1080 x 1080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Paper accepted (navy tile). LinkedIn and Facebook square posts, X image posts. Export PNG at 1080 x 1080 px. NOT for the Instagram feed: use the Portrait file there.
SAFE ZONE: No platform UI overlaps a square post on LinkedIn, Facebook or X; keep everything inside the 72 px margins. On the Instagram profile grid a square is cropped to the centre 810 px (x 135 to 945): the first letters of the headline, the ATR mark and the Kent State wordmark would fall outside, so post Instagram tiles from the Portrait file.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venue in the eyebrow, the paper title (no quotation marks; keep the paper's hedges; up to 4 lines at 48 pt; longer text shrinks to fit, so cut words rather than accept small type), the author line (name students only with their written permission; no Oxford comma), the venue line and the read-it line. POST ONLY after acceptance is public and any anonymity period or embargo is over. Put the DOI or the publication page link in the caption or first comment; no link shorteners.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1080 PX (this slide is 11.25 x 11.25 in; at PowerPoint's default 96 px/in that is exactly 1080 x 1080).
PowerPoint for Mac: File &gt; Export &gt; File Format: PNG &gt; set Width 1080 and Height 1080 &gt; Export; choose "Save Every Slide" for a folder of PNGs or "Save Current Slide Only".
PowerPoint for Windows: File &gt; Save As (or Save a Copy) &gt; file type PNG &gt; "Just This One" or "All Slides". Windows exports at 96 px/in, which gives 1080 x 1080; check the pixel size in the file's Details tab.
Google Slides: File &gt; Download &gt; PNG image (.png, current slide). Google Slides exports at its own fixed scale, not at the slide's pixel size, so check the downloaded file's size and resize it to exactly 1080 x 1080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Recruiting (gold tile). LinkedIn and Facebook square posts, X image posts. Export PNG at 1080 x 1080 px. NOT for the Instagram feed: use the Portrait file there.
SAFE ZONE: No platform UI overlaps a square post on LinkedIn, Facebook or X; keep everything inside the 72 px margins. On the Instagram profile grid a square is cropped to the centre 810 px (x 135 to 945): the first letters of the headline, the ATR mark and the Kent State wordmark would fall outside, so post Instagram tiles from the Portrait file.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headline, the bullet points (3 lines in all: who, what, how) and the apply line. NEVER promise funding, assistantships, admission, co-authorship or jobs; paid student jobs go on Handshake and the post points there. Describe the work and the requirements, not eligibility by demographic. Minors: no DMs; questions go to a program kent.edu address. Bullets are the small triangle (U+25B8); keep them.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1080 PX (this slide is 11.25 x 11.25 in; at PowerPoint's default 96 px/in that is exactly 1080 x 1080).
PowerPoint for Mac: File &gt; Export &gt; File Format: PNG &gt; set Width 1080 and Height 1080 &gt; Export; choose "Save Every Slide" for a folder of PNGs or "Save Current Slide Only".
PowerPoint for Windows: File &gt; Save As (or Save a Copy) &gt; file type PNG &gt; "Just This One" or "All Slides". Windows exports at 96 px/in, which gives 1080 x 1080; check the pixel size in the file's Details tab.
Google Slides: File &gt; Download &gt; PNG image (.png, current slide). Google Slides exports at its own fixed scale, not at the slide's pixel size, so check the downloaded file's size and resize it to exactly 1080 x 1080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Milestone (navy tile). LinkedIn and Facebook square posts, X image posts. Export PNG at 1080 x 1080 px. NOT for the Instagram feed: use the Portrait file there.
SAFE ZONE: No platform UI overlaps a square post on LinkedIn, Facebook or X; keep everything inside the 72 px margins. On the Instagram profile grid a square is cropped to the centre 810 px (x 135 to 945): the first letters of the headline, the ATR mark and the Kent State wordmark would fall outside, so post Instagram tiles from the Portrait file.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number (Roboto Slab; a percentage, a count, an anniversary; up to 5 characters at full size; a longer number shrinks to fit), the label that says what it is, and the source line. The showcase number is bracketed because it is a placeholder: "10 years" is true only from spring 2027 (the lab opened in spring 2017); replace it with a number that is true on the day you post. One number per tile. Numbers come from real records (sign-in sheets, registrations, the conferring body's announcement); the linked page holds the detail. Use the conferring body's exact wording for awards: finalist stays finalist. Never print a RoboCup placement (none is published).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1080 PX (this slide is 11.25 x 11.25 in; at PowerPoint's default 96 px/in that is exactly 1080 x 1080).
PowerPoint for Mac: File &gt; Export &gt; File Format: PNG &gt; set Width 1080 and Height 1080 &gt; Export; choose "Save Every Slide" for a folder of PNGs or "Save Current Slide Only".
PowerPoint for Windows: File &gt; Save As (or Save a Copy) &gt; file type PNG &gt; "Just This One" or "All Slides". Windows exports at 96 px/in, which gives 1080 x 1080; check the pixel size in the file's Details tab.
Google Slides: File &gt; Download &gt; PNG image (.png, current slide). Google Slides exports at its own fixed scale, not at the slide's pixel size, so check the downloaded file's size and resize it to exactly 1080 x 1080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Spotlight quote (navy tile). LinkedIn and Facebook square posts, X image posts. Export PNG at 1080 x 1080 px. NOT for the Instagram feed: use the Portrait file there.
SAFE ZONE: No platform UI overlaps a square post on LinkedIn, Facebook or X; keep everything inside the 72 px margins. On the Instagram profile grid a square is cropped to the centre 810 px (x 135 to 945): the first letters of the headline, the ATR mark and the Kent State wordmark would fall outside, so post Instagram tiles from the Portrait file.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eyebrow label (student, alumni or staff spotlight), the photo (right-click &gt; Change Picture; a real photo, never an AI image of a person), the name and role, and the quote. Consent: name a student only with their written permission and quote only words they approved; minors: first names at most. Kent State photo guidance: candid, natural light, not smiling at the camera. The quote is Roboto Slab; the gold plate with the navy quote mark is one picture on the layout and stays.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1080 PX (this slide is 11.25 x 11.25 in; at PowerPoint's default 96 px/in that is exactly 1080 x 1080).
PowerPoint for Mac: File &gt; Export &gt; File Format: PNG &gt; set Width 1080 and Height 1080 &gt; Export; choose "Save Every Slide" for a folder of PNGs or "Save Current Slide Only".
PowerPoint for Windows: File &gt; Save As (or Save a Copy) &gt; file type PNG &gt; "Just This One" or "All Slides". Windows exports at 96 px/in, which gives 1080 x 1080; check the pixel size in the file's Details tab.
Google Slides: File &gt; Download &gt; PNG image (.png, current slide). Google Slides exports at its own fixed scale, not at the slide's pixel size, so check the downloaded file's size and resize it to exactly 1080 x 1080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Demo video cover (navy tile). LinkedIn and Facebook square posts, X image posts. Export PNG at 1080 x 1080 px. NOT for the Instagram feed: use the Portrait file there.
SAFE ZONE: No platform UI overlaps a square post on LinkedIn, Facebook or X; keep everything inside the 72 px margins. On the Instagram profile grid a square is cropped to the centre 810 px (x 135 to 945): the first letters of the headline, the ATR mark and the Kent State wordmark would fall outside, so post Instagram tiles from the Portrait file.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frame (right-click &gt; Change Picture; a real frame from the video, never an AI render of a robot), the title (a task or a question, not an internal tag), the honesty labels (playback speed such as REAL TIME or 2X SPEED; TELEOPERATED, AUTONOMOUS or SCRIPTED; add SIMULATION when it is one) and the watch line. The labels are part of the lab's robot-content honesty rule; keep them on the cover and in the post. PLAY BADGE: the gold plate with the play triangle is one picture placed above the frame as a slide object (layout art always sits under slide content), so make new covers by duplicating this slide (right-click the thumbnail &gt; Duplicate Slide) rather than New Slide, or copy the badge picture. Cover images inherit the alt text you type in the platform: say what happens on screen.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1080 PX (this slide is 11.25 x 11.25 in; at PowerPoint's default 96 px/in that is exactly 1080 x 1080).
PowerPoint for Mac: File &gt; Export &gt; File Format: PNG &gt; set Width 1080 and Height 1080 &gt; Export; choose "Save Every Slide" for a folder of PNGs or "Save Current Slide Only".
PowerPoint for Windows: File &gt; Save As (or Save a Copy) &gt; file type PNG &gt; "Just This One" or "All Slides". Windows exports at 96 px/in, which gives 1080 x 1080; check the pixel size in the file's Details tab.
Google Slides: File &gt; Download &gt; PNG image (.png, current slide). Google Slides exports at its own fixed scale, not at the slide's pixel size, so check the downloaded file's size and resize it to exactly 1080 x 1080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Thank you / Welcome (gold tile). LinkedIn and Facebook square posts, X image posts. Export PNG at 1080 x 1080 px. NOT for the Instagram feed: use the Portrait file there.
SAFE ZONE: No platform UI overlaps a square post on LinkedIn, Facebook or X; keep everything inside the 72 px margins. On the Instagram profile grid a square is cropped to the centre 810 px (x 135 to 945): the first letters of the headline, the ATR mark and the Kent State wordmark would fall outside, so post Instagram tiles from the Portrait file.
EDIT ONLY THE PLACEHOLDERS. The hazard band, the constellation art and the logos live on the slide layout (View &gt; Slide Master) so they cannot drift; to start a new tile use Home &gt; New Slide and pick this layout by name. Empty placeholders do not export, so leave a line blank if you do not need it. The block of placeholders is centred between the top margin and the signature row; a short entry leaves air inside its own box, which is by design.
IF TEXT DOES NOT FIT: every placeholder is set to shrink text on overflow, so over-long copy gets smaller instead of running into the next line. Treat shrinking as a warning: below about 36 px (27 pt) the tile stops being readable on a phone, so cut words until the text sits at full size. Line spacing is exact, so a shrunk block keeps its pitch.
WHAT TO EDIT: the eyebrow label, the display word ("Thank you" or "Welcome"; it is the one place the Source Sans 3 Black family is used, so if your machine lacks it PowerPoint shows bold Source Sans 3 or Arial), the support line and the next line. Name partners and sponsors only with their written approval; no one is tagged without consent. GOLD TILE RULE: navy or ink text only.
ALT TEXT (mandatory when you post; type it in the platform's alt-text field, not only in the caption): [who or what] + [doing what] + [where] + [the detail that makes the point], one or two sentences, and include every word that appears on the tile. Do not start with "Image of". Example: "ATR Lab announcement graphic reading '[headline]'. [What the photo shows], in the Advanced Telerobotics Research Lab at Kent State University." Inside this file, meaningful pictures already carry alt text (Alt Text pane); the band and the constellation art are marked decorative, so the Accessibility Checker passes them.
CONTRAST AND TYPE: navy tiles use white and gold text; gold tiles use navy and ink text; never white on gold, never gold text on white. Nothing on a tile is smaller than 36 px (27 pt) because a 1080 px post shows at about a third of its size on a phone. Twelve words or fewer per tile; a real photo beats a graphic whenever a consented photo exists.
FONTS: install Source Sans 3, Roboto Slab and Source Code Pro from assets/fonts before editing; without them PowerPoint substitutes Arial, Georgia and Courier New (about 9% wider; the boxes carry slack). Handles, exactly: X @atrlab_kent, Instagram @atr_lab, GitHub ATR-Lab, YouTube "Advanced Telerobotics Research Laboratory". Never print @atr_kent.
KENT STATE WORDMARK: the file in assets/logos/ksu is a working copy of the old Stacked raster (colors corrected); replace with the official UCM file (kent.edu/brand/logos) before public use, keeping the height (its clear space is the height of the K). At signature size the wordmark is recognised by KENT STATE; its small UNIVERSITY line is not expected to be legible at feed size.
EXPORT PNG AT 1080 x 1080 PX (this slide is 11.25 x 11.25 in; at PowerPoint's default 96 px/in that is exactly 1080 x 1080).
PowerPoint for Mac: File &gt; Export &gt; File Format: PNG &gt; set Width 1080 and Height 1080 &gt; Export; choose "Save Every Slide" for a folder of PNGs or "Save Current Slide Only".
PowerPoint for Windows: File &gt; Save As (or Save a Copy) &gt; file type PNG &gt; "Just This One" or "All Slides". Windows exports at 96 px/in, which gives 1080 x 1080; check the pixel size in the file's Details tab.
Google Slides: File &gt; Download &gt; PNG image (.png, current slide). Google Slides exports at its own fixed scale, not at the slide's pixel size, so check the downloaded file's size and resize it to exactly 1080 x 1080 (Preview: Tools &gt; Adjust Size) when a platform wants the exact size; the proportions and safe zones are already right. On import Google Slides drops letter spacing (the eyebrow loses its tracking), may substitute the weight-named Source Sans 3 Black family (check the display word) and can change exact line spacing: check the eyebrow and the tallest block after import. It honours shrink-on-overflow (Format options &gt; Text fitting).
Keynote: File &gt; Export To &gt; Images &gt; PNG, then resize as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image" Target="../media/image-1003-4.png"/><Relationship Id="rId5" Type="http://schemas.openxmlformats.org/officeDocument/2006/relationships/image" Target="../media/image-1003-5.png"/><Relationship Id="rId6"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image" Target="../media/image-1007-5.png"/><Relationship Id="rId6"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Announcement">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960120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304770"/>
            <a:ext cx="1904970" cy="123828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7943850"/>
            <a:ext cx="1199876" cy="1238280"/>
          </a:xfrm>
          <a:prstGeom prst="rect">
            <a:avLst/>
          </a:prstGeom>
        </p:spPr>
      </p:pic>
      <p:pic>
        <p:nvPicPr>
          <p:cNvPr id="5" name="Image 3" descr="Kent State University wordmark">    </p:cNvPr>
          <p:cNvPicPr>
            <a:picLocks noChangeAspect="1"/>
          </p:cNvPicPr>
          <p:nvPr/>
        </p:nvPicPr>
        <p:blipFill>
          <a:blip r:embed="rId4"/>
          <a:stretch>
            <a:fillRect/>
          </a:stretch>
        </p:blipFill>
        <p:spPr>
          <a:xfrm>
            <a:off x="8304581" y="7943850"/>
            <a:ext cx="1296619" cy="1238280"/>
          </a:xfrm>
          <a:prstGeom prst="rect">
            <a:avLst/>
          </a:prstGeom>
        </p:spPr>
      </p:pic>
      <p:sp>
        <p:nvSpPr>
          <p:cNvPr id="6" name="Placeholder eyebrow"/>
          <p:cNvSpPr>
            <a:spLocks noGrp="1"/>
          </p:cNvSpPr>
          <p:nvPr>
            <p:ph idx="104" type="body" hasCustomPrompt="1"/>
          </p:nvPr>
        </p:nvSpPr>
        <p:spPr>
          <a:xfrm>
            <a:off x="685800" y="1181130"/>
            <a:ext cx="72390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ANNOUNCEMENT</a:t>
            </a:r>
            <a:endParaRPr lang="en-US" sz="2700" dirty="0"/>
          </a:p>
        </p:txBody>
      </p:sp>
      <p:sp>
        <p:nvSpPr>
          <p:cNvPr id="7" name="Placeholder headline"/>
          <p:cNvSpPr>
            <a:spLocks noGrp="1"/>
          </p:cNvSpPr>
          <p:nvPr>
            <p:ph idx="105" type="title" hasCustomPrompt="1"/>
          </p:nvPr>
        </p:nvSpPr>
        <p:spPr>
          <a:xfrm>
            <a:off x="685800" y="1790761"/>
            <a:ext cx="8915400" cy="3028950"/>
          </a:xfrm>
          <a:prstGeom prst="rect">
            <a:avLst/>
          </a:prstGeom>
          <a:noFill/>
          <a:ln/>
        </p:spPr>
        <p:txBody>
          <a:bodyPr wrap="square" rtlCol="0" lIns="0" tIns="0" rIns="0" bIns="0" anchor="t">
            <a:normAutofit/>
          </a:bodyPr>
          <a:lstStyle>
            <a:lvl1pPr algn="l" indent="0" marL="0">
              <a:lnSpc>
                <a:spcPts val="7800"/>
              </a:lnSpc>
              <a:buNone/>
              <a:defRPr sz="7200" b="1">
                <a:solidFill>
                  <a:srgbClr val="FFFFFF"/>
                </a:solidFill>
                <a:latin typeface="Source Sans 3" pitchFamily="34" charset="0"/>
                <a:ea typeface="Source Sans 3" pitchFamily="34" charset="-122"/>
                <a:cs typeface="Source Sans 3" pitchFamily="34" charset="-120"/>
              </a:defRPr>
            </a:lvl1pPr>
          </a:lstStyle>
          <a:p>
            <a:pPr algn="l" indent="0" marL="0">
              <a:lnSpc>
                <a:spcPts val="7800"/>
              </a:lnSpc>
              <a:buNone/>
            </a:pPr>
            <a:r>
              <a:rPr lang="en-US" sz="7200" b="1" dirty="0">
                <a:solidFill>
                  <a:srgbClr val="FFFFFF"/>
                </a:solidFill>
                <a:latin typeface="Source Sans 3" pitchFamily="34" charset="0"/>
                <a:ea typeface="Source Sans 3" pitchFamily="34" charset="-122"/>
                <a:cs typeface="Source Sans 3" pitchFamily="34" charset="-120"/>
              </a:rPr>
              <a:t>Headline: three to eight words, up to 3 lines at 72 pt; longer text shrinks to fit, so cut words rather than accept small type</a:t>
            </a:r>
            <a:endParaRPr lang="en-US" sz="7200" dirty="0"/>
          </a:p>
        </p:txBody>
      </p:sp>
      <p:sp>
        <p:nvSpPr>
          <p:cNvPr id="8" name="Placeholder support"/>
          <p:cNvSpPr>
            <a:spLocks noGrp="1"/>
          </p:cNvSpPr>
          <p:nvPr>
            <p:ph idx="106" type="body" hasCustomPrompt="1"/>
          </p:nvPr>
        </p:nvSpPr>
        <p:spPr>
          <a:xfrm>
            <a:off x="685800" y="5029200"/>
            <a:ext cx="8915400" cy="1485900"/>
          </a:xfrm>
          <a:prstGeom prst="rect">
            <a:avLst/>
          </a:prstGeom>
          <a:noFill/>
          <a:ln/>
        </p:spPr>
        <p:txBody>
          <a:bodyPr wrap="square" rtlCol="0" lIns="0" tIns="0" rIns="0" bIns="0" anchor="t">
            <a:normAutofit/>
          </a:bodyPr>
          <a:lstStyle>
            <a:lvl1pPr algn="l" indent="0" marL="0">
              <a:lnSpc>
                <a:spcPts val="3750"/>
              </a:lnSpc>
              <a:buNone/>
              <a:defRPr sz="3000">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Support line: one or two sentences, up to 3 lines</a:t>
            </a:r>
            <a:endParaRPr lang="en-US" sz="3000" dirty="0"/>
          </a:p>
        </p:txBody>
      </p:sp>
      <p:sp>
        <p:nvSpPr>
          <p:cNvPr id="9" name="Placeholder link"/>
          <p:cNvSpPr>
            <a:spLocks noGrp="1"/>
          </p:cNvSpPr>
          <p:nvPr>
            <p:ph idx="107" type="body" hasCustomPrompt="1"/>
          </p:nvPr>
        </p:nvSpPr>
        <p:spPr>
          <a:xfrm>
            <a:off x="685800" y="6648511"/>
            <a:ext cx="891540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Link or date, for example atr.cs.kent.edu</a:t>
            </a:r>
            <a:endParaRPr lang="en-US" sz="2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vent">
    <p:bg>
      <p:bgPr>
        <a:solidFill>
          <a:srgbClr val="EFAB00"/>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7886700"/>
            <a:ext cx="1904970" cy="209553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8362920"/>
            <a:ext cx="1199876" cy="1238280"/>
          </a:xfrm>
          <a:prstGeom prst="rect">
            <a:avLst/>
          </a:prstGeom>
        </p:spPr>
      </p:pic>
      <p:sp>
        <p:nvSpPr>
          <p:cNvPr id="5" name="Text 0"/>
          <p:cNvSpPr txBox="1"/>
          <p:nvPr/>
        </p:nvSpPr>
        <p:spPr>
          <a:xfrm>
            <a:off x="2304745" y="8362920"/>
            <a:ext cx="5715000" cy="1238280"/>
          </a:xfrm>
          <a:prstGeom prst="rect">
            <a:avLst/>
          </a:prstGeom>
          <a:noFill/>
          <a:ln/>
        </p:spPr>
        <p:txBody>
          <a:bodyPr wrap="square" lIns="0" tIns="0" rIns="0" bIns="0" rtlCol="0" anchor="ctr"/>
          <a:lstStyle/>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Advanced Telerobotics Research Lab</a:t>
            </a:r>
            <a:endParaRPr lang="en-US" sz="2700" dirty="0"/>
          </a:p>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Kent State University</a:t>
            </a:r>
            <a:endParaRPr lang="en-US" sz="2700" dirty="0"/>
          </a:p>
        </p:txBody>
      </p:sp>
      <p:sp>
        <p:nvSpPr>
          <p:cNvPr id="6" name="Placeholder eyebrow"/>
          <p:cNvSpPr>
            <a:spLocks noGrp="1"/>
          </p:cNvSpPr>
          <p:nvPr>
            <p:ph idx="104" type="body" hasCustomPrompt="1"/>
          </p:nvPr>
        </p:nvSpPr>
        <p:spPr>
          <a:xfrm>
            <a:off x="685800" y="1647840"/>
            <a:ext cx="89154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003976"/>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EVENT</a:t>
            </a:r>
            <a:endParaRPr lang="en-US" sz="2700" dirty="0"/>
          </a:p>
        </p:txBody>
      </p:sp>
      <p:sp>
        <p:nvSpPr>
          <p:cNvPr id="7" name="Placeholder headline"/>
          <p:cNvSpPr>
            <a:spLocks noGrp="1"/>
          </p:cNvSpPr>
          <p:nvPr>
            <p:ph idx="105" type="title" hasCustomPrompt="1"/>
          </p:nvPr>
        </p:nvSpPr>
        <p:spPr>
          <a:xfrm>
            <a:off x="685800" y="2295510"/>
            <a:ext cx="8915400" cy="2038380"/>
          </a:xfrm>
          <a:prstGeom prst="rect">
            <a:avLst/>
          </a:prstGeom>
          <a:noFill/>
          <a:ln/>
        </p:spPr>
        <p:txBody>
          <a:bodyPr wrap="square" rtlCol="0" lIns="0" tIns="0" rIns="0" bIns="0" anchor="t">
            <a:normAutofit/>
          </a:bodyPr>
          <a:lstStyle>
            <a:lvl1pPr algn="l" indent="0" marL="0">
              <a:lnSpc>
                <a:spcPts val="7800"/>
              </a:lnSpc>
              <a:buNone/>
              <a:defRPr sz="7200" b="1">
                <a:solidFill>
                  <a:srgbClr val="003976"/>
                </a:solidFill>
                <a:latin typeface="Source Sans 3" pitchFamily="34" charset="0"/>
                <a:ea typeface="Source Sans 3" pitchFamily="34" charset="-122"/>
                <a:cs typeface="Source Sans 3" pitchFamily="34" charset="-120"/>
              </a:defRPr>
            </a:lvl1pPr>
          </a:lstStyle>
          <a:p>
            <a:pPr algn="l" indent="0" marL="0">
              <a:lnSpc>
                <a:spcPts val="7800"/>
              </a:lnSpc>
              <a:buNone/>
            </a:pPr>
            <a:r>
              <a:rPr lang="en-US" sz="7200" b="1" dirty="0">
                <a:solidFill>
                  <a:srgbClr val="003976"/>
                </a:solidFill>
                <a:latin typeface="Source Sans 3" pitchFamily="34" charset="0"/>
                <a:ea typeface="Source Sans 3" pitchFamily="34" charset="-122"/>
                <a:cs typeface="Source Sans 3" pitchFamily="34" charset="-120"/>
              </a:rPr>
              <a:t>Event name, up to 2 lines at 72 pt; longer text shrinks to fit, so cut words rather than accept small type</a:t>
            </a:r>
            <a:endParaRPr lang="en-US" sz="7200" dirty="0"/>
          </a:p>
        </p:txBody>
      </p:sp>
      <p:pic>
        <p:nvPicPr>
          <p:cNvPr id="8" name="Image 3" descr="Date and time">    </p:cNvPr>
          <p:cNvPicPr>
            <a:picLocks noChangeAspect="1"/>
          </p:cNvPicPr>
          <p:nvPr/>
        </p:nvPicPr>
        <p:blipFill>
          <a:blip r:embed="rId4"/>
          <a:stretch>
            <a:fillRect/>
          </a:stretch>
        </p:blipFill>
        <p:spPr>
          <a:xfrm>
            <a:off x="685800" y="4552980"/>
            <a:ext cx="533370" cy="533370"/>
          </a:xfrm>
          <a:prstGeom prst="rect">
            <a:avLst/>
          </a:prstGeom>
        </p:spPr>
      </p:pic>
      <p:sp>
        <p:nvSpPr>
          <p:cNvPr id="9" name="Placeholder when"/>
          <p:cNvSpPr>
            <a:spLocks noGrp="1"/>
          </p:cNvSpPr>
          <p:nvPr>
            <p:ph idx="107" type="body" hasCustomPrompt="1"/>
          </p:nvPr>
        </p:nvSpPr>
        <p:spPr>
          <a:xfrm>
            <a:off x="1447770" y="4581510"/>
            <a:ext cx="6476970" cy="1009680"/>
          </a:xfrm>
          <a:prstGeom prst="rect">
            <a:avLst/>
          </a:prstGeom>
          <a:noFill/>
          <a:ln/>
        </p:spPr>
        <p:txBody>
          <a:bodyPr wrap="square" rtlCol="0" lIns="0" tIns="0" rIns="0" bIns="0" anchor="t">
            <a:normAutofit/>
          </a:bodyPr>
          <a:lstStyle>
            <a:lvl1pPr algn="l" indent="0" marL="0">
              <a:lnSpc>
                <a:spcPts val="3750"/>
              </a:lnSpc>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Date and time, e.g. [Thursday, Sept. 23]  ·  [6-8 p.m.]</a:t>
            </a:r>
            <a:endParaRPr lang="en-US" sz="3000" dirty="0"/>
          </a:p>
        </p:txBody>
      </p:sp>
      <p:pic>
        <p:nvPicPr>
          <p:cNvPr id="10" name="Image 4" descr="Place">    </p:cNvPr>
          <p:cNvPicPr>
            <a:picLocks noChangeAspect="1"/>
          </p:cNvPicPr>
          <p:nvPr/>
        </p:nvPicPr>
        <p:blipFill>
          <a:blip r:embed="rId5"/>
          <a:stretch>
            <a:fillRect/>
          </a:stretch>
        </p:blipFill>
        <p:spPr>
          <a:xfrm>
            <a:off x="685800" y="5695980"/>
            <a:ext cx="533370" cy="533370"/>
          </a:xfrm>
          <a:prstGeom prst="rect">
            <a:avLst/>
          </a:prstGeom>
        </p:spPr>
      </p:pic>
      <p:sp>
        <p:nvSpPr>
          <p:cNvPr id="11" name="Placeholder where"/>
          <p:cNvSpPr>
            <a:spLocks noGrp="1"/>
          </p:cNvSpPr>
          <p:nvPr>
            <p:ph idx="109" type="body" hasCustomPrompt="1"/>
          </p:nvPr>
        </p:nvSpPr>
        <p:spPr>
          <a:xfrm>
            <a:off x="1447770" y="5724510"/>
            <a:ext cx="6476970" cy="1009680"/>
          </a:xfrm>
          <a:prstGeom prst="rect">
            <a:avLst/>
          </a:prstGeom>
          <a:noFill/>
          <a:ln/>
        </p:spPr>
        <p:txBody>
          <a:bodyPr wrap="square" rtlCol="0" lIns="0" tIns="0" rIns="0" bIns="0" anchor="t">
            <a:normAutofit/>
          </a:bodyPr>
          <a:lstStyle>
            <a:lvl1pPr algn="l" indent="0" marL="0">
              <a:lnSpc>
                <a:spcPts val="3750"/>
              </a:lnSpc>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Place, e.g. [Room], Mathematical Sciences Building, Kent State University</a:t>
            </a:r>
            <a:endParaRPr lang="en-US" sz="3000" dirty="0"/>
          </a:p>
        </p:txBody>
      </p:sp>
      <p:sp>
        <p:nvSpPr>
          <p:cNvPr id="12" name="Placeholder cta"/>
          <p:cNvSpPr>
            <a:spLocks noGrp="1"/>
          </p:cNvSpPr>
          <p:nvPr>
            <p:ph idx="110" type="body" hasCustomPrompt="1"/>
          </p:nvPr>
        </p:nvSpPr>
        <p:spPr>
          <a:xfrm>
            <a:off x="685800" y="6943771"/>
            <a:ext cx="7239030" cy="476220"/>
          </a:xfrm>
          <a:prstGeom prst="rect">
            <a:avLst/>
          </a:prstGeom>
          <a:noFill/>
          <a:ln/>
        </p:spPr>
        <p:txBody>
          <a:bodyPr wrap="square" rtlCol="0" lIns="0" tIns="0" rIns="0" bIns="0" anchor="ctr">
            <a:normAutofit/>
          </a:bodyPr>
          <a:lstStyle>
            <a:lvl1pPr algn="l" indent="0" marL="0">
              <a:lnSpc>
                <a:spcPts val="3300"/>
              </a:lnSpc>
              <a:buNone/>
              <a:defRPr sz="2700">
                <a:solidFill>
                  <a:srgbClr val="003976"/>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Call to action, e.g. RSVP: [link]</a:t>
            </a:r>
            <a:endParaRPr lang="en-US" sz="2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per accepted">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960120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304770"/>
            <a:ext cx="1904970" cy="123828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7943850"/>
            <a:ext cx="1199876" cy="1238280"/>
          </a:xfrm>
          <a:prstGeom prst="rect">
            <a:avLst/>
          </a:prstGeom>
        </p:spPr>
      </p:pic>
      <p:pic>
        <p:nvPicPr>
          <p:cNvPr id="5" name="Image 3" descr="Kent State University wordmark">    </p:cNvPr>
          <p:cNvPicPr>
            <a:picLocks noChangeAspect="1"/>
          </p:cNvPicPr>
          <p:nvPr/>
        </p:nvPicPr>
        <p:blipFill>
          <a:blip r:embed="rId4"/>
          <a:stretch>
            <a:fillRect/>
          </a:stretch>
        </p:blipFill>
        <p:spPr>
          <a:xfrm>
            <a:off x="8304581" y="7943850"/>
            <a:ext cx="1296619" cy="1238280"/>
          </a:xfrm>
          <a:prstGeom prst="rect">
            <a:avLst/>
          </a:prstGeom>
        </p:spPr>
      </p:pic>
      <p:sp>
        <p:nvSpPr>
          <p:cNvPr id="6" name="Placeholder eyebrow"/>
          <p:cNvSpPr>
            <a:spLocks noGrp="1"/>
          </p:cNvSpPr>
          <p:nvPr>
            <p:ph idx="104" type="body" hasCustomPrompt="1"/>
          </p:nvPr>
        </p:nvSpPr>
        <p:spPr>
          <a:xfrm>
            <a:off x="685800" y="1304940"/>
            <a:ext cx="72390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PAPER ACCEPTED  ·  [VENUE YEAR]</a:t>
            </a:r>
            <a:endParaRPr lang="en-US" sz="2700" dirty="0"/>
          </a:p>
        </p:txBody>
      </p:sp>
      <p:sp>
        <p:nvSpPr>
          <p:cNvPr id="7" name="Placeholder title"/>
          <p:cNvSpPr>
            <a:spLocks noGrp="1"/>
          </p:cNvSpPr>
          <p:nvPr>
            <p:ph idx="105" type="title" hasCustomPrompt="1"/>
          </p:nvPr>
        </p:nvSpPr>
        <p:spPr>
          <a:xfrm>
            <a:off x="685800" y="1952610"/>
            <a:ext cx="8915400" cy="2724180"/>
          </a:xfrm>
          <a:prstGeom prst="rect">
            <a:avLst/>
          </a:prstGeom>
          <a:noFill/>
          <a:ln/>
        </p:spPr>
        <p:txBody>
          <a:bodyPr wrap="square" rtlCol="0" lIns="0" tIns="0" rIns="0" bIns="0" anchor="t">
            <a:normAutofit/>
          </a:bodyPr>
          <a:lstStyle>
            <a:lvl1pPr algn="l" indent="0" marL="0">
              <a:lnSpc>
                <a:spcPts val="5250"/>
              </a:lnSpc>
              <a:buNone/>
              <a:defRPr sz="4800" b="1">
                <a:solidFill>
                  <a:srgbClr val="FFFFFF"/>
                </a:solidFill>
                <a:latin typeface="Source Sans 3" pitchFamily="34" charset="0"/>
                <a:ea typeface="Source Sans 3" pitchFamily="34" charset="-122"/>
                <a:cs typeface="Source Sans 3" pitchFamily="34" charset="-120"/>
              </a:defRPr>
            </a:lvl1pPr>
          </a:lstStyle>
          <a:p>
            <a:pPr algn="l" indent="0" marL="0">
              <a:lnSpc>
                <a:spcPts val="5250"/>
              </a:lnSpc>
              <a:buNone/>
            </a:pPr>
            <a:r>
              <a:rPr lang="en-US" sz="4800" b="1" dirty="0">
                <a:solidFill>
                  <a:srgbClr val="FFFFFF"/>
                </a:solidFill>
                <a:latin typeface="Source Sans 3" pitchFamily="34" charset="0"/>
                <a:ea typeface="Source Sans 3" pitchFamily="34" charset="-122"/>
                <a:cs typeface="Source Sans 3" pitchFamily="34" charset="-120"/>
              </a:rPr>
              <a:t>Paper title, up to 4 lines at 48 pt; longer text shrinks to fit, so cut words rather than accept small type</a:t>
            </a:r>
            <a:endParaRPr lang="en-US" sz="4800" dirty="0"/>
          </a:p>
        </p:txBody>
      </p:sp>
      <p:sp>
        <p:nvSpPr>
          <p:cNvPr id="8" name="Placeholder authors"/>
          <p:cNvSpPr>
            <a:spLocks noGrp="1"/>
          </p:cNvSpPr>
          <p:nvPr>
            <p:ph idx="106" type="body" hasCustomPrompt="1"/>
          </p:nvPr>
        </p:nvSpPr>
        <p:spPr>
          <a:xfrm>
            <a:off x="685800" y="4886371"/>
            <a:ext cx="8915400" cy="1009680"/>
          </a:xfrm>
          <a:prstGeom prst="rect">
            <a:avLst/>
          </a:prstGeom>
          <a:noFill/>
          <a:ln/>
        </p:spPr>
        <p:txBody>
          <a:bodyPr wrap="square" rtlCol="0" lIns="0" tIns="0" rIns="0" bIns="0" anchor="t">
            <a:normAutofit/>
          </a:bodyPr>
          <a:lstStyle>
            <a:lvl1pPr algn="l" indent="0" marL="0">
              <a:lnSpc>
                <a:spcPts val="3750"/>
              </a:lnSpc>
              <a:buNone/>
              <a:defRPr sz="3000">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Authors, e.g. [Author One], [Author Two] and [Author Three]</a:t>
            </a:r>
            <a:endParaRPr lang="en-US" sz="3000" dirty="0"/>
          </a:p>
        </p:txBody>
      </p:sp>
      <p:sp>
        <p:nvSpPr>
          <p:cNvPr id="9" name="Placeholder venue"/>
          <p:cNvSpPr>
            <a:spLocks noGrp="1"/>
          </p:cNvSpPr>
          <p:nvPr>
            <p:ph idx="107" type="body" hasCustomPrompt="1"/>
          </p:nvPr>
        </p:nvSpPr>
        <p:spPr>
          <a:xfrm>
            <a:off x="685800" y="5991240"/>
            <a:ext cx="891540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Venue line, e.g. [Conference], [City]  ·  [Month YYYY]</a:t>
            </a:r>
            <a:endParaRPr lang="en-US" sz="2700" dirty="0"/>
          </a:p>
        </p:txBody>
      </p:sp>
      <p:sp>
        <p:nvSpPr>
          <p:cNvPr id="10" name="Placeholder cta"/>
          <p:cNvSpPr>
            <a:spLocks noGrp="1"/>
          </p:cNvSpPr>
          <p:nvPr>
            <p:ph idx="108" type="body" hasCustomPrompt="1"/>
          </p:nvPr>
        </p:nvSpPr>
        <p:spPr>
          <a:xfrm>
            <a:off x="685800" y="6524610"/>
            <a:ext cx="8915400" cy="476220"/>
          </a:xfrm>
          <a:prstGeom prst="rect">
            <a:avLst/>
          </a:prstGeom>
          <a:noFill/>
          <a:ln/>
        </p:spPr>
        <p:txBody>
          <a:bodyPr wrap="square" rtlCol="0" lIns="0" tIns="0" rIns="0" bIns="0" anchor="ctr">
            <a:normAutofit/>
          </a:bodyPr>
          <a:lstStyle>
            <a:lvl1pPr algn="l" indent="0" marL="0">
              <a:lnSpc>
                <a:spcPts val="3300"/>
              </a:lnSpc>
              <a:buNone/>
              <a:defRPr sz="2700">
                <a:solidFill>
                  <a:srgbClr val="FFFFFF"/>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FFFFFF"/>
                </a:solidFill>
                <a:latin typeface="Source Code Pro" pitchFamily="34" charset="0"/>
                <a:ea typeface="Source Code Pro" pitchFamily="34" charset="-122"/>
                <a:cs typeface="Source Code Pro" pitchFamily="34" charset="-120"/>
              </a:rPr>
              <a:t>Where to read it, e.g. Read the paper: link in bio</a:t>
            </a:r>
            <a:endParaRPr lang="en-US" sz="27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ecruiting">
    <p:bg>
      <p:bgPr>
        <a:solidFill>
          <a:srgbClr val="EFAB00"/>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7886700"/>
            <a:ext cx="1904970" cy="209553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8362920"/>
            <a:ext cx="1199876" cy="1238280"/>
          </a:xfrm>
          <a:prstGeom prst="rect">
            <a:avLst/>
          </a:prstGeom>
        </p:spPr>
      </p:pic>
      <p:sp>
        <p:nvSpPr>
          <p:cNvPr id="5" name="Text 0"/>
          <p:cNvSpPr txBox="1"/>
          <p:nvPr/>
        </p:nvSpPr>
        <p:spPr>
          <a:xfrm>
            <a:off x="2304745" y="8362920"/>
            <a:ext cx="5715000" cy="1238280"/>
          </a:xfrm>
          <a:prstGeom prst="rect">
            <a:avLst/>
          </a:prstGeom>
          <a:noFill/>
          <a:ln/>
        </p:spPr>
        <p:txBody>
          <a:bodyPr wrap="square" lIns="0" tIns="0" rIns="0" bIns="0" rtlCol="0" anchor="ctr"/>
          <a:lstStyle/>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Advanced Telerobotics Research Lab</a:t>
            </a:r>
            <a:endParaRPr lang="en-US" sz="2700" dirty="0"/>
          </a:p>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Kent State University</a:t>
            </a:r>
            <a:endParaRPr lang="en-US" sz="2700" dirty="0"/>
          </a:p>
        </p:txBody>
      </p:sp>
      <p:sp>
        <p:nvSpPr>
          <p:cNvPr id="6" name="Placeholder eyebrow"/>
          <p:cNvSpPr>
            <a:spLocks noGrp="1"/>
          </p:cNvSpPr>
          <p:nvPr>
            <p:ph idx="104" type="body" hasCustomPrompt="1"/>
          </p:nvPr>
        </p:nvSpPr>
        <p:spPr>
          <a:xfrm>
            <a:off x="685800" y="1904970"/>
            <a:ext cx="89154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003976"/>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JOIN THE LAB</a:t>
            </a:r>
            <a:endParaRPr lang="en-US" sz="2700" dirty="0"/>
          </a:p>
        </p:txBody>
      </p:sp>
      <p:sp>
        <p:nvSpPr>
          <p:cNvPr id="7" name="Placeholder headline"/>
          <p:cNvSpPr>
            <a:spLocks noGrp="1"/>
          </p:cNvSpPr>
          <p:nvPr>
            <p:ph idx="105" type="title" hasCustomPrompt="1"/>
          </p:nvPr>
        </p:nvSpPr>
        <p:spPr>
          <a:xfrm>
            <a:off x="685800" y="2552639"/>
            <a:ext cx="8915400" cy="2038380"/>
          </a:xfrm>
          <a:prstGeom prst="rect">
            <a:avLst/>
          </a:prstGeom>
          <a:noFill/>
          <a:ln/>
        </p:spPr>
        <p:txBody>
          <a:bodyPr wrap="square" rtlCol="0" lIns="0" tIns="0" rIns="0" bIns="0" anchor="t">
            <a:normAutofit/>
          </a:bodyPr>
          <a:lstStyle>
            <a:lvl1pPr algn="l" indent="0" marL="0">
              <a:lnSpc>
                <a:spcPts val="7800"/>
              </a:lnSpc>
              <a:buNone/>
              <a:defRPr sz="7200" b="1">
                <a:solidFill>
                  <a:srgbClr val="003976"/>
                </a:solidFill>
                <a:latin typeface="Source Sans 3" pitchFamily="34" charset="0"/>
                <a:ea typeface="Source Sans 3" pitchFamily="34" charset="-122"/>
                <a:cs typeface="Source Sans 3" pitchFamily="34" charset="-120"/>
              </a:defRPr>
            </a:lvl1pPr>
          </a:lstStyle>
          <a:p>
            <a:pPr algn="l" indent="0" marL="0">
              <a:lnSpc>
                <a:spcPts val="7800"/>
              </a:lnSpc>
              <a:buNone/>
            </a:pPr>
            <a:r>
              <a:rPr lang="en-US" sz="7200" b="1" dirty="0">
                <a:solidFill>
                  <a:srgbClr val="003976"/>
                </a:solidFill>
                <a:latin typeface="Source Sans 3" pitchFamily="34" charset="0"/>
                <a:ea typeface="Source Sans 3" pitchFamily="34" charset="-122"/>
                <a:cs typeface="Source Sans 3" pitchFamily="34" charset="-120"/>
              </a:rPr>
              <a:t>Headline, up to 2 lines at 72 pt; longer text shrinks to fit, so cut words rather than accept small type</a:t>
            </a:r>
            <a:endParaRPr lang="en-US" sz="7200" dirty="0"/>
          </a:p>
        </p:txBody>
      </p:sp>
      <p:sp>
        <p:nvSpPr>
          <p:cNvPr id="8" name="Placeholder points"/>
          <p:cNvSpPr>
            <a:spLocks noGrp="1"/>
          </p:cNvSpPr>
          <p:nvPr>
            <p:ph idx="106" type="body" hasCustomPrompt="1"/>
          </p:nvPr>
        </p:nvSpPr>
        <p:spPr>
          <a:xfrm>
            <a:off x="685800" y="4838639"/>
            <a:ext cx="7239030" cy="1714500"/>
          </a:xfrm>
          <a:prstGeom prst="rect">
            <a:avLst/>
          </a:prstGeom>
          <a:noFill/>
          <a:ln/>
        </p:spPr>
        <p:txBody>
          <a:bodyPr wrap="square" rtlCol="0" lIns="0" tIns="0" rIns="0" bIns="0" anchor="t">
            <a:normAutofit/>
          </a:bodyPr>
          <a:lstStyle>
            <a:lvl1pPr algn="l" indent="0" marL="0">
              <a:lnSpc>
                <a:spcPts val="3750"/>
              </a:lnSpc>
              <a:spcAft>
                <a:spcPts val="600"/>
              </a:spcAft>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spcAft>
                <a:spcPts val="600"/>
              </a:spcAft>
              <a:buNone/>
            </a:pPr>
            <a:r>
              <a:rPr lang="en-US" sz="3000" dirty="0">
                <a:solidFill>
                  <a:srgbClr val="1B2533"/>
                </a:solidFill>
                <a:latin typeface="Source Sans 3" pitchFamily="34" charset="0"/>
                <a:ea typeface="Source Sans 3" pitchFamily="34" charset="-122"/>
                <a:cs typeface="Source Sans 3" pitchFamily="34" charset="-120"/>
              </a:rPr>
              <a:t>Short points (3 lines in all): who, what you would work on, how to apply</a:t>
            </a:r>
            <a:endParaRPr lang="en-US" sz="3000" dirty="0"/>
          </a:p>
        </p:txBody>
      </p:sp>
      <p:sp>
        <p:nvSpPr>
          <p:cNvPr id="9" name="Placeholder cta"/>
          <p:cNvSpPr>
            <a:spLocks noGrp="1"/>
          </p:cNvSpPr>
          <p:nvPr>
            <p:ph idx="107" type="body" hasCustomPrompt="1"/>
          </p:nvPr>
        </p:nvSpPr>
        <p:spPr>
          <a:xfrm>
            <a:off x="685800" y="6686550"/>
            <a:ext cx="7239030" cy="476220"/>
          </a:xfrm>
          <a:prstGeom prst="rect">
            <a:avLst/>
          </a:prstGeom>
          <a:noFill/>
          <a:ln/>
        </p:spPr>
        <p:txBody>
          <a:bodyPr wrap="square" rtlCol="0" lIns="0" tIns="0" rIns="0" bIns="0" anchor="ctr">
            <a:normAutofit/>
          </a:bodyPr>
          <a:lstStyle>
            <a:lvl1pPr algn="l" indent="0" marL="0">
              <a:lnSpc>
                <a:spcPts val="3300"/>
              </a:lnSpc>
              <a:buNone/>
              <a:defRPr sz="2700">
                <a:solidFill>
                  <a:srgbClr val="003976"/>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How to apply, e.g. atr.cs.kent.edu  ·  [Join page]</a:t>
            </a:r>
            <a:endParaRPr lang="en-US" sz="27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ilestone">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960120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304770"/>
            <a:ext cx="1904970" cy="123828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7943850"/>
            <a:ext cx="1199876" cy="1238280"/>
          </a:xfrm>
          <a:prstGeom prst="rect">
            <a:avLst/>
          </a:prstGeom>
        </p:spPr>
      </p:pic>
      <p:pic>
        <p:nvPicPr>
          <p:cNvPr id="5" name="Image 3" descr="Kent State University wordmark">    </p:cNvPr>
          <p:cNvPicPr>
            <a:picLocks noChangeAspect="1"/>
          </p:cNvPicPr>
          <p:nvPr/>
        </p:nvPicPr>
        <p:blipFill>
          <a:blip r:embed="rId4"/>
          <a:stretch>
            <a:fillRect/>
          </a:stretch>
        </p:blipFill>
        <p:spPr>
          <a:xfrm>
            <a:off x="8304581" y="7943850"/>
            <a:ext cx="1296619" cy="1238280"/>
          </a:xfrm>
          <a:prstGeom prst="rect">
            <a:avLst/>
          </a:prstGeom>
        </p:spPr>
      </p:pic>
      <p:sp>
        <p:nvSpPr>
          <p:cNvPr id="6" name="Placeholder eyebrow"/>
          <p:cNvSpPr>
            <a:spLocks noGrp="1"/>
          </p:cNvSpPr>
          <p:nvPr>
            <p:ph idx="104" type="body" hasCustomPrompt="1"/>
          </p:nvPr>
        </p:nvSpPr>
        <p:spPr>
          <a:xfrm>
            <a:off x="685800" y="1409730"/>
            <a:ext cx="72390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MILESTONE</a:t>
            </a:r>
            <a:endParaRPr lang="en-US" sz="2700" dirty="0"/>
          </a:p>
        </p:txBody>
      </p:sp>
      <p:sp>
        <p:nvSpPr>
          <p:cNvPr id="7" name="Placeholder number"/>
          <p:cNvSpPr>
            <a:spLocks noGrp="1"/>
          </p:cNvSpPr>
          <p:nvPr>
            <p:ph idx="105" type="title" hasCustomPrompt="1"/>
          </p:nvPr>
        </p:nvSpPr>
        <p:spPr>
          <a:xfrm>
            <a:off x="685800" y="1981230"/>
            <a:ext cx="8915400" cy="2800350"/>
          </a:xfrm>
          <a:prstGeom prst="rect">
            <a:avLst/>
          </a:prstGeom>
          <a:noFill/>
          <a:ln/>
        </p:spPr>
        <p:txBody>
          <a:bodyPr wrap="square" rtlCol="0" lIns="0" tIns="0" rIns="0" bIns="0" anchor="ctr">
            <a:normAutofit/>
          </a:bodyPr>
          <a:lstStyle>
            <a:lvl1pPr algn="l" indent="0" marL="0">
              <a:lnSpc>
                <a:spcPts val="21600"/>
              </a:lnSpc>
              <a:buNone/>
              <a:defRPr sz="21000" b="1" spc="-200" kern="0">
                <a:solidFill>
                  <a:srgbClr val="EFAB00"/>
                </a:solidFill>
                <a:latin typeface="Roboto Slab" pitchFamily="34" charset="0"/>
                <a:ea typeface="Roboto Slab" pitchFamily="34" charset="-122"/>
                <a:cs typeface="Roboto Slab" pitchFamily="34" charset="-120"/>
              </a:defRPr>
            </a:lvl1pPr>
          </a:lstStyle>
          <a:p>
            <a:pPr algn="l" indent="0" marL="0">
              <a:lnSpc>
                <a:spcPts val="21600"/>
              </a:lnSpc>
              <a:buNone/>
            </a:pPr>
            <a:r>
              <a:rPr lang="en-US" sz="21000" b="1" spc="-200" kern="0" dirty="0">
                <a:solidFill>
                  <a:srgbClr val="EFAB00"/>
                </a:solidFill>
                <a:latin typeface="Roboto Slab" pitchFamily="34" charset="0"/>
                <a:ea typeface="Roboto Slab" pitchFamily="34" charset="-122"/>
                <a:cs typeface="Roboto Slab" pitchFamily="34" charset="-120"/>
              </a:rPr>
              <a:t>Number (up to 5 characters at full size; a longer number shrinks to fit)</a:t>
            </a:r>
            <a:endParaRPr lang="en-US" sz="21000" dirty="0"/>
          </a:p>
        </p:txBody>
      </p:sp>
      <p:sp>
        <p:nvSpPr>
          <p:cNvPr id="8" name="Placeholder label"/>
          <p:cNvSpPr>
            <a:spLocks noGrp="1"/>
          </p:cNvSpPr>
          <p:nvPr>
            <p:ph idx="106" type="body" hasCustomPrompt="1"/>
          </p:nvPr>
        </p:nvSpPr>
        <p:spPr>
          <a:xfrm>
            <a:off x="685800" y="4800600"/>
            <a:ext cx="8915400" cy="1485900"/>
          </a:xfrm>
          <a:prstGeom prst="rect">
            <a:avLst/>
          </a:prstGeom>
          <a:noFill/>
          <a:ln/>
        </p:spPr>
        <p:txBody>
          <a:bodyPr wrap="square" rtlCol="0" lIns="0" tIns="0" rIns="0" bIns="0" anchor="t">
            <a:normAutofit/>
          </a:bodyPr>
          <a:lstStyle>
            <a:lvl1pPr algn="l" indent="0" marL="0">
              <a:lnSpc>
                <a:spcPts val="3750"/>
              </a:lnSpc>
              <a:buNone/>
              <a:defRPr sz="3000">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What the number is, up to 3 lines</a:t>
            </a:r>
            <a:endParaRPr lang="en-US" sz="3000" dirty="0"/>
          </a:p>
        </p:txBody>
      </p:sp>
      <p:sp>
        <p:nvSpPr>
          <p:cNvPr id="9" name="Placeholder source"/>
          <p:cNvSpPr>
            <a:spLocks noGrp="1"/>
          </p:cNvSpPr>
          <p:nvPr>
            <p:ph idx="107" type="body" hasCustomPrompt="1"/>
          </p:nvPr>
        </p:nvSpPr>
        <p:spPr>
          <a:xfrm>
            <a:off x="685800" y="6419911"/>
            <a:ext cx="891540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Source or link, e.g. atr.cs.kent.edu/[news post]</a:t>
            </a:r>
            <a:endParaRPr lang="en-US" sz="27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potlight quote">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960120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304770"/>
            <a:ext cx="1904970" cy="123828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7943850"/>
            <a:ext cx="1199876" cy="1238280"/>
          </a:xfrm>
          <a:prstGeom prst="rect">
            <a:avLst/>
          </a:prstGeom>
        </p:spPr>
      </p:pic>
      <p:pic>
        <p:nvPicPr>
          <p:cNvPr id="5" name="Image 3" descr="Kent State University wordmark">    </p:cNvPr>
          <p:cNvPicPr>
            <a:picLocks noChangeAspect="1"/>
          </p:cNvPicPr>
          <p:nvPr/>
        </p:nvPicPr>
        <p:blipFill>
          <a:blip r:embed="rId4"/>
          <a:stretch>
            <a:fillRect/>
          </a:stretch>
        </p:blipFill>
        <p:spPr>
          <a:xfrm>
            <a:off x="8304581" y="7943850"/>
            <a:ext cx="1296619" cy="1238280"/>
          </a:xfrm>
          <a:prstGeom prst="rect">
            <a:avLst/>
          </a:prstGeom>
        </p:spPr>
      </p:pic>
      <p:sp>
        <p:nvSpPr>
          <p:cNvPr id="6" name="Placeholder eyebrow"/>
          <p:cNvSpPr>
            <a:spLocks noGrp="1"/>
          </p:cNvSpPr>
          <p:nvPr>
            <p:ph idx="104" type="body" hasCustomPrompt="1"/>
          </p:nvPr>
        </p:nvSpPr>
        <p:spPr>
          <a:xfrm>
            <a:off x="685800" y="1228771"/>
            <a:ext cx="72390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[STUDENT SPOTLIGHT]</a:t>
            </a:r>
            <a:endParaRPr lang="en-US" sz="2700" dirty="0"/>
          </a:p>
        </p:txBody>
      </p:sp>
      <p:sp>
        <p:nvSpPr>
          <p:cNvPr id="7" name="Picture Placeholder photo"/>
          <p:cNvSpPr>
            <a:spLocks noGrp="1"/>
          </p:cNvSpPr>
          <p:nvPr>
            <p:ph idx="105" hasCustomPrompt="1" type="pic"/>
          </p:nvPr>
        </p:nvSpPr>
        <p:spPr>
          <a:xfrm>
            <a:off x="685800" y="1876440"/>
            <a:ext cx="2857500" cy="2857500"/>
          </a:xfrm>
          <a:prstGeom prst="rect">
            <a:avLst/>
          </a:prstGeom>
          <a:solidFill>
            <a:srgbClr val="F3F6FA"/>
          </a:solidFill>
          <a:ln/>
        </p:spPr>
        <p:txBody>
          <a:bodyPr wrap="square" rtlCol="0"/>
          <a:lstStyle>
            <a:lvl1pPr indent="0" marL="0">
              <a:buNone/>
              <a:defRPr lang="en-US" dirty="0"/>
            </a:lvl1pPr>
          </a:lstStyle>
          <a:p>
            <a:pPr indent="0" marL="0">
              <a:buNone/>
            </a:pPr>
            <a:r>
              <a:rPr lang="en-US" dirty="0">
                <a:solidFill>
                  <a:srgbClr val="000000"/>
                </a:solidFill>
              </a:rPr>
              <a:t>Add a real photo of the person (with their written permission)</a:t>
            </a:r>
            <a:endParaRPr lang="en-US" dirty="0"/>
          </a:p>
        </p:txBody>
      </p:sp>
      <p:sp>
        <p:nvSpPr>
          <p:cNvPr id="8" name="Placeholder name"/>
          <p:cNvSpPr>
            <a:spLocks noGrp="1"/>
          </p:cNvSpPr>
          <p:nvPr>
            <p:ph idx="106" type="body" hasCustomPrompt="1"/>
          </p:nvPr>
        </p:nvSpPr>
        <p:spPr>
          <a:xfrm>
            <a:off x="3886200" y="2609880"/>
            <a:ext cx="5715000" cy="533370"/>
          </a:xfrm>
          <a:prstGeom prst="rect">
            <a:avLst/>
          </a:prstGeom>
          <a:noFill/>
          <a:ln/>
        </p:spPr>
        <p:txBody>
          <a:bodyPr wrap="square" rtlCol="0" lIns="0" tIns="0" rIns="0" bIns="0" anchor="ctr">
            <a:normAutofit/>
          </a:bodyPr>
          <a:lstStyle>
            <a:lvl1pPr algn="l" indent="0" marL="0">
              <a:lnSpc>
                <a:spcPts val="3750"/>
              </a:lnSpc>
              <a:buNone/>
              <a:defRPr sz="3000" b="1">
                <a:solidFill>
                  <a:srgbClr val="FFFFFF"/>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b="1" dirty="0">
                <a:solidFill>
                  <a:srgbClr val="FFFFFF"/>
                </a:solidFill>
                <a:latin typeface="Source Sans 3" pitchFamily="34" charset="0"/>
                <a:ea typeface="Source Sans 3" pitchFamily="34" charset="-122"/>
                <a:cs typeface="Source Sans 3" pitchFamily="34" charset="-120"/>
              </a:rPr>
              <a:t>Name</a:t>
            </a:r>
            <a:endParaRPr lang="en-US" sz="3000" dirty="0"/>
          </a:p>
        </p:txBody>
      </p:sp>
      <p:sp>
        <p:nvSpPr>
          <p:cNvPr id="9" name="Placeholder role"/>
          <p:cNvSpPr>
            <a:spLocks noGrp="1"/>
          </p:cNvSpPr>
          <p:nvPr>
            <p:ph idx="107" type="body" hasCustomPrompt="1"/>
          </p:nvPr>
        </p:nvSpPr>
        <p:spPr>
          <a:xfrm>
            <a:off x="3886200" y="3162361"/>
            <a:ext cx="5715000" cy="895380"/>
          </a:xfrm>
          <a:prstGeom prst="rect">
            <a:avLst/>
          </a:prstGeom>
          <a:noFill/>
          <a:ln/>
        </p:spPr>
        <p:txBody>
          <a:bodyPr wrap="square" rtlCol="0" lIns="0" tIns="0" rIns="0" bIns="0" anchor="t">
            <a:normAutofit/>
          </a:bodyPr>
          <a:lstStyle>
            <a:lvl1pPr algn="l" indent="0" marL="0">
              <a:lnSpc>
                <a:spcPts val="3300"/>
              </a:lnSpc>
              <a:buNone/>
              <a:defRPr sz="2700">
                <a:solidFill>
                  <a:srgbClr val="FFFFFF"/>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dirty="0">
                <a:solidFill>
                  <a:srgbClr val="FFFFFF"/>
                </a:solidFill>
                <a:latin typeface="Source Sans 3" pitchFamily="34" charset="0"/>
                <a:ea typeface="Source Sans 3" pitchFamily="34" charset="-122"/>
                <a:cs typeface="Source Sans 3" pitchFamily="34" charset="-120"/>
              </a:rPr>
              <a:t>Role, e.g. [Ph.D. student, computer science]</a:t>
            </a:r>
            <a:endParaRPr lang="en-US" sz="2700" dirty="0"/>
          </a:p>
        </p:txBody>
      </p:sp>
      <p:pic>
        <p:nvPicPr>
          <p:cNvPr id="10" name="Image 4" descr="Opening quotation mark">    </p:cNvPr>
          <p:cNvPicPr>
            <a:picLocks noChangeAspect="1"/>
          </p:cNvPicPr>
          <p:nvPr/>
        </p:nvPicPr>
        <p:blipFill>
          <a:blip r:embed="rId5"/>
          <a:stretch>
            <a:fillRect/>
          </a:stretch>
        </p:blipFill>
        <p:spPr>
          <a:xfrm>
            <a:off x="685800" y="5076840"/>
            <a:ext cx="914400" cy="914400"/>
          </a:xfrm>
          <a:prstGeom prst="rect">
            <a:avLst/>
          </a:prstGeom>
        </p:spPr>
      </p:pic>
      <p:sp>
        <p:nvSpPr>
          <p:cNvPr id="11" name="Placeholder quote"/>
          <p:cNvSpPr>
            <a:spLocks noGrp="1"/>
          </p:cNvSpPr>
          <p:nvPr>
            <p:ph idx="109" type="body" hasCustomPrompt="1"/>
          </p:nvPr>
        </p:nvSpPr>
        <p:spPr>
          <a:xfrm>
            <a:off x="1904970" y="5076840"/>
            <a:ext cx="7696230" cy="2000250"/>
          </a:xfrm>
          <a:prstGeom prst="rect">
            <a:avLst/>
          </a:prstGeom>
          <a:noFill/>
          <a:ln/>
        </p:spPr>
        <p:txBody>
          <a:bodyPr wrap="square" rtlCol="0" lIns="0" tIns="0" rIns="0" bIns="0" anchor="t">
            <a:normAutofit/>
          </a:bodyPr>
          <a:lstStyle>
            <a:lvl1pPr algn="l" indent="0" marL="0">
              <a:lnSpc>
                <a:spcPts val="5100"/>
              </a:lnSpc>
              <a:buNone/>
              <a:defRPr sz="4200">
                <a:solidFill>
                  <a:srgbClr val="FFFFFF"/>
                </a:solidFill>
                <a:latin typeface="Roboto Slab" pitchFamily="34" charset="0"/>
                <a:ea typeface="Roboto Slab" pitchFamily="34" charset="-122"/>
                <a:cs typeface="Roboto Slab" pitchFamily="34" charset="-120"/>
              </a:defRPr>
            </a:lvl1pPr>
          </a:lstStyle>
          <a:p>
            <a:pPr algn="l" indent="0" marL="0">
              <a:lnSpc>
                <a:spcPts val="5100"/>
              </a:lnSpc>
              <a:buNone/>
            </a:pPr>
            <a:r>
              <a:rPr lang="en-US" sz="4200" dirty="0">
                <a:solidFill>
                  <a:srgbClr val="FFFFFF"/>
                </a:solidFill>
                <a:latin typeface="Roboto Slab" pitchFamily="34" charset="0"/>
                <a:ea typeface="Roboto Slab" pitchFamily="34" charset="-122"/>
                <a:cs typeface="Roboto Slab" pitchFamily="34" charset="-120"/>
              </a:rPr>
              <a:t>Quote the person approved, up to 3 lines</a:t>
            </a:r>
            <a:endParaRPr lang="en-US" sz="42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mo video cover">
    <p:bg>
      <p:bgPr>
        <a:solidFill>
          <a:srgbClr val="003976"/>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960120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304770"/>
            <a:ext cx="1904970" cy="123828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7943850"/>
            <a:ext cx="1199876" cy="1238280"/>
          </a:xfrm>
          <a:prstGeom prst="rect">
            <a:avLst/>
          </a:prstGeom>
        </p:spPr>
      </p:pic>
      <p:pic>
        <p:nvPicPr>
          <p:cNvPr id="5" name="Image 3" descr="Kent State University wordmark">    </p:cNvPr>
          <p:cNvPicPr>
            <a:picLocks noChangeAspect="1"/>
          </p:cNvPicPr>
          <p:nvPr/>
        </p:nvPicPr>
        <p:blipFill>
          <a:blip r:embed="rId4"/>
          <a:stretch>
            <a:fillRect/>
          </a:stretch>
        </p:blipFill>
        <p:spPr>
          <a:xfrm>
            <a:off x="8304581" y="7943850"/>
            <a:ext cx="1296619" cy="1238280"/>
          </a:xfrm>
          <a:prstGeom prst="rect">
            <a:avLst/>
          </a:prstGeom>
        </p:spPr>
      </p:pic>
      <p:sp>
        <p:nvSpPr>
          <p:cNvPr id="6" name="Placeholder eyebrow"/>
          <p:cNvSpPr>
            <a:spLocks noGrp="1"/>
          </p:cNvSpPr>
          <p:nvPr>
            <p:ph idx="104" type="body" hasCustomPrompt="1"/>
          </p:nvPr>
        </p:nvSpPr>
        <p:spPr>
          <a:xfrm>
            <a:off x="685800" y="695310"/>
            <a:ext cx="723903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EFAB00"/>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DEMO VIDEO</a:t>
            </a:r>
            <a:endParaRPr lang="en-US" sz="2700" dirty="0"/>
          </a:p>
        </p:txBody>
      </p:sp>
      <p:sp>
        <p:nvSpPr>
          <p:cNvPr id="7" name="Picture Placeholder frame"/>
          <p:cNvSpPr>
            <a:spLocks noGrp="1"/>
          </p:cNvSpPr>
          <p:nvPr>
            <p:ph idx="105" hasCustomPrompt="1" type="pic"/>
          </p:nvPr>
        </p:nvSpPr>
        <p:spPr>
          <a:xfrm>
            <a:off x="685800" y="1266810"/>
            <a:ext cx="6476970" cy="3648090"/>
          </a:xfrm>
          <a:prstGeom prst="rect">
            <a:avLst/>
          </a:prstGeom>
          <a:solidFill>
            <a:srgbClr val="F3F6FA"/>
          </a:solidFill>
          <a:ln/>
        </p:spPr>
        <p:txBody>
          <a:bodyPr wrap="square" rtlCol="0"/>
          <a:lstStyle>
            <a:lvl1pPr indent="0" marL="0">
              <a:buNone/>
              <a:defRPr lang="en-US" dirty="0"/>
            </a:lvl1pPr>
          </a:lstStyle>
          <a:p>
            <a:pPr indent="0" marL="0">
              <a:buNone/>
            </a:pPr>
            <a:r>
              <a:rPr lang="en-US" dirty="0">
                <a:solidFill>
                  <a:srgbClr val="000000"/>
                </a:solidFill>
              </a:rPr>
              <a:t>Add a real frame from the video (16:9)</a:t>
            </a:r>
            <a:endParaRPr lang="en-US" dirty="0"/>
          </a:p>
        </p:txBody>
      </p:sp>
      <p:sp>
        <p:nvSpPr>
          <p:cNvPr id="8" name="Placeholder title"/>
          <p:cNvSpPr>
            <a:spLocks noGrp="1"/>
          </p:cNvSpPr>
          <p:nvPr>
            <p:ph idx="106" type="title" hasCustomPrompt="1"/>
          </p:nvPr>
        </p:nvSpPr>
        <p:spPr>
          <a:xfrm>
            <a:off x="685800" y="5143500"/>
            <a:ext cx="8915400" cy="1390620"/>
          </a:xfrm>
          <a:prstGeom prst="rect">
            <a:avLst/>
          </a:prstGeom>
          <a:noFill/>
          <a:ln/>
        </p:spPr>
        <p:txBody>
          <a:bodyPr wrap="square" rtlCol="0" lIns="0" tIns="0" rIns="0" bIns="0" anchor="t">
            <a:normAutofit/>
          </a:bodyPr>
          <a:lstStyle>
            <a:lvl1pPr algn="l" indent="0" marL="0">
              <a:lnSpc>
                <a:spcPts val="5250"/>
              </a:lnSpc>
              <a:buNone/>
              <a:defRPr sz="4800" b="1">
                <a:solidFill>
                  <a:srgbClr val="FFFFFF"/>
                </a:solidFill>
                <a:latin typeface="Source Sans 3" pitchFamily="34" charset="0"/>
                <a:ea typeface="Source Sans 3" pitchFamily="34" charset="-122"/>
                <a:cs typeface="Source Sans 3" pitchFamily="34" charset="-120"/>
              </a:defRPr>
            </a:lvl1pPr>
          </a:lstStyle>
          <a:p>
            <a:pPr algn="l" indent="0" marL="0">
              <a:lnSpc>
                <a:spcPts val="5250"/>
              </a:lnSpc>
              <a:buNone/>
            </a:pPr>
            <a:r>
              <a:rPr lang="en-US" sz="4800" b="1" dirty="0">
                <a:solidFill>
                  <a:srgbClr val="FFFFFF"/>
                </a:solidFill>
                <a:latin typeface="Source Sans 3" pitchFamily="34" charset="0"/>
                <a:ea typeface="Source Sans 3" pitchFamily="34" charset="-122"/>
                <a:cs typeface="Source Sans 3" pitchFamily="34" charset="-120"/>
              </a:rPr>
              <a:t>What the robot does, in five to eight words</a:t>
            </a:r>
            <a:endParaRPr lang="en-US" sz="4800" dirty="0"/>
          </a:p>
        </p:txBody>
      </p:sp>
      <p:sp>
        <p:nvSpPr>
          <p:cNvPr id="9" name="Placeholder flags"/>
          <p:cNvSpPr>
            <a:spLocks noGrp="1"/>
          </p:cNvSpPr>
          <p:nvPr>
            <p:ph idx="107" type="body" hasCustomPrompt="1"/>
          </p:nvPr>
        </p:nvSpPr>
        <p:spPr>
          <a:xfrm>
            <a:off x="685800" y="6629400"/>
            <a:ext cx="8915400" cy="476220"/>
          </a:xfrm>
          <a:prstGeom prst="rect">
            <a:avLst/>
          </a:prstGeom>
          <a:noFill/>
          <a:ln/>
        </p:spPr>
        <p:txBody>
          <a:bodyPr wrap="square" rtlCol="0" lIns="0" tIns="0" rIns="0" bIns="0" anchor="ctr">
            <a:normAutofit/>
          </a:bodyPr>
          <a:lstStyle>
            <a:lvl1pPr algn="l" indent="0" marL="0">
              <a:lnSpc>
                <a:spcPts val="3300"/>
              </a:lnSpc>
              <a:buNone/>
              <a:defRPr sz="2700">
                <a:solidFill>
                  <a:srgbClr val="EFAB00"/>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Honesty labels: [2X SPEED]  ·  [TELEOPERATED]</a:t>
            </a:r>
            <a:endParaRPr lang="en-US" sz="2700" dirty="0"/>
          </a:p>
        </p:txBody>
      </p:sp>
      <p:sp>
        <p:nvSpPr>
          <p:cNvPr id="10" name="Placeholder cta"/>
          <p:cNvSpPr>
            <a:spLocks noGrp="1"/>
          </p:cNvSpPr>
          <p:nvPr>
            <p:ph idx="108" type="body" hasCustomPrompt="1"/>
          </p:nvPr>
        </p:nvSpPr>
        <p:spPr>
          <a:xfrm>
            <a:off x="685800" y="7124730"/>
            <a:ext cx="8915400" cy="476220"/>
          </a:xfrm>
          <a:prstGeom prst="rect">
            <a:avLst/>
          </a:prstGeom>
          <a:noFill/>
          <a:ln/>
        </p:spPr>
        <p:txBody>
          <a:bodyPr wrap="square" rtlCol="0" lIns="0" tIns="0" rIns="0" bIns="0" anchor="ctr">
            <a:normAutofit/>
          </a:bodyPr>
          <a:lstStyle>
            <a:lvl1pPr algn="l" indent="0" marL="0">
              <a:lnSpc>
                <a:spcPts val="3300"/>
              </a:lnSpc>
              <a:buNone/>
              <a:defRPr sz="2700">
                <a:solidFill>
                  <a:srgbClr val="FFFFFF"/>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FFFFFF"/>
                </a:solidFill>
                <a:latin typeface="Source Code Pro" pitchFamily="34" charset="0"/>
                <a:ea typeface="Source Code Pro" pitchFamily="34" charset="-122"/>
                <a:cs typeface="Source Code Pro" pitchFamily="34" charset="-120"/>
              </a:rPr>
              <a:t>Where to watch, e.g. Full video on YouTube: link in bio</a:t>
            </a:r>
            <a:endParaRPr lang="en-US" sz="27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ank you / Welcome">
    <p:bg>
      <p:bgPr>
        <a:solidFill>
          <a:srgbClr val="EFAB00"/>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0287000" cy="685800"/>
          </a:xfrm>
          <a:prstGeom prst="rect">
            <a:avLst/>
          </a:prstGeom>
        </p:spPr>
      </p:pic>
      <p:pic>
        <p:nvPicPr>
          <p:cNvPr id="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077170" y="7886700"/>
            <a:ext cx="1904970" cy="2095530"/>
          </a:xfrm>
          <a:prstGeom prst="rect">
            <a:avLst/>
          </a:prstGeom>
        </p:spPr>
      </p:pic>
      <p:pic>
        <p:nvPicPr>
          <p:cNvPr id="4" name="Image 2" descr="Advanced Telerobotics Research Lab mark">    </p:cNvPr>
          <p:cNvPicPr>
            <a:picLocks noChangeAspect="1"/>
          </p:cNvPicPr>
          <p:nvPr/>
        </p:nvPicPr>
        <p:blipFill>
          <a:blip r:embed="rId3"/>
          <a:stretch>
            <a:fillRect/>
          </a:stretch>
        </p:blipFill>
        <p:spPr>
          <a:xfrm>
            <a:off x="685800" y="8362920"/>
            <a:ext cx="1199876" cy="1238280"/>
          </a:xfrm>
          <a:prstGeom prst="rect">
            <a:avLst/>
          </a:prstGeom>
        </p:spPr>
      </p:pic>
      <p:sp>
        <p:nvSpPr>
          <p:cNvPr id="5" name="Text 0"/>
          <p:cNvSpPr txBox="1"/>
          <p:nvPr/>
        </p:nvSpPr>
        <p:spPr>
          <a:xfrm>
            <a:off x="2304745" y="8362920"/>
            <a:ext cx="5715000" cy="1238280"/>
          </a:xfrm>
          <a:prstGeom prst="rect">
            <a:avLst/>
          </a:prstGeom>
          <a:noFill/>
          <a:ln/>
        </p:spPr>
        <p:txBody>
          <a:bodyPr wrap="square" lIns="0" tIns="0" rIns="0" bIns="0" rtlCol="0" anchor="ctr"/>
          <a:lstStyle/>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Advanced Telerobotics Research Lab</a:t>
            </a:r>
            <a:endParaRPr lang="en-US" sz="2700" dirty="0"/>
          </a:p>
          <a:p>
            <a:pPr algn="l" indent="0" marL="0">
              <a:lnSpc>
                <a:spcPts val="3300"/>
              </a:lnSpc>
              <a:buNone/>
            </a:pPr>
            <a:r>
              <a:rPr lang="en-US" sz="2700" dirty="0">
                <a:solidFill>
                  <a:srgbClr val="003976"/>
                </a:solidFill>
                <a:latin typeface="Source Sans 3" pitchFamily="34" charset="0"/>
                <a:ea typeface="Source Sans 3" pitchFamily="34" charset="-122"/>
                <a:cs typeface="Source Sans 3" pitchFamily="34" charset="-120"/>
              </a:rPr>
              <a:t>Kent State University</a:t>
            </a:r>
            <a:endParaRPr lang="en-US" sz="2700" dirty="0"/>
          </a:p>
        </p:txBody>
      </p:sp>
      <p:sp>
        <p:nvSpPr>
          <p:cNvPr id="6" name="Placeholder eyebrow"/>
          <p:cNvSpPr>
            <a:spLocks noGrp="1"/>
          </p:cNvSpPr>
          <p:nvPr>
            <p:ph idx="104" type="body" hasCustomPrompt="1"/>
          </p:nvPr>
        </p:nvSpPr>
        <p:spPr>
          <a:xfrm>
            <a:off x="685800" y="2438430"/>
            <a:ext cx="8915400" cy="476220"/>
          </a:xfrm>
          <a:prstGeom prst="rect">
            <a:avLst/>
          </a:prstGeom>
          <a:noFill/>
          <a:ln/>
        </p:spPr>
        <p:txBody>
          <a:bodyPr wrap="square" rtlCol="0" lIns="0" tIns="0" rIns="0" bIns="0" anchor="ctr">
            <a:normAutofit/>
          </a:bodyPr>
          <a:lstStyle>
            <a:lvl1pPr algn="l" indent="0" marL="0">
              <a:lnSpc>
                <a:spcPts val="3300"/>
              </a:lnSpc>
              <a:buNone/>
              <a:defRPr sz="2700" b="1" spc="300" kern="0">
                <a:solidFill>
                  <a:srgbClr val="003976"/>
                </a:solidFill>
                <a:latin typeface="Source Sans 3" pitchFamily="34" charset="0"/>
                <a:ea typeface="Source Sans 3" pitchFamily="34" charset="-122"/>
                <a:cs typeface="Source Sans 3" pitchFamily="34" charset="-120"/>
              </a:defRPr>
            </a:lvl1p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[THANK YOU or WELCOME]</a:t>
            </a:r>
            <a:endParaRPr lang="en-US" sz="2700" dirty="0"/>
          </a:p>
        </p:txBody>
      </p:sp>
      <p:sp>
        <p:nvSpPr>
          <p:cNvPr id="7" name="Placeholder display"/>
          <p:cNvSpPr>
            <a:spLocks noGrp="1"/>
          </p:cNvSpPr>
          <p:nvPr>
            <p:ph idx="105" type="title" hasCustomPrompt="1"/>
          </p:nvPr>
        </p:nvSpPr>
        <p:spPr>
          <a:xfrm>
            <a:off x="685800" y="3086100"/>
            <a:ext cx="8915400" cy="1314450"/>
          </a:xfrm>
          <a:prstGeom prst="rect">
            <a:avLst/>
          </a:prstGeom>
          <a:noFill/>
          <a:ln/>
        </p:spPr>
        <p:txBody>
          <a:bodyPr wrap="square" rtlCol="0" lIns="0" tIns="0" rIns="0" bIns="0" anchor="ctr">
            <a:normAutofit/>
          </a:bodyPr>
          <a:lstStyle>
            <a:lvl1pPr algn="l" indent="0" marL="0">
              <a:lnSpc>
                <a:spcPts val="9900"/>
              </a:lnSpc>
              <a:buNone/>
              <a:defRPr sz="9600">
                <a:solidFill>
                  <a:srgbClr val="003976"/>
                </a:solidFill>
                <a:latin typeface="Source Sans 3 Black" pitchFamily="34" charset="0"/>
                <a:ea typeface="Source Sans 3 Black" pitchFamily="34" charset="-122"/>
                <a:cs typeface="Source Sans 3 Black" pitchFamily="34" charset="-120"/>
              </a:defRPr>
            </a:lvl1pPr>
          </a:lstStyle>
          <a:p>
            <a:pPr algn="l" indent="0" marL="0">
              <a:lnSpc>
                <a:spcPts val="9900"/>
              </a:lnSpc>
              <a:buNone/>
            </a:pPr>
            <a:r>
              <a:rPr lang="en-US" sz="9600" dirty="0">
                <a:solidFill>
                  <a:srgbClr val="003976"/>
                </a:solidFill>
                <a:latin typeface="Source Sans 3 Black" pitchFamily="34" charset="0"/>
                <a:ea typeface="Source Sans 3 Black" pitchFamily="34" charset="-122"/>
                <a:cs typeface="Source Sans 3 Black" pitchFamily="34" charset="-120"/>
              </a:rPr>
              <a:t>Thank you  /  Welcome</a:t>
            </a:r>
            <a:endParaRPr lang="en-US" sz="9600" dirty="0"/>
          </a:p>
        </p:txBody>
      </p:sp>
      <p:sp>
        <p:nvSpPr>
          <p:cNvPr id="8" name="Placeholder support"/>
          <p:cNvSpPr>
            <a:spLocks noGrp="1"/>
          </p:cNvSpPr>
          <p:nvPr>
            <p:ph idx="106" type="body" hasCustomPrompt="1"/>
          </p:nvPr>
        </p:nvSpPr>
        <p:spPr>
          <a:xfrm>
            <a:off x="685800" y="4533961"/>
            <a:ext cx="7239030" cy="1485900"/>
          </a:xfrm>
          <a:prstGeom prst="rect">
            <a:avLst/>
          </a:prstGeom>
          <a:noFill/>
          <a:ln/>
        </p:spPr>
        <p:txBody>
          <a:bodyPr wrap="square" rtlCol="0" lIns="0" tIns="0" rIns="0" bIns="0" anchor="t">
            <a:normAutofit/>
          </a:bodyPr>
          <a:lstStyle>
            <a:lvl1pPr algn="l" indent="0" marL="0">
              <a:lnSpc>
                <a:spcPts val="3750"/>
              </a:lnSpc>
              <a:buNone/>
              <a:defRPr sz="3000">
                <a:solidFill>
                  <a:srgbClr val="1B2533"/>
                </a:solidFill>
                <a:latin typeface="Source Sans 3" pitchFamily="34" charset="0"/>
                <a:ea typeface="Source Sans 3" pitchFamily="34" charset="-122"/>
                <a:cs typeface="Source Sans 3" pitchFamily="34" charset="-120"/>
              </a:defRPr>
            </a:lvl1p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Who and why, up to 3 lines</a:t>
            </a:r>
            <a:endParaRPr lang="en-US" sz="3000" dirty="0"/>
          </a:p>
        </p:txBody>
      </p:sp>
      <p:sp>
        <p:nvSpPr>
          <p:cNvPr id="9" name="Placeholder next"/>
          <p:cNvSpPr>
            <a:spLocks noGrp="1"/>
          </p:cNvSpPr>
          <p:nvPr>
            <p:ph idx="107" type="body" hasCustomPrompt="1"/>
          </p:nvPr>
        </p:nvSpPr>
        <p:spPr>
          <a:xfrm>
            <a:off x="685800" y="6153180"/>
            <a:ext cx="7239030" cy="476220"/>
          </a:xfrm>
          <a:prstGeom prst="rect">
            <a:avLst/>
          </a:prstGeom>
          <a:noFill/>
          <a:ln/>
        </p:spPr>
        <p:txBody>
          <a:bodyPr wrap="square" rtlCol="0" lIns="0" tIns="0" rIns="0" bIns="0" anchor="ctr">
            <a:normAutofit/>
          </a:bodyPr>
          <a:lstStyle>
            <a:lvl1pPr algn="l" indent="0" marL="0">
              <a:lnSpc>
                <a:spcPts val="3300"/>
              </a:lnSpc>
              <a:buNone/>
              <a:defRPr sz="2700">
                <a:solidFill>
                  <a:srgbClr val="003976"/>
                </a:solidFill>
                <a:latin typeface="Source Code Pro" pitchFamily="34" charset="0"/>
                <a:ea typeface="Source Code Pro" pitchFamily="34" charset="-122"/>
                <a:cs typeface="Source Code Pro" pitchFamily="34" charset="-120"/>
              </a:defRPr>
            </a:lvl1p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What is next, e.g. Next: [event, date]</a:t>
            </a:r>
            <a:endParaRPr lang="en-US" sz="270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laceholder eyebrow"/>
          <p:cNvSpPr/>
          <p:nvPr>
            <p:ph idx="104" type="body"/>
          </p:nvPr>
        </p:nvSpPr>
        <p:spPr>
          <a:xfrm>
            <a:off x="685800" y="1181130"/>
            <a:ext cx="72390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ANNOUNCEMENT</a:t>
            </a:r>
            <a:endParaRPr lang="en-US" sz="2700" dirty="0"/>
          </a:p>
        </p:txBody>
      </p:sp>
      <p:sp>
        <p:nvSpPr>
          <p:cNvPr id="3" name="Placeholder headline"/>
          <p:cNvSpPr/>
          <p:nvPr>
            <p:ph idx="105" type="title"/>
          </p:nvPr>
        </p:nvSpPr>
        <p:spPr>
          <a:xfrm>
            <a:off x="685800" y="1790761"/>
            <a:ext cx="8915400" cy="3028950"/>
          </a:xfrm>
          <a:prstGeom prst="rect">
            <a:avLst/>
          </a:prstGeom>
          <a:noFill/>
          <a:ln/>
        </p:spPr>
        <p:txBody>
          <a:bodyPr wrap="square" lIns="0" tIns="0" rIns="0" bIns="0" rtlCol="0" anchor="t">
            <a:normAutofit/>
          </a:bodyPr>
          <a:lstStyle/>
          <a:p>
            <a:pPr algn="l" indent="0" marL="0">
              <a:lnSpc>
                <a:spcPts val="7800"/>
              </a:lnSpc>
              <a:buNone/>
            </a:pPr>
            <a:r>
              <a:rPr lang="en-US" sz="7200" b="1" dirty="0">
                <a:solidFill>
                  <a:srgbClr val="FFFFFF"/>
                </a:solidFill>
                <a:latin typeface="Source Sans 3" pitchFamily="34" charset="0"/>
                <a:ea typeface="Source Sans 3" pitchFamily="34" charset="-122"/>
                <a:cs typeface="Source Sans 3" pitchFamily="34" charset="-120"/>
              </a:rPr>
              <a:t>Summer robotics internship</a:t>
            </a:r>
            <a:endParaRPr lang="en-US" sz="7200" dirty="0"/>
          </a:p>
        </p:txBody>
      </p:sp>
      <p:sp>
        <p:nvSpPr>
          <p:cNvPr id="4" name="Placeholder support"/>
          <p:cNvSpPr/>
          <p:nvPr>
            <p:ph idx="106" type="body"/>
          </p:nvPr>
        </p:nvSpPr>
        <p:spPr>
          <a:xfrm>
            <a:off x="685800" y="5029200"/>
            <a:ext cx="8915400" cy="148590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High school students: spend your summer on a real robotics research team at Kent State University.</a:t>
            </a:r>
            <a:endParaRPr lang="en-US" sz="3000" dirty="0"/>
          </a:p>
        </p:txBody>
      </p:sp>
      <p:sp>
        <p:nvSpPr>
          <p:cNvPr id="5" name="Placeholder link"/>
          <p:cNvSpPr/>
          <p:nvPr>
            <p:ph idx="107" type="body"/>
          </p:nvPr>
        </p:nvSpPr>
        <p:spPr>
          <a:xfrm>
            <a:off x="685800" y="6648511"/>
            <a:ext cx="89154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atr.cs.kent.edu</a:t>
            </a:r>
            <a:endParaRPr lang="en-US" sz="2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laceholder eyebrow"/>
          <p:cNvSpPr/>
          <p:nvPr>
            <p:ph idx="104" type="body"/>
          </p:nvPr>
        </p:nvSpPr>
        <p:spPr>
          <a:xfrm>
            <a:off x="685800" y="1647840"/>
            <a:ext cx="89154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EVENT</a:t>
            </a:r>
            <a:endParaRPr lang="en-US" sz="2700" dirty="0"/>
          </a:p>
        </p:txBody>
      </p:sp>
      <p:sp>
        <p:nvSpPr>
          <p:cNvPr id="3" name="Placeholder headline"/>
          <p:cNvSpPr/>
          <p:nvPr>
            <p:ph idx="105" type="title"/>
          </p:nvPr>
        </p:nvSpPr>
        <p:spPr>
          <a:xfrm>
            <a:off x="685800" y="2295510"/>
            <a:ext cx="8915400" cy="2038380"/>
          </a:xfrm>
          <a:prstGeom prst="rect">
            <a:avLst/>
          </a:prstGeom>
          <a:noFill/>
          <a:ln/>
        </p:spPr>
        <p:txBody>
          <a:bodyPr wrap="square" lIns="0" tIns="0" rIns="0" bIns="0" rtlCol="0" anchor="t">
            <a:normAutofit/>
          </a:bodyPr>
          <a:lstStyle/>
          <a:p>
            <a:pPr algn="l" indent="0" marL="0">
              <a:lnSpc>
                <a:spcPts val="7800"/>
              </a:lnSpc>
              <a:buNone/>
            </a:pPr>
            <a:r>
              <a:rPr lang="en-US" sz="7200" b="1" dirty="0">
                <a:solidFill>
                  <a:srgbClr val="003976"/>
                </a:solidFill>
                <a:latin typeface="Source Sans 3" pitchFamily="34" charset="0"/>
                <a:ea typeface="Source Sans 3" pitchFamily="34" charset="-122"/>
                <a:cs typeface="Source Sans 3" pitchFamily="34" charset="-120"/>
              </a:rPr>
              <a:t>Robot demos and open lab night</a:t>
            </a:r>
            <a:endParaRPr lang="en-US" sz="7200" dirty="0"/>
          </a:p>
        </p:txBody>
      </p:sp>
      <p:sp>
        <p:nvSpPr>
          <p:cNvPr id="4" name="Placeholder when"/>
          <p:cNvSpPr/>
          <p:nvPr>
            <p:ph idx="107" type="body"/>
          </p:nvPr>
        </p:nvSpPr>
        <p:spPr>
          <a:xfrm>
            <a:off x="1447770" y="4581510"/>
            <a:ext cx="6476970" cy="100968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[Thursday, Sept. 23]  ·  [6-8 p.m.]</a:t>
            </a:r>
            <a:endParaRPr lang="en-US" sz="3000" dirty="0"/>
          </a:p>
        </p:txBody>
      </p:sp>
      <p:sp>
        <p:nvSpPr>
          <p:cNvPr id="5" name="Placeholder where"/>
          <p:cNvSpPr/>
          <p:nvPr>
            <p:ph idx="109" type="body"/>
          </p:nvPr>
        </p:nvSpPr>
        <p:spPr>
          <a:xfrm>
            <a:off x="1447770" y="5724510"/>
            <a:ext cx="6476970" cy="100968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[Room], Mathematical Sciences Building</a:t>
            </a:r>
            <a:endParaRPr lang="en-US" sz="3000" dirty="0"/>
          </a:p>
        </p:txBody>
      </p:sp>
      <p:sp>
        <p:nvSpPr>
          <p:cNvPr id="6" name="Placeholder cta"/>
          <p:cNvSpPr/>
          <p:nvPr>
            <p:ph idx="110" type="body"/>
          </p:nvPr>
        </p:nvSpPr>
        <p:spPr>
          <a:xfrm>
            <a:off x="685800" y="6943771"/>
            <a:ext cx="72390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RSVP: [link]</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laceholder eyebrow"/>
          <p:cNvSpPr/>
          <p:nvPr>
            <p:ph idx="104" type="body"/>
          </p:nvPr>
        </p:nvSpPr>
        <p:spPr>
          <a:xfrm>
            <a:off x="685800" y="1304940"/>
            <a:ext cx="72390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PAPER ACCEPTED  ·  [VENUE 2027]</a:t>
            </a:r>
            <a:endParaRPr lang="en-US" sz="2700" dirty="0"/>
          </a:p>
        </p:txBody>
      </p:sp>
      <p:sp>
        <p:nvSpPr>
          <p:cNvPr id="3" name="Placeholder title"/>
          <p:cNvSpPr/>
          <p:nvPr>
            <p:ph idx="105" type="title"/>
          </p:nvPr>
        </p:nvSpPr>
        <p:spPr>
          <a:xfrm>
            <a:off x="685800" y="1952610"/>
            <a:ext cx="8915400" cy="2724180"/>
          </a:xfrm>
          <a:prstGeom prst="rect">
            <a:avLst/>
          </a:prstGeom>
          <a:noFill/>
          <a:ln/>
        </p:spPr>
        <p:txBody>
          <a:bodyPr wrap="square" lIns="0" tIns="0" rIns="0" bIns="0" rtlCol="0" anchor="t">
            <a:normAutofit/>
          </a:bodyPr>
          <a:lstStyle/>
          <a:p>
            <a:pPr algn="l" indent="0" marL="0">
              <a:lnSpc>
                <a:spcPts val="5250"/>
              </a:lnSpc>
              <a:buNone/>
            </a:pPr>
            <a:r>
              <a:rPr lang="en-US" sz="4800" b="1" dirty="0">
                <a:solidFill>
                  <a:srgbClr val="FFFFFF"/>
                </a:solidFill>
                <a:latin typeface="Source Sans 3" pitchFamily="34" charset="0"/>
                <a:ea typeface="Source Sans 3" pitchFamily="34" charset="-122"/>
                <a:cs typeface="Source Sans 3" pitchFamily="34" charset="-120"/>
              </a:rPr>
              <a:t>[Paper title: state the contribution in plain words, up to four lines at this size]</a:t>
            </a:r>
            <a:endParaRPr lang="en-US" sz="4800" dirty="0"/>
          </a:p>
        </p:txBody>
      </p:sp>
      <p:sp>
        <p:nvSpPr>
          <p:cNvPr id="4" name="Placeholder authors"/>
          <p:cNvSpPr/>
          <p:nvPr>
            <p:ph idx="106" type="body"/>
          </p:nvPr>
        </p:nvSpPr>
        <p:spPr>
          <a:xfrm>
            <a:off x="685800" y="4886371"/>
            <a:ext cx="8915400" cy="100968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[Author One], [Author Two] and [Author Three], Advanced Telerobotics Research Lab</a:t>
            </a:r>
            <a:endParaRPr lang="en-US" sz="3000" dirty="0"/>
          </a:p>
        </p:txBody>
      </p:sp>
      <p:sp>
        <p:nvSpPr>
          <p:cNvPr id="5" name="Placeholder venue"/>
          <p:cNvSpPr/>
          <p:nvPr>
            <p:ph idx="107" type="body"/>
          </p:nvPr>
        </p:nvSpPr>
        <p:spPr>
          <a:xfrm>
            <a:off x="685800" y="5991240"/>
            <a:ext cx="89154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[Conference], [City]  ·  [Month YYYY]</a:t>
            </a:r>
            <a:endParaRPr lang="en-US" sz="2700" dirty="0"/>
          </a:p>
        </p:txBody>
      </p:sp>
      <p:sp>
        <p:nvSpPr>
          <p:cNvPr id="6" name="Placeholder cta"/>
          <p:cNvSpPr/>
          <p:nvPr>
            <p:ph idx="108" type="body"/>
          </p:nvPr>
        </p:nvSpPr>
        <p:spPr>
          <a:xfrm>
            <a:off x="685800" y="6524610"/>
            <a:ext cx="89154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FFFFFF"/>
                </a:solidFill>
                <a:latin typeface="Source Code Pro" pitchFamily="34" charset="0"/>
                <a:ea typeface="Source Code Pro" pitchFamily="34" charset="-122"/>
                <a:cs typeface="Source Code Pro" pitchFamily="34" charset="-120"/>
              </a:rPr>
              <a:t>Read the paper: link in bio</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laceholder eyebrow"/>
          <p:cNvSpPr/>
          <p:nvPr>
            <p:ph idx="104" type="body"/>
          </p:nvPr>
        </p:nvSpPr>
        <p:spPr>
          <a:xfrm>
            <a:off x="685800" y="1904970"/>
            <a:ext cx="89154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JOIN THE LAB</a:t>
            </a:r>
            <a:endParaRPr lang="en-US" sz="2700" dirty="0"/>
          </a:p>
        </p:txBody>
      </p:sp>
      <p:sp>
        <p:nvSpPr>
          <p:cNvPr id="3" name="Placeholder headline"/>
          <p:cNvSpPr/>
          <p:nvPr>
            <p:ph idx="105" type="title"/>
          </p:nvPr>
        </p:nvSpPr>
        <p:spPr>
          <a:xfrm>
            <a:off x="685800" y="2552639"/>
            <a:ext cx="8915400" cy="2038380"/>
          </a:xfrm>
          <a:prstGeom prst="rect">
            <a:avLst/>
          </a:prstGeom>
          <a:noFill/>
          <a:ln/>
        </p:spPr>
        <p:txBody>
          <a:bodyPr wrap="square" lIns="0" tIns="0" rIns="0" bIns="0" rtlCol="0" anchor="t">
            <a:normAutofit/>
          </a:bodyPr>
          <a:lstStyle/>
          <a:p>
            <a:pPr algn="l" indent="0" marL="0">
              <a:lnSpc>
                <a:spcPts val="7800"/>
              </a:lnSpc>
              <a:buNone/>
            </a:pPr>
            <a:r>
              <a:rPr lang="en-US" sz="7200" b="1" dirty="0">
                <a:solidFill>
                  <a:srgbClr val="003976"/>
                </a:solidFill>
                <a:latin typeface="Source Sans 3" pitchFamily="34" charset="0"/>
                <a:ea typeface="Source Sans 3" pitchFamily="34" charset="-122"/>
                <a:cs typeface="Source Sans 3" pitchFamily="34" charset="-120"/>
              </a:rPr>
              <a:t>Build real robots before you graduate.</a:t>
            </a:r>
            <a:endParaRPr lang="en-US" sz="7200" dirty="0"/>
          </a:p>
        </p:txBody>
      </p:sp>
      <p:sp>
        <p:nvSpPr>
          <p:cNvPr id="4" name="Placeholder points"/>
          <p:cNvSpPr/>
          <p:nvPr>
            <p:ph idx="106" type="body"/>
          </p:nvPr>
        </p:nvSpPr>
        <p:spPr>
          <a:xfrm>
            <a:off x="685800" y="4838639"/>
            <a:ext cx="7239030" cy="1714500"/>
          </a:xfrm>
          <a:prstGeom prst="rect">
            <a:avLst/>
          </a:prstGeom>
          <a:noFill/>
          <a:ln/>
        </p:spPr>
        <p:txBody>
          <a:bodyPr wrap="square" lIns="0" tIns="0" rIns="0" bIns="0" rtlCol="0" anchor="t">
            <a:normAutofit/>
          </a:bodyPr>
          <a:lstStyle/>
          <a:p>
            <a:pPr algn="l" marL="381000" indent="-381000">
              <a:lnSpc>
                <a:spcPts val="3750"/>
              </a:lnSpc>
              <a:spcAft>
                <a:spcPts val="600"/>
              </a:spcAft>
              <a:buSzPct val="100000"/>
              <a:buChar char="▸"/>
            </a:pPr>
            <a:r>
              <a:rPr lang="en-US" sz="3000" dirty="0">
                <a:solidFill>
                  <a:srgbClr val="1B2533"/>
                </a:solidFill>
                <a:latin typeface="Source Sans 3" pitchFamily="34" charset="0"/>
                <a:ea typeface="Source Sans 3" pitchFamily="34" charset="-122"/>
                <a:cs typeface="Source Sans 3" pitchFamily="34" charset="-120"/>
              </a:rPr>
              <a:t>[Who can apply]</a:t>
            </a:r>
            <a:endParaRPr lang="en-US" sz="3000" dirty="0"/>
          </a:p>
          <a:p>
            <a:pPr algn="l" marL="381000" indent="-381000">
              <a:lnSpc>
                <a:spcPts val="3750"/>
              </a:lnSpc>
              <a:spcAft>
                <a:spcPts val="600"/>
              </a:spcAft>
              <a:buSzPct val="100000"/>
              <a:buChar char="▸"/>
            </a:pPr>
            <a:r>
              <a:rPr lang="en-US" sz="3000" dirty="0">
                <a:solidFill>
                  <a:srgbClr val="1B2533"/>
                </a:solidFill>
                <a:latin typeface="Source Sans 3" pitchFamily="34" charset="0"/>
                <a:ea typeface="Source Sans 3" pitchFamily="34" charset="-122"/>
                <a:cs typeface="Source Sans 3" pitchFamily="34" charset="-120"/>
              </a:rPr>
              <a:t>[What you would work on]</a:t>
            </a:r>
            <a:endParaRPr lang="en-US" sz="3000" dirty="0"/>
          </a:p>
          <a:p>
            <a:pPr algn="l" marL="381000" indent="-381000">
              <a:lnSpc>
                <a:spcPts val="3750"/>
              </a:lnSpc>
              <a:spcAft>
                <a:spcPts val="600"/>
              </a:spcAft>
              <a:buSzPct val="100000"/>
              <a:buChar char="▸"/>
            </a:pPr>
            <a:r>
              <a:rPr lang="en-US" sz="3000" dirty="0">
                <a:solidFill>
                  <a:srgbClr val="1B2533"/>
                </a:solidFill>
                <a:latin typeface="Source Sans 3" pitchFamily="34" charset="0"/>
                <a:ea typeface="Source Sans 3" pitchFamily="34" charset="-122"/>
                <a:cs typeface="Source Sans 3" pitchFamily="34" charset="-120"/>
              </a:rPr>
              <a:t>[How and when to apply]</a:t>
            </a:r>
            <a:endParaRPr lang="en-US" sz="3000" dirty="0"/>
          </a:p>
        </p:txBody>
      </p:sp>
      <p:sp>
        <p:nvSpPr>
          <p:cNvPr id="5" name="Placeholder cta"/>
          <p:cNvSpPr/>
          <p:nvPr>
            <p:ph idx="107" type="body"/>
          </p:nvPr>
        </p:nvSpPr>
        <p:spPr>
          <a:xfrm>
            <a:off x="685800" y="6686550"/>
            <a:ext cx="72390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atr.cs.kent.edu  ·  [Join page]</a:t>
            </a:r>
            <a:endParaRPr lang="en-US" sz="2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laceholder eyebrow"/>
          <p:cNvSpPr/>
          <p:nvPr>
            <p:ph idx="104" type="body"/>
          </p:nvPr>
        </p:nvSpPr>
        <p:spPr>
          <a:xfrm>
            <a:off x="685800" y="1409730"/>
            <a:ext cx="72390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MILESTONE</a:t>
            </a:r>
            <a:endParaRPr lang="en-US" sz="2700" dirty="0"/>
          </a:p>
        </p:txBody>
      </p:sp>
      <p:sp>
        <p:nvSpPr>
          <p:cNvPr id="3" name="Placeholder number"/>
          <p:cNvSpPr/>
          <p:nvPr>
            <p:ph idx="105" type="title"/>
          </p:nvPr>
        </p:nvSpPr>
        <p:spPr>
          <a:xfrm>
            <a:off x="685800" y="1981230"/>
            <a:ext cx="8915400" cy="2800350"/>
          </a:xfrm>
          <a:prstGeom prst="rect">
            <a:avLst/>
          </a:prstGeom>
          <a:noFill/>
          <a:ln/>
        </p:spPr>
        <p:txBody>
          <a:bodyPr wrap="square" lIns="0" tIns="0" rIns="0" bIns="0" rtlCol="0" anchor="ctr">
            <a:normAutofit/>
          </a:bodyPr>
          <a:lstStyle/>
          <a:p>
            <a:pPr algn="l" indent="0" marL="0">
              <a:lnSpc>
                <a:spcPts val="21600"/>
              </a:lnSpc>
              <a:buNone/>
            </a:pPr>
            <a:r>
              <a:rPr lang="en-US" sz="21000" b="1" spc="-200" kern="0" dirty="0">
                <a:solidFill>
                  <a:srgbClr val="EFAB00"/>
                </a:solidFill>
                <a:latin typeface="Roboto Slab" pitchFamily="34" charset="0"/>
                <a:ea typeface="Roboto Slab" pitchFamily="34" charset="-122"/>
                <a:cs typeface="Roboto Slab" pitchFamily="34" charset="-120"/>
              </a:rPr>
              <a:t>[10]</a:t>
            </a:r>
            <a:endParaRPr lang="en-US" sz="21000" dirty="0"/>
          </a:p>
        </p:txBody>
      </p:sp>
      <p:sp>
        <p:nvSpPr>
          <p:cNvPr id="4" name="Placeholder label"/>
          <p:cNvSpPr/>
          <p:nvPr>
            <p:ph idx="106" type="body"/>
          </p:nvPr>
        </p:nvSpPr>
        <p:spPr>
          <a:xfrm>
            <a:off x="685800" y="4800600"/>
            <a:ext cx="8915400" cy="148590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FFFFFF"/>
                </a:solidFill>
                <a:latin typeface="Source Sans 3" pitchFamily="34" charset="0"/>
                <a:ea typeface="Source Sans 3" pitchFamily="34" charset="-122"/>
                <a:cs typeface="Source Sans 3" pitchFamily="34" charset="-120"/>
              </a:rPr>
              <a:t>years of telerobotics research at Kent State: the lab opened its doors in spring 2017</a:t>
            </a:r>
            <a:endParaRPr lang="en-US" sz="3000" dirty="0"/>
          </a:p>
        </p:txBody>
      </p:sp>
      <p:sp>
        <p:nvSpPr>
          <p:cNvPr id="5" name="Placeholder source"/>
          <p:cNvSpPr/>
          <p:nvPr>
            <p:ph idx="107" type="body"/>
          </p:nvPr>
        </p:nvSpPr>
        <p:spPr>
          <a:xfrm>
            <a:off x="685800" y="6419911"/>
            <a:ext cx="89154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atr.cs.kent.edu/[news post]</a:t>
            </a:r>
            <a:endParaRPr lang="en-US" sz="2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laceholder eyebrow"/>
          <p:cNvSpPr/>
          <p:nvPr>
            <p:ph idx="104" type="body"/>
          </p:nvPr>
        </p:nvSpPr>
        <p:spPr>
          <a:xfrm>
            <a:off x="685800" y="1228771"/>
            <a:ext cx="72390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[STUDENT SPOTLIGHT]</a:t>
            </a:r>
            <a:endParaRPr lang="en-US" sz="2700" dirty="0"/>
          </a:p>
        </p:txBody>
      </p:sp>
      <p:pic>
        <p:nvPicPr>
          <p:cNvPr id="3" name="Picture Placeholder photo" descr="Photo placeholder: replace with a real photo of the person">    </p:cNvPr>
          <p:cNvPicPr>
            <a:picLocks noChangeAspect="1"/>
          </p:cNvPicPr>
          <p:nvPr>
            <p:ph idx="105" type="pic"/>
          </p:nvPr>
        </p:nvPicPr>
        <p:blipFill>
          <a:blip r:embed="rId1"/>
          <a:stretch>
            <a:fillRect/>
          </a:stretch>
        </p:blipFill>
        <p:spPr>
          <a:xfrm>
            <a:off x="685800" y="1876440"/>
            <a:ext cx="2857500" cy="2857500"/>
          </a:xfrm>
          <a:prstGeom prst="rect">
            <a:avLst/>
          </a:prstGeom>
        </p:spPr>
      </p:pic>
      <p:sp>
        <p:nvSpPr>
          <p:cNvPr id="4" name="Placeholder name"/>
          <p:cNvSpPr/>
          <p:nvPr>
            <p:ph idx="106" type="body"/>
          </p:nvPr>
        </p:nvSpPr>
        <p:spPr>
          <a:xfrm>
            <a:off x="3886200" y="2609880"/>
            <a:ext cx="5715000" cy="533370"/>
          </a:xfrm>
          <a:prstGeom prst="rect">
            <a:avLst/>
          </a:prstGeom>
          <a:noFill/>
          <a:ln/>
        </p:spPr>
        <p:txBody>
          <a:bodyPr wrap="square" lIns="0" tIns="0" rIns="0" bIns="0" rtlCol="0" anchor="ctr">
            <a:normAutofit/>
          </a:bodyPr>
          <a:lstStyle/>
          <a:p>
            <a:pPr algn="l" indent="0" marL="0">
              <a:lnSpc>
                <a:spcPts val="3750"/>
              </a:lnSpc>
              <a:buNone/>
            </a:pPr>
            <a:r>
              <a:rPr lang="en-US" sz="3000" b="1" dirty="0">
                <a:solidFill>
                  <a:srgbClr val="FFFFFF"/>
                </a:solidFill>
                <a:latin typeface="Source Sans 3" pitchFamily="34" charset="0"/>
                <a:ea typeface="Source Sans 3" pitchFamily="34" charset="-122"/>
                <a:cs typeface="Source Sans 3" pitchFamily="34" charset="-120"/>
              </a:rPr>
              <a:t>[First Last]</a:t>
            </a:r>
            <a:endParaRPr lang="en-US" sz="3000" dirty="0"/>
          </a:p>
        </p:txBody>
      </p:sp>
      <p:sp>
        <p:nvSpPr>
          <p:cNvPr id="5" name="Placeholder role"/>
          <p:cNvSpPr/>
          <p:nvPr>
            <p:ph idx="107" type="body"/>
          </p:nvPr>
        </p:nvSpPr>
        <p:spPr>
          <a:xfrm>
            <a:off x="3886200" y="3162361"/>
            <a:ext cx="5715000" cy="895380"/>
          </a:xfrm>
          <a:prstGeom prst="rect">
            <a:avLst/>
          </a:prstGeom>
          <a:noFill/>
          <a:ln/>
        </p:spPr>
        <p:txBody>
          <a:bodyPr wrap="square" lIns="0" tIns="0" rIns="0" bIns="0" rtlCol="0" anchor="t">
            <a:normAutofit/>
          </a:bodyPr>
          <a:lstStyle/>
          <a:p>
            <a:pPr algn="l" indent="0" marL="0">
              <a:lnSpc>
                <a:spcPts val="3300"/>
              </a:lnSpc>
              <a:buNone/>
            </a:pPr>
            <a:r>
              <a:rPr lang="en-US" sz="2700" dirty="0">
                <a:solidFill>
                  <a:srgbClr val="FFFFFF"/>
                </a:solidFill>
                <a:latin typeface="Source Sans 3" pitchFamily="34" charset="0"/>
                <a:ea typeface="Source Sans 3" pitchFamily="34" charset="-122"/>
                <a:cs typeface="Source Sans 3" pitchFamily="34" charset="-120"/>
              </a:rPr>
              <a:t>[Ph.D. student, computer science]</a:t>
            </a:r>
            <a:endParaRPr lang="en-US" sz="2700" dirty="0"/>
          </a:p>
        </p:txBody>
      </p:sp>
      <p:sp>
        <p:nvSpPr>
          <p:cNvPr id="6" name="Placeholder quote"/>
          <p:cNvSpPr/>
          <p:nvPr>
            <p:ph idx="109" type="body"/>
          </p:nvPr>
        </p:nvSpPr>
        <p:spPr>
          <a:xfrm>
            <a:off x="1904970" y="5076840"/>
            <a:ext cx="7696230" cy="2000250"/>
          </a:xfrm>
          <a:prstGeom prst="rect">
            <a:avLst/>
          </a:prstGeom>
          <a:noFill/>
          <a:ln/>
        </p:spPr>
        <p:txBody>
          <a:bodyPr wrap="square" lIns="0" tIns="0" rIns="0" bIns="0" rtlCol="0" anchor="t">
            <a:normAutofit/>
          </a:bodyPr>
          <a:lstStyle/>
          <a:p>
            <a:pPr algn="l" indent="0" marL="0">
              <a:lnSpc>
                <a:spcPts val="5100"/>
              </a:lnSpc>
              <a:buNone/>
            </a:pPr>
            <a:r>
              <a:rPr lang="en-US" sz="4200" dirty="0">
                <a:solidFill>
                  <a:srgbClr val="FFFFFF"/>
                </a:solidFill>
                <a:latin typeface="Roboto Slab" pitchFamily="34" charset="0"/>
                <a:ea typeface="Roboto Slab" pitchFamily="34" charset="-122"/>
                <a:cs typeface="Roboto Slab" pitchFamily="34" charset="-120"/>
              </a:rPr>
              <a:t>[A short quote the person approved, 25 words or fewer.]</a:t>
            </a:r>
            <a:endParaRPr lang="en-US" sz="4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laceholder eyebrow"/>
          <p:cNvSpPr/>
          <p:nvPr>
            <p:ph idx="104" type="body"/>
          </p:nvPr>
        </p:nvSpPr>
        <p:spPr>
          <a:xfrm>
            <a:off x="685800" y="695310"/>
            <a:ext cx="723903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EFAB00"/>
                </a:solidFill>
                <a:latin typeface="Source Sans 3" pitchFamily="34" charset="0"/>
                <a:ea typeface="Source Sans 3" pitchFamily="34" charset="-122"/>
                <a:cs typeface="Source Sans 3" pitchFamily="34" charset="-120"/>
              </a:rPr>
              <a:t>ATR LAB  ·  DEMO VIDEO</a:t>
            </a:r>
            <a:endParaRPr lang="en-US" sz="2700" dirty="0"/>
          </a:p>
        </p:txBody>
      </p:sp>
      <p:pic>
        <p:nvPicPr>
          <p:cNvPr id="3" name="Picture Placeholder frame" descr="Video frame placeholder: replace with a real frame from the video">    </p:cNvPr>
          <p:cNvPicPr>
            <a:picLocks noChangeAspect="1"/>
          </p:cNvPicPr>
          <p:nvPr>
            <p:ph idx="105" type="pic"/>
          </p:nvPr>
        </p:nvPicPr>
        <p:blipFill>
          <a:blip r:embed="rId1"/>
          <a:stretch>
            <a:fillRect/>
          </a:stretch>
        </p:blipFill>
        <p:spPr>
          <a:xfrm>
            <a:off x="685800" y="1266810"/>
            <a:ext cx="6476970" cy="3648090"/>
          </a:xfrm>
          <a:prstGeom prst="rect">
            <a:avLst/>
          </a:prstGeom>
        </p:spPr>
      </p:pic>
      <p:pic>
        <p:nvPicPr>
          <p:cNvPr id="4" name="Play badge" descr="Play">    </p:cNvPr>
          <p:cNvPicPr>
            <a:picLocks noChangeAspect="1"/>
          </p:cNvPicPr>
          <p:nvPr/>
        </p:nvPicPr>
        <p:blipFill>
          <a:blip r:embed="rId2"/>
          <a:stretch>
            <a:fillRect/>
          </a:stretch>
        </p:blipFill>
        <p:spPr>
          <a:xfrm>
            <a:off x="685800" y="3848070"/>
            <a:ext cx="1066830" cy="1066830"/>
          </a:xfrm>
          <a:prstGeom prst="rect">
            <a:avLst/>
          </a:prstGeom>
        </p:spPr>
      </p:pic>
      <p:sp>
        <p:nvSpPr>
          <p:cNvPr id="5" name="Placeholder title"/>
          <p:cNvSpPr/>
          <p:nvPr>
            <p:ph idx="106" type="title"/>
          </p:nvPr>
        </p:nvSpPr>
        <p:spPr>
          <a:xfrm>
            <a:off x="685800" y="5143500"/>
            <a:ext cx="8915400" cy="1390620"/>
          </a:xfrm>
          <a:prstGeom prst="rect">
            <a:avLst/>
          </a:prstGeom>
          <a:noFill/>
          <a:ln/>
        </p:spPr>
        <p:txBody>
          <a:bodyPr wrap="square" lIns="0" tIns="0" rIns="0" bIns="0" rtlCol="0" anchor="t">
            <a:normAutofit/>
          </a:bodyPr>
          <a:lstStyle/>
          <a:p>
            <a:pPr algn="l" indent="0" marL="0">
              <a:lnSpc>
                <a:spcPts val="5250"/>
              </a:lnSpc>
              <a:buNone/>
            </a:pPr>
            <a:r>
              <a:rPr lang="en-US" sz="4800" b="1" dirty="0">
                <a:solidFill>
                  <a:srgbClr val="FFFFFF"/>
                </a:solidFill>
                <a:latin typeface="Source Sans 3" pitchFamily="34" charset="0"/>
                <a:ea typeface="Source Sans 3" pitchFamily="34" charset="-122"/>
                <a:cs typeface="Source Sans 3" pitchFamily="34" charset="-120"/>
              </a:rPr>
              <a:t>[What the robot does, in five words]</a:t>
            </a:r>
            <a:endParaRPr lang="en-US" sz="4800" dirty="0"/>
          </a:p>
        </p:txBody>
      </p:sp>
      <p:sp>
        <p:nvSpPr>
          <p:cNvPr id="6" name="Placeholder flags"/>
          <p:cNvSpPr/>
          <p:nvPr>
            <p:ph idx="107" type="body"/>
          </p:nvPr>
        </p:nvSpPr>
        <p:spPr>
          <a:xfrm>
            <a:off x="685800" y="6629400"/>
            <a:ext cx="89154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EFAB00"/>
                </a:solidFill>
                <a:latin typeface="Source Code Pro" pitchFamily="34" charset="0"/>
                <a:ea typeface="Source Code Pro" pitchFamily="34" charset="-122"/>
                <a:cs typeface="Source Code Pro" pitchFamily="34" charset="-120"/>
              </a:rPr>
              <a:t>[2X SPEED]  ·  [TELEOPERATED]</a:t>
            </a:r>
            <a:endParaRPr lang="en-US" sz="2700" dirty="0"/>
          </a:p>
        </p:txBody>
      </p:sp>
      <p:sp>
        <p:nvSpPr>
          <p:cNvPr id="7" name="Placeholder cta"/>
          <p:cNvSpPr/>
          <p:nvPr>
            <p:ph idx="108" type="body"/>
          </p:nvPr>
        </p:nvSpPr>
        <p:spPr>
          <a:xfrm>
            <a:off x="685800" y="7124730"/>
            <a:ext cx="891540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FFFFFF"/>
                </a:solidFill>
                <a:latin typeface="Source Code Pro" pitchFamily="34" charset="0"/>
                <a:ea typeface="Source Code Pro" pitchFamily="34" charset="-122"/>
                <a:cs typeface="Source Code Pro" pitchFamily="34" charset="-120"/>
              </a:rPr>
              <a:t>Full video on YouTube: link in bio</a:t>
            </a:r>
            <a:endParaRPr lang="en-US" sz="2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laceholder eyebrow"/>
          <p:cNvSpPr/>
          <p:nvPr>
            <p:ph idx="104" type="body"/>
          </p:nvPr>
        </p:nvSpPr>
        <p:spPr>
          <a:xfrm>
            <a:off x="685800" y="2438430"/>
            <a:ext cx="8915400" cy="476220"/>
          </a:xfrm>
          <a:prstGeom prst="rect">
            <a:avLst/>
          </a:prstGeom>
          <a:noFill/>
          <a:ln/>
        </p:spPr>
        <p:txBody>
          <a:bodyPr wrap="square" lIns="0" tIns="0" rIns="0" bIns="0" rtlCol="0" anchor="ctr">
            <a:normAutofit/>
          </a:bodyPr>
          <a:lstStyle/>
          <a:p>
            <a:pPr algn="l" indent="0" marL="0">
              <a:lnSpc>
                <a:spcPts val="3300"/>
              </a:lnSpc>
              <a:buNone/>
            </a:pPr>
            <a:r>
              <a:rPr lang="en-US" sz="2700" b="1" spc="300" kern="0" dirty="0">
                <a:solidFill>
                  <a:srgbClr val="003976"/>
                </a:solidFill>
                <a:latin typeface="Source Sans 3" pitchFamily="34" charset="0"/>
                <a:ea typeface="Source Sans 3" pitchFamily="34" charset="-122"/>
                <a:cs typeface="Source Sans 3" pitchFamily="34" charset="-120"/>
              </a:rPr>
              <a:t>ATR LAB  ·  THANK YOU</a:t>
            </a:r>
            <a:endParaRPr lang="en-US" sz="2700" dirty="0"/>
          </a:p>
        </p:txBody>
      </p:sp>
      <p:sp>
        <p:nvSpPr>
          <p:cNvPr id="3" name="Placeholder display"/>
          <p:cNvSpPr/>
          <p:nvPr>
            <p:ph idx="105" type="title"/>
          </p:nvPr>
        </p:nvSpPr>
        <p:spPr>
          <a:xfrm>
            <a:off x="685800" y="3086100"/>
            <a:ext cx="8915400" cy="1314450"/>
          </a:xfrm>
          <a:prstGeom prst="rect">
            <a:avLst/>
          </a:prstGeom>
          <a:noFill/>
          <a:ln/>
        </p:spPr>
        <p:txBody>
          <a:bodyPr wrap="square" lIns="0" tIns="0" rIns="0" bIns="0" rtlCol="0" anchor="ctr">
            <a:normAutofit/>
          </a:bodyPr>
          <a:lstStyle/>
          <a:p>
            <a:pPr algn="l" indent="0" marL="0">
              <a:lnSpc>
                <a:spcPts val="9900"/>
              </a:lnSpc>
              <a:buNone/>
            </a:pPr>
            <a:r>
              <a:rPr lang="en-US" sz="9600" dirty="0">
                <a:solidFill>
                  <a:srgbClr val="003976"/>
                </a:solidFill>
                <a:latin typeface="Source Sans 3 Black" pitchFamily="34" charset="0"/>
                <a:ea typeface="Source Sans 3 Black" pitchFamily="34" charset="-122"/>
                <a:cs typeface="Source Sans 3 Black" pitchFamily="34" charset="-120"/>
              </a:rPr>
              <a:t>Thank you</a:t>
            </a:r>
            <a:endParaRPr lang="en-US" sz="9600" dirty="0"/>
          </a:p>
        </p:txBody>
      </p:sp>
      <p:sp>
        <p:nvSpPr>
          <p:cNvPr id="4" name="Placeholder support"/>
          <p:cNvSpPr/>
          <p:nvPr>
            <p:ph idx="106" type="body"/>
          </p:nvPr>
        </p:nvSpPr>
        <p:spPr>
          <a:xfrm>
            <a:off x="685800" y="4533961"/>
            <a:ext cx="7239030" cy="1485900"/>
          </a:xfrm>
          <a:prstGeom prst="rect">
            <a:avLst/>
          </a:prstGeom>
          <a:noFill/>
          <a:ln/>
        </p:spPr>
        <p:txBody>
          <a:bodyPr wrap="square" lIns="0" tIns="0" rIns="0" bIns="0" rtlCol="0" anchor="t">
            <a:normAutofit/>
          </a:bodyPr>
          <a:lstStyle/>
          <a:p>
            <a:pPr algn="l" indent="0" marL="0">
              <a:lnSpc>
                <a:spcPts val="3750"/>
              </a:lnSpc>
              <a:buNone/>
            </a:pPr>
            <a:r>
              <a:rPr lang="en-US" sz="3000" dirty="0">
                <a:solidFill>
                  <a:srgbClr val="1B2533"/>
                </a:solidFill>
                <a:latin typeface="Source Sans 3" pitchFamily="34" charset="0"/>
                <a:ea typeface="Source Sans 3" pitchFamily="34" charset="-122"/>
                <a:cs typeface="Source Sans 3" pitchFamily="34" charset="-120"/>
              </a:rPr>
              <a:t>[to everyone who came to open lab night on Sept. 23, and to the partners who made it possible]</a:t>
            </a:r>
            <a:endParaRPr lang="en-US" sz="3000" dirty="0"/>
          </a:p>
        </p:txBody>
      </p:sp>
      <p:sp>
        <p:nvSpPr>
          <p:cNvPr id="5" name="Placeholder next"/>
          <p:cNvSpPr/>
          <p:nvPr>
            <p:ph idx="107" type="body"/>
          </p:nvPr>
        </p:nvSpPr>
        <p:spPr>
          <a:xfrm>
            <a:off x="685800" y="6153180"/>
            <a:ext cx="7239030" cy="476220"/>
          </a:xfrm>
          <a:prstGeom prst="rect">
            <a:avLst/>
          </a:prstGeom>
          <a:noFill/>
          <a:ln/>
        </p:spPr>
        <p:txBody>
          <a:bodyPr wrap="square" lIns="0" tIns="0" rIns="0" bIns="0" rtlCol="0" anchor="ctr">
            <a:normAutofit/>
          </a:bodyPr>
          <a:lstStyle/>
          <a:p>
            <a:pPr algn="l" indent="0" marL="0">
              <a:lnSpc>
                <a:spcPts val="3300"/>
              </a:lnSpc>
              <a:buNone/>
            </a:pPr>
            <a:r>
              <a:rPr lang="en-US" sz="2700" dirty="0">
                <a:solidFill>
                  <a:srgbClr val="003976"/>
                </a:solidFill>
                <a:latin typeface="Source Code Pro" pitchFamily="34" charset="0"/>
                <a:ea typeface="Source Code Pro" pitchFamily="34" charset="-122"/>
                <a:cs typeface="Source Code Pro" pitchFamily="34" charset="-120"/>
              </a:rPr>
              <a:t>Next: [event, date]</a:t>
            </a:r>
            <a:endParaRPr lang="en-US" sz="2700" dirty="0"/>
          </a:p>
        </p:txBody>
      </p:sp>
    </p:spTree>
  </p:cSld>
  <p:clrMapOvr>
    <a:masterClrMapping/>
  </p:clrMapOvr>
</p:sld>
</file>

<file path=ppt/theme/theme1.xml><?xml version="1.0" encoding="utf-8"?>
<a:theme xmlns:a="http://schemas.openxmlformats.org/drawingml/2006/main" xmlns:r="http://schemas.openxmlformats.org/officeDocument/2006/relationships" name="ATR Lab">
  <a:themeElements>
    <a:clrScheme name="ATR Lab">
      <a:dk1>
        <a:srgbClr val="1B2533"/>
      </a:dk1>
      <a:lt1>
        <a:srgbClr val="FFFFFF"/>
      </a:lt1>
      <a:dk2>
        <a:srgbClr val="003976"/>
      </a:dk2>
      <a:lt2>
        <a:srgbClr val="F3F6FA"/>
      </a:lt2>
      <a:accent1>
        <a:srgbClr val="003976"/>
      </a:accent1>
      <a:accent2>
        <a:srgbClr val="EFAB00"/>
      </a:accent2>
      <a:accent3>
        <a:srgbClr val="2C8ECD"/>
      </a:accent3>
      <a:accent4>
        <a:srgbClr val="B63B35"/>
      </a:accent4>
      <a:accent5>
        <a:srgbClr val="059583"/>
      </a:accent5>
      <a:accent6>
        <a:srgbClr val="DC7533"/>
      </a:accent6>
      <a:hlink>
        <a:srgbClr val="1D65B9"/>
      </a:hlink>
      <a:folHlink>
        <a:srgbClr val="663E9E"/>
      </a:folHlink>
    </a:clrScheme>
    <a:fontScheme name="ATR Lab">
      <a:majorFont>
        <a:latin typeface="Source Sans 3" panose="020B0503030403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B0503030403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R Lab">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TR Navy">
      <a:srgbClr val="003976"/>
    </a:custClr>
    <a:custClr name="ATR Gold">
      <a:srgbClr val="EFAB00"/>
    </a:custClr>
    <a:custClr name="Midnight">
      <a:srgbClr val="00295F"/>
    </a:custClr>
    <a:custClr name="Sky">
      <a:srgbClr val="2C8ECD"/>
    </a:custClr>
    <a:custClr name="Ink">
      <a:srgbClr val="1B2533"/>
    </a:custClr>
    <a:custClr name="Slate">
      <a:srgbClr val="4A5868"/>
    </a:custClr>
    <a:custClr name="Bronze">
      <a:srgbClr val="8A6100"/>
    </a:custClr>
    <a:custClr name="Mist">
      <a:srgbClr val="F3F6FA"/>
    </a:custClr>
    <a:custClr name="Line">
      <a:srgbClr val="D6DEE8"/>
    </a:custClr>
    <a:custClr name="Flash">
      <a:srgbClr val="FFD702"/>
    </a:custClr>
  </a:custClr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Kent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 Lab social template: square 1080 x 1080</dc:title>
  <dc:subject>1080 x 1080 px social tile; eight named layouts with placeholders</dc:subject>
  <dc:creator>Advanced Telerobotics Research Lab, Kent State University</dc:creator>
  <cp:lastModifiedBy>Advanced Telerobotics Research Lab, Kent State University</cp:lastModifiedBy>
  <cp:revision>1</cp:revision>
  <dcterms:created xsi:type="dcterms:W3CDTF">2026-09-29T05:20:27Z</dcterms:created>
  <dcterms:modified xsi:type="dcterms:W3CDTF">2026-09-29T05:20:27Z</dcterms:modified>
</cp:coreProperties>
</file>