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1430000" cy="6429375"/>
  <p:notesSz cx="6429375" cy="11430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Announcement (navy tile). X and LinkedIn image posts (16:9), X link cards (cropped to 2:1) and LinkedIn link posts (cropped to 1.91:1). Export PNG at 1200 x 675 px.
SAFE ZONE: X link cards show the centre 2:1 band (y 37 to 637) and LinkedIn link posts the centre 1.91:1 band (y 24 to 651): everything that matters sits in y 60 to 615. The hazard band runs down the LEFT edge on this format, so the crops never slice it.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eyebrow (keep "ATR LAB ·" and change the label; about 28 characters at most), the headline (three to eight words, up to 2 lines at 54 pt; longer text shrinks to fit, so cut words rather than accept small type), the support line (2 lines) and the link line. Twelve words or fewer on the whole tile.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1200 x 675 PX (this slide is 12.5 x 7.0313 in; at PowerPoint's default 96 px/in that is exactly 1200 x 675).
PowerPoint for Mac: File &gt; Export &gt; File Format: PNG &gt; set Width 1200 and Height 675 &gt; Export; choose "Save Every Slide" for a folder of PNGs or "Save Current Slide Only".
PowerPoint for Windows: File &gt; Save As (or Save a Copy) &gt; file type PNG &gt; "Just This One" or "All Slides". Windows exports at 96 px/in, which gives 1200 x 675; check the pixel size in the file's Details tab.
Google Slides: File &gt; Download &gt; PNG image (.png, current slide). Google Slides exports at its own fixed scale, not at the slide's pixel size, so check the downloaded file's size and resize it to exactly 1200 x 675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Event (gold tile). X and LinkedIn image posts (16:9), X link cards (cropped to 2:1) and LinkedIn link posts (cropped to 1.91:1). Export PNG at 1200 x 675 px.
SAFE ZONE: X link cards show the centre 2:1 band (y 37 to 637) and LinkedIn link posts the centre 1.91:1 band (y 24 to 651): everything that matters sits in y 60 to 615. The hazard band runs down the LEFT edge on this format, so the crops never slice it.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event name (up to 2 lines at 54 pt; longer text shrinks to fit, so cut words rather than accept small type; a one-line name leaves one line of air above the date row, which is by design), the date-and-time row, the place row and the call to action. Dates follow AP style ("Sept. 23", "6-8 p.m.", "9 a.m.-noon"). GOLD TILE RULE: navy or ink text only; never white text on gold (2.0:1). There is no approved Kent State wordmark for gold fields, so the text credit next to the mark names the university.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1200 x 675 PX (this slide is 12.5 x 7.0313 in; at PowerPoint's default 96 px/in that is exactly 1200 x 675).
PowerPoint for Mac: File &gt; Export &gt; File Format: PNG &gt; set Width 1200 and Height 675 &gt; Export; choose "Save Every Slide" for a folder of PNGs or "Save Current Slide Only".
PowerPoint for Windows: File &gt; Save As (or Save a Copy) &gt; file type PNG &gt; "Just This One" or "All Slides". Windows exports at 96 px/in, which gives 1200 x 675; check the pixel size in the file's Details tab.
Google Slides: File &gt; Download &gt; PNG image (.png, current slide). Google Slides exports at its own fixed scale, not at the slide's pixel size, so check the downloaded file's size and resize it to exactly 1200 x 675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Paper accepted (navy tile). X and LinkedIn image posts (16:9), X link cards (cropped to 2:1) and LinkedIn link posts (cropped to 1.91:1). Export PNG at 1200 x 675 px.
SAFE ZONE: X link cards show the centre 2:1 band (y 37 to 637) and LinkedIn link posts the centre 1.91:1 band (y 24 to 651): everything that matters sits in y 60 to 615. The hazard band runs down the LEFT edge on this format, so the crops never slice it.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venue in the eyebrow, the paper title (no quotation marks; keep the paper's hedges; up to 3 lines at 39 pt; longer text shrinks to fit, so cut words rather than accept small type), the author line (name students only with their written permission; no Oxford comma), the venue line and the read-it line. POST ONLY after acceptance is public and any anonymity period or embargo is over. Put the DOI or the publication page link in the caption or first comment; no link shorteners.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1200 x 675 PX (this slide is 12.5 x 7.0313 in; at PowerPoint's default 96 px/in that is exactly 1200 x 675).
PowerPoint for Mac: File &gt; Export &gt; File Format: PNG &gt; set Width 1200 and Height 675 &gt; Export; choose "Save Every Slide" for a folder of PNGs or "Save Current Slide Only".
PowerPoint for Windows: File &gt; Save As (or Save a Copy) &gt; file type PNG &gt; "Just This One" or "All Slides". Windows exports at 96 px/in, which gives 1200 x 675; check the pixel size in the file's Details tab.
Google Slides: File &gt; Download &gt; PNG image (.png, current slide). Google Slides exports at its own fixed scale, not at the slide's pixel size, so check the downloaded file's size and resize it to exactly 1200 x 675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Recruiting (gold tile). X and LinkedIn image posts (16:9), X link cards (cropped to 2:1) and LinkedIn link posts (cropped to 1.91:1). Export PNG at 1200 x 675 px.
SAFE ZONE: X link cards show the centre 2:1 band (y 37 to 637) and LinkedIn link posts the centre 1.91:1 band (y 24 to 651): everything that matters sits in y 60 to 615. The hazard band runs down the LEFT edge on this format, so the crops never slice it.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headline, the bullet points (2 lines in all: who, what, how) and the apply line. NEVER promise funding, assistantships, admission, co-authorship or jobs; paid student jobs go on Handshake and the post points there. Describe the work and the requirements, not eligibility by demographic. Minors: no DMs; questions go to a program kent.edu address. Bullets are the small triangle (U+25B8); keep them.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1200 x 675 PX (this slide is 12.5 x 7.0313 in; at PowerPoint's default 96 px/in that is exactly 1200 x 675).
PowerPoint for Mac: File &gt; Export &gt; File Format: PNG &gt; set Width 1200 and Height 675 &gt; Export; choose "Save Every Slide" for a folder of PNGs or "Save Current Slide Only".
PowerPoint for Windows: File &gt; Save As (or Save a Copy) &gt; file type PNG &gt; "Just This One" or "All Slides". Windows exports at 96 px/in, which gives 1200 x 675; check the pixel size in the file's Details tab.
Google Slides: File &gt; Download &gt; PNG image (.png, current slide). Google Slides exports at its own fixed scale, not at the slide's pixel size, so check the downloaded file's size and resize it to exactly 1200 x 675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Milestone (navy tile). X and LinkedIn image posts (16:9), X link cards (cropped to 2:1) and LinkedIn link posts (cropped to 1.91:1). Export PNG at 1200 x 675 px.
SAFE ZONE: X link cards show the centre 2:1 band (y 37 to 637) and LinkedIn link posts the centre 1.91:1 band (y 24 to 651): everything that matters sits in y 60 to 615. The hazard band runs down the LEFT edge on this format, so the crops never slice it.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number (Roboto Slab; a percentage, a count, an anniversary; up to 4 characters at full size; a longer number shrinks to fit), the label that says what it is, and the source line. The showcase number is bracketed because it is a placeholder: "10 years" is true only from spring 2027 (the lab opened in spring 2017); replace it with a number that is true on the day you post. One number per tile. Numbers come from real records (sign-in sheets, registrations, the conferring body's announcement); the linked page holds the detail. Use the conferring body's exact wording for awards: finalist stays finalist. Never print a RoboCup placement (none is published).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1200 x 675 PX (this slide is 12.5 x 7.0313 in; at PowerPoint's default 96 px/in that is exactly 1200 x 675).
PowerPoint for Mac: File &gt; Export &gt; File Format: PNG &gt; set Width 1200 and Height 675 &gt; Export; choose "Save Every Slide" for a folder of PNGs or "Save Current Slide Only".
PowerPoint for Windows: File &gt; Save As (or Save a Copy) &gt; file type PNG &gt; "Just This One" or "All Slides". Windows exports at 96 px/in, which gives 1200 x 675; check the pixel size in the file's Details tab.
Google Slides: File &gt; Download &gt; PNG image (.png, current slide). Google Slides exports at its own fixed scale, not at the slide's pixel size, so check the downloaded file's size and resize it to exactly 1200 x 675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Spotlight quote (navy tile). X and LinkedIn image posts (16:9), X link cards (cropped to 2:1) and LinkedIn link posts (cropped to 1.91:1). Export PNG at 1200 x 675 px.
SAFE ZONE: X link cards show the centre 2:1 band (y 37 to 637) and LinkedIn link posts the centre 1.91:1 band (y 24 to 651): everything that matters sits in y 60 to 615. The hazard band runs down the LEFT edge on this format, so the crops never slice it.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eyebrow label (student, alumni or staff spotlight), the photo (right-click &gt; Change Picture; a real photo, never an AI image of a person), the name and role, and the quote. Consent: name a student only with their written permission and quote only words they approved; minors: first names at most. Kent State photo guidance: candid, natural light, not smiling at the camera. The quote is Roboto Slab; the gold plate with the navy quote mark is one picture on the layout and stays.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1200 x 675 PX (this slide is 12.5 x 7.0313 in; at PowerPoint's default 96 px/in that is exactly 1200 x 675).
PowerPoint for Mac: File &gt; Export &gt; File Format: PNG &gt; set Width 1200 and Height 675 &gt; Export; choose "Save Every Slide" for a folder of PNGs or "Save Current Slide Only".
PowerPoint for Windows: File &gt; Save As (or Save a Copy) &gt; file type PNG &gt; "Just This One" or "All Slides". Windows exports at 96 px/in, which gives 1200 x 675; check the pixel size in the file's Details tab.
Google Slides: File &gt; Download &gt; PNG image (.png, current slide). Google Slides exports at its own fixed scale, not at the slide's pixel size, so check the downloaded file's size and resize it to exactly 1200 x 675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Demo video cover (navy tile). X and LinkedIn image posts (16:9), X link cards (cropped to 2:1) and LinkedIn link posts (cropped to 1.91:1). Export PNG at 1200 x 675 px.
SAFE ZONE: X link cards show the centre 2:1 band (y 37 to 637) and LinkedIn link posts the centre 1.91:1 band (y 24 to 651): everything that matters sits in y 60 to 615. The hazard band runs down the LEFT edge on this format, so the crops never slice it.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frame (right-click &gt; Change Picture; a real frame from the video, never an AI render of a robot), the title (a task or a question, not an internal tag), the honesty labels (playback speed such as REAL TIME or 2X SPEED; TELEOPERATED, AUTONOMOUS or SCRIPTED; add SIMULATION when it is one). The labels are part of the lab's robot-content honesty rule; keep them on the cover and in the post. PLAY BADGE: the gold plate with the play triangle is one picture placed above the frame as a slide object (layout art always sits under slide content), so make new covers by duplicating this slide (right-click the thumbnail &gt; Duplicate Slide) rather than New Slide, or copy the badge picture. Cover images inherit the alt text you type in the platform: say what happens on screen.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1200 x 675 PX (this slide is 12.5 x 7.0313 in; at PowerPoint's default 96 px/in that is exactly 1200 x 675).
PowerPoint for Mac: File &gt; Export &gt; File Format: PNG &gt; set Width 1200 and Height 675 &gt; Export; choose "Save Every Slide" for a folder of PNGs or "Save Current Slide Only".
PowerPoint for Windows: File &gt; Save As (or Save a Copy) &gt; file type PNG &gt; "Just This One" or "All Slides". Windows exports at 96 px/in, which gives 1200 x 675; check the pixel size in the file's Details tab.
Google Slides: File &gt; Download &gt; PNG image (.png, current slide). Google Slides exports at its own fixed scale, not at the slide's pixel size, so check the downloaded file's size and resize it to exactly 1200 x 675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Thank you / Welcome (gold tile). X and LinkedIn image posts (16:9), X link cards (cropped to 2:1) and LinkedIn link posts (cropped to 1.91:1). Export PNG at 1200 x 675 px.
SAFE ZONE: X link cards show the centre 2:1 band (y 37 to 637) and LinkedIn link posts the centre 1.91:1 band (y 24 to 651): everything that matters sits in y 60 to 615. The hazard band runs down the LEFT edge on this format, so the crops never slice it.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eyebrow label, the display word ("Thank you" or "Welcome"; it is the one place the Source Sans 3 Black family is used, so if your machine lacks it PowerPoint shows bold Source Sans 3 or Arial), the support line and the next line. Name partners and sponsors only with their written approval; no one is tagged without consent. GOLD TILE RULE: navy or ink text only.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1200 x 675 PX (this slide is 12.5 x 7.0313 in; at PowerPoint's default 96 px/in that is exactly 1200 x 675).
PowerPoint for Mac: File &gt; Export &gt; File Format: PNG &gt; set Width 1200 and Height 675 &gt; Export; choose "Save Every Slide" for a folder of PNGs or "Save Current Slide Only".
PowerPoint for Windows: File &gt; Save As (or Save a Copy) &gt; file type PNG &gt; "Just This One" or "All Slides". Windows exports at 96 px/in, which gives 1200 x 675; check the pixel size in the file's Details tab.
Google Slides: File &gt; Download &gt; PNG image (.png, current slide). Google Slides exports at its own fixed scale, not at the slide's pixel size, so check the downloaded file's size and resize it to exactly 1200 x 675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image" Target="../media/image-1003-4.png"/><Relationship Id="rId5" Type="http://schemas.openxmlformats.org/officeDocument/2006/relationships/image" Target="../media/image-1003-5.png"/><Relationship Id="rId6"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image" Target="../media/image-1007-5.png"/><Relationship Id="rId6"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slideMaster" Target="../slideMasters/slideMaster1.xml"/></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p:cSld name="Announcement">
    <p:bg>
      <p:bgPr>
        <a:solidFill>
          <a:srgbClr val="003976"/>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685800" cy="6429421"/>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220170" y="228600"/>
            <a:ext cx="1904970" cy="104772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1257300" y="4810110"/>
            <a:ext cx="1015258" cy="1047720"/>
          </a:xfrm>
          <a:prstGeom prst="rect">
            <a:avLst/>
          </a:prstGeom>
        </p:spPr>
      </p:pic>
      <p:pic>
        <p:nvPicPr>
          <p:cNvPr id="5" name="Image 3" descr="Kent State University wordmark">    </p:cNvPr>
          <p:cNvPicPr>
            <a:picLocks noChangeAspect="1"/>
          </p:cNvPicPr>
          <p:nvPr/>
        </p:nvPicPr>
        <p:blipFill>
          <a:blip r:embed="rId4"/>
          <a:stretch>
            <a:fillRect/>
          </a:stretch>
        </p:blipFill>
        <p:spPr>
          <a:xfrm>
            <a:off x="9761403" y="4810110"/>
            <a:ext cx="1097097" cy="1047720"/>
          </a:xfrm>
          <a:prstGeom prst="rect">
            <a:avLst/>
          </a:prstGeom>
        </p:spPr>
      </p:pic>
      <p:sp>
        <p:nvSpPr>
          <p:cNvPr id="6" name="Placeholder eyebrow"/>
          <p:cNvSpPr>
            <a:spLocks noGrp="1"/>
          </p:cNvSpPr>
          <p:nvPr>
            <p:ph idx="104" type="body" hasCustomPrompt="1"/>
          </p:nvPr>
        </p:nvSpPr>
        <p:spPr>
          <a:xfrm>
            <a:off x="1257300" y="571500"/>
            <a:ext cx="731520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EFAB00"/>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ANNOUNCEMENT</a:t>
            </a:r>
            <a:endParaRPr lang="en-US" sz="2700" dirty="0"/>
          </a:p>
        </p:txBody>
      </p:sp>
      <p:sp>
        <p:nvSpPr>
          <p:cNvPr id="7" name="Placeholder headline"/>
          <p:cNvSpPr>
            <a:spLocks noGrp="1"/>
          </p:cNvSpPr>
          <p:nvPr>
            <p:ph idx="105" type="title" hasCustomPrompt="1"/>
          </p:nvPr>
        </p:nvSpPr>
        <p:spPr>
          <a:xfrm>
            <a:off x="1257300" y="1181130"/>
            <a:ext cx="9601200" cy="1543050"/>
          </a:xfrm>
          <a:prstGeom prst="rect">
            <a:avLst/>
          </a:prstGeom>
          <a:noFill/>
          <a:ln/>
        </p:spPr>
        <p:txBody>
          <a:bodyPr wrap="square" rtlCol="0" lIns="0" tIns="0" rIns="0" bIns="0" anchor="t">
            <a:normAutofit/>
          </a:bodyPr>
          <a:lstStyle>
            <a:lvl1pPr algn="l" indent="0" marL="0">
              <a:lnSpc>
                <a:spcPts val="5850"/>
              </a:lnSpc>
              <a:buNone/>
              <a:defRPr sz="5400" b="1">
                <a:solidFill>
                  <a:srgbClr val="FFFFFF"/>
                </a:solidFill>
                <a:latin typeface="Source Sans 3" pitchFamily="34" charset="0"/>
                <a:ea typeface="Source Sans 3" pitchFamily="34" charset="-122"/>
                <a:cs typeface="Source Sans 3" pitchFamily="34" charset="-120"/>
              </a:defRPr>
            </a:lvl1pPr>
          </a:lstStyle>
          <a:p>
            <a:pPr algn="l" indent="0" marL="0">
              <a:lnSpc>
                <a:spcPts val="5850"/>
              </a:lnSpc>
              <a:buNone/>
            </a:pPr>
            <a:r>
              <a:rPr lang="en-US" sz="5400" b="1" dirty="0">
                <a:solidFill>
                  <a:srgbClr val="FFFFFF"/>
                </a:solidFill>
                <a:latin typeface="Source Sans 3" pitchFamily="34" charset="0"/>
                <a:ea typeface="Source Sans 3" pitchFamily="34" charset="-122"/>
                <a:cs typeface="Source Sans 3" pitchFamily="34" charset="-120"/>
              </a:rPr>
              <a:t>Headline: three to eight words, up to 2 lines at 54 pt; longer text shrinks to fit, so cut words rather than accept small type</a:t>
            </a:r>
            <a:endParaRPr lang="en-US" sz="5400" dirty="0"/>
          </a:p>
        </p:txBody>
      </p:sp>
      <p:sp>
        <p:nvSpPr>
          <p:cNvPr id="8" name="Placeholder support"/>
          <p:cNvSpPr>
            <a:spLocks noGrp="1"/>
          </p:cNvSpPr>
          <p:nvPr>
            <p:ph idx="106" type="body" hasCustomPrompt="1"/>
          </p:nvPr>
        </p:nvSpPr>
        <p:spPr>
          <a:xfrm>
            <a:off x="1257300" y="2933670"/>
            <a:ext cx="9601200" cy="1009680"/>
          </a:xfrm>
          <a:prstGeom prst="rect">
            <a:avLst/>
          </a:prstGeom>
          <a:noFill/>
          <a:ln/>
        </p:spPr>
        <p:txBody>
          <a:bodyPr wrap="square" rtlCol="0" lIns="0" tIns="0" rIns="0" bIns="0" anchor="t">
            <a:normAutofit/>
          </a:bodyPr>
          <a:lstStyle>
            <a:lvl1pPr algn="l" indent="0" marL="0">
              <a:lnSpc>
                <a:spcPts val="3750"/>
              </a:lnSpc>
              <a:buNone/>
              <a:defRPr sz="3000">
                <a:solidFill>
                  <a:srgbClr val="FFFFFF"/>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dirty="0">
                <a:solidFill>
                  <a:srgbClr val="FFFFFF"/>
                </a:solidFill>
                <a:latin typeface="Source Sans 3" pitchFamily="34" charset="0"/>
                <a:ea typeface="Source Sans 3" pitchFamily="34" charset="-122"/>
                <a:cs typeface="Source Sans 3" pitchFamily="34" charset="-120"/>
              </a:rPr>
              <a:t>Support line: one or two sentences, up to 2 lines</a:t>
            </a:r>
            <a:endParaRPr lang="en-US" sz="3000" dirty="0"/>
          </a:p>
        </p:txBody>
      </p:sp>
      <p:sp>
        <p:nvSpPr>
          <p:cNvPr id="9" name="Placeholder link"/>
          <p:cNvSpPr>
            <a:spLocks noGrp="1"/>
          </p:cNvSpPr>
          <p:nvPr>
            <p:ph idx="107" type="body" hasCustomPrompt="1"/>
          </p:nvPr>
        </p:nvSpPr>
        <p:spPr>
          <a:xfrm>
            <a:off x="1257300" y="4076670"/>
            <a:ext cx="9601200" cy="476220"/>
          </a:xfrm>
          <a:prstGeom prst="rect">
            <a:avLst/>
          </a:prstGeom>
          <a:noFill/>
          <a:ln/>
        </p:spPr>
        <p:txBody>
          <a:bodyPr wrap="square" rtlCol="0" lIns="0" tIns="0" rIns="0" bIns="0" anchor="ctr">
            <a:normAutofit/>
          </a:bodyPr>
          <a:lstStyle>
            <a:lvl1pPr algn="l" indent="0" marL="0">
              <a:lnSpc>
                <a:spcPts val="3300"/>
              </a:lnSpc>
              <a:buNone/>
              <a:defRPr sz="2700">
                <a:solidFill>
                  <a:srgbClr val="EFAB00"/>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Link or date, for example atr.cs.kent.edu</a:t>
            </a:r>
            <a:endParaRPr lang="en-US" sz="2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vent">
    <p:bg>
      <p:bgPr>
        <a:solidFill>
          <a:srgbClr val="EFAB00"/>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685800" cy="6429421"/>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220170" y="4219590"/>
            <a:ext cx="1904970" cy="190497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1257300" y="4810110"/>
            <a:ext cx="1015258" cy="1047720"/>
          </a:xfrm>
          <a:prstGeom prst="rect">
            <a:avLst/>
          </a:prstGeom>
        </p:spPr>
      </p:pic>
      <p:sp>
        <p:nvSpPr>
          <p:cNvPr id="5" name="Text 0"/>
          <p:cNvSpPr txBox="1"/>
          <p:nvPr/>
        </p:nvSpPr>
        <p:spPr>
          <a:xfrm>
            <a:off x="2691628" y="4810110"/>
            <a:ext cx="5715000" cy="1047720"/>
          </a:xfrm>
          <a:prstGeom prst="rect">
            <a:avLst/>
          </a:prstGeom>
          <a:noFill/>
          <a:ln/>
        </p:spPr>
        <p:txBody>
          <a:bodyPr wrap="square" lIns="0" tIns="0" rIns="0" bIns="0" rtlCol="0" anchor="ctr"/>
          <a:lstStyle/>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Advanced Telerobotics Research Lab</a:t>
            </a:r>
            <a:endParaRPr lang="en-US" sz="2700" dirty="0"/>
          </a:p>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Kent State University</a:t>
            </a:r>
            <a:endParaRPr lang="en-US" sz="2700" dirty="0"/>
          </a:p>
        </p:txBody>
      </p:sp>
      <p:sp>
        <p:nvSpPr>
          <p:cNvPr id="6" name="Placeholder eyebrow"/>
          <p:cNvSpPr>
            <a:spLocks noGrp="1"/>
          </p:cNvSpPr>
          <p:nvPr>
            <p:ph idx="104" type="body" hasCustomPrompt="1"/>
          </p:nvPr>
        </p:nvSpPr>
        <p:spPr>
          <a:xfrm>
            <a:off x="1257300" y="819120"/>
            <a:ext cx="960120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003976"/>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EVENT</a:t>
            </a:r>
            <a:endParaRPr lang="en-US" sz="2700" dirty="0"/>
          </a:p>
        </p:txBody>
      </p:sp>
      <p:sp>
        <p:nvSpPr>
          <p:cNvPr id="7" name="Placeholder headline"/>
          <p:cNvSpPr>
            <a:spLocks noGrp="1"/>
          </p:cNvSpPr>
          <p:nvPr>
            <p:ph idx="105" type="title" hasCustomPrompt="1"/>
          </p:nvPr>
        </p:nvSpPr>
        <p:spPr>
          <a:xfrm>
            <a:off x="1257300" y="1466789"/>
            <a:ext cx="3810030" cy="1543050"/>
          </a:xfrm>
          <a:prstGeom prst="rect">
            <a:avLst/>
          </a:prstGeom>
          <a:noFill/>
          <a:ln/>
        </p:spPr>
        <p:txBody>
          <a:bodyPr wrap="square" rtlCol="0" lIns="0" tIns="0" rIns="0" bIns="0" anchor="t">
            <a:normAutofit/>
          </a:bodyPr>
          <a:lstStyle>
            <a:lvl1pPr algn="l" indent="0" marL="0">
              <a:lnSpc>
                <a:spcPts val="5850"/>
              </a:lnSpc>
              <a:buNone/>
              <a:defRPr sz="5400" b="1">
                <a:solidFill>
                  <a:srgbClr val="003976"/>
                </a:solidFill>
                <a:latin typeface="Source Sans 3" pitchFamily="34" charset="0"/>
                <a:ea typeface="Source Sans 3" pitchFamily="34" charset="-122"/>
                <a:cs typeface="Source Sans 3" pitchFamily="34" charset="-120"/>
              </a:defRPr>
            </a:lvl1pPr>
          </a:lstStyle>
          <a:p>
            <a:pPr algn="l" indent="0" marL="0">
              <a:lnSpc>
                <a:spcPts val="5850"/>
              </a:lnSpc>
              <a:buNone/>
            </a:pPr>
            <a:r>
              <a:rPr lang="en-US" sz="5400" b="1" dirty="0">
                <a:solidFill>
                  <a:srgbClr val="003976"/>
                </a:solidFill>
                <a:latin typeface="Source Sans 3" pitchFamily="34" charset="0"/>
                <a:ea typeface="Source Sans 3" pitchFamily="34" charset="-122"/>
                <a:cs typeface="Source Sans 3" pitchFamily="34" charset="-120"/>
              </a:rPr>
              <a:t>Event name, up to 2 lines at 54 pt; longer text shrinks to fit, so cut words rather than accept small type</a:t>
            </a:r>
            <a:endParaRPr lang="en-US" sz="5400" dirty="0"/>
          </a:p>
        </p:txBody>
      </p:sp>
      <p:pic>
        <p:nvPicPr>
          <p:cNvPr id="8" name="Image 3" descr="Date and time">    </p:cNvPr>
          <p:cNvPicPr>
            <a:picLocks noChangeAspect="1"/>
          </p:cNvPicPr>
          <p:nvPr/>
        </p:nvPicPr>
        <p:blipFill>
          <a:blip r:embed="rId4"/>
          <a:stretch>
            <a:fillRect/>
          </a:stretch>
        </p:blipFill>
        <p:spPr>
          <a:xfrm>
            <a:off x="5448270" y="1438260"/>
            <a:ext cx="533370" cy="533370"/>
          </a:xfrm>
          <a:prstGeom prst="rect">
            <a:avLst/>
          </a:prstGeom>
        </p:spPr>
      </p:pic>
      <p:sp>
        <p:nvSpPr>
          <p:cNvPr id="9" name="Placeholder when"/>
          <p:cNvSpPr>
            <a:spLocks noGrp="1"/>
          </p:cNvSpPr>
          <p:nvPr>
            <p:ph idx="107" type="body" hasCustomPrompt="1"/>
          </p:nvPr>
        </p:nvSpPr>
        <p:spPr>
          <a:xfrm>
            <a:off x="6210330" y="1466789"/>
            <a:ext cx="4648170" cy="1009680"/>
          </a:xfrm>
          <a:prstGeom prst="rect">
            <a:avLst/>
          </a:prstGeom>
          <a:noFill/>
          <a:ln/>
        </p:spPr>
        <p:txBody>
          <a:bodyPr wrap="square" rtlCol="0" lIns="0" tIns="0" rIns="0" bIns="0" anchor="t">
            <a:normAutofit/>
          </a:bodyPr>
          <a:lstStyle>
            <a:lvl1pPr algn="l" indent="0" marL="0">
              <a:lnSpc>
                <a:spcPts val="3750"/>
              </a:lnSpc>
              <a:buNone/>
              <a:defRPr sz="3000">
                <a:solidFill>
                  <a:srgbClr val="1B2533"/>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dirty="0">
                <a:solidFill>
                  <a:srgbClr val="1B2533"/>
                </a:solidFill>
                <a:latin typeface="Source Sans 3" pitchFamily="34" charset="0"/>
                <a:ea typeface="Source Sans 3" pitchFamily="34" charset="-122"/>
                <a:cs typeface="Source Sans 3" pitchFamily="34" charset="-120"/>
              </a:rPr>
              <a:t>Date and time, e.g. [Thursday, Sept. 23]  ·  [6-8 p.m.]</a:t>
            </a:r>
            <a:endParaRPr lang="en-US" sz="3000" dirty="0"/>
          </a:p>
        </p:txBody>
      </p:sp>
      <p:pic>
        <p:nvPicPr>
          <p:cNvPr id="10" name="Image 4" descr="Place">    </p:cNvPr>
          <p:cNvPicPr>
            <a:picLocks noChangeAspect="1"/>
          </p:cNvPicPr>
          <p:nvPr/>
        </p:nvPicPr>
        <p:blipFill>
          <a:blip r:embed="rId5"/>
          <a:stretch>
            <a:fillRect/>
          </a:stretch>
        </p:blipFill>
        <p:spPr>
          <a:xfrm>
            <a:off x="5448270" y="2581260"/>
            <a:ext cx="533370" cy="533370"/>
          </a:xfrm>
          <a:prstGeom prst="rect">
            <a:avLst/>
          </a:prstGeom>
        </p:spPr>
      </p:pic>
      <p:sp>
        <p:nvSpPr>
          <p:cNvPr id="11" name="Placeholder where"/>
          <p:cNvSpPr>
            <a:spLocks noGrp="1"/>
          </p:cNvSpPr>
          <p:nvPr>
            <p:ph idx="109" type="body" hasCustomPrompt="1"/>
          </p:nvPr>
        </p:nvSpPr>
        <p:spPr>
          <a:xfrm>
            <a:off x="6210330" y="2609789"/>
            <a:ext cx="4648170" cy="1009680"/>
          </a:xfrm>
          <a:prstGeom prst="rect">
            <a:avLst/>
          </a:prstGeom>
          <a:noFill/>
          <a:ln/>
        </p:spPr>
        <p:txBody>
          <a:bodyPr wrap="square" rtlCol="0" lIns="0" tIns="0" rIns="0" bIns="0" anchor="t">
            <a:normAutofit/>
          </a:bodyPr>
          <a:lstStyle>
            <a:lvl1pPr algn="l" indent="0" marL="0">
              <a:lnSpc>
                <a:spcPts val="3750"/>
              </a:lnSpc>
              <a:buNone/>
              <a:defRPr sz="3000">
                <a:solidFill>
                  <a:srgbClr val="1B2533"/>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dirty="0">
                <a:solidFill>
                  <a:srgbClr val="1B2533"/>
                </a:solidFill>
                <a:latin typeface="Source Sans 3" pitchFamily="34" charset="0"/>
                <a:ea typeface="Source Sans 3" pitchFamily="34" charset="-122"/>
                <a:cs typeface="Source Sans 3" pitchFamily="34" charset="-120"/>
              </a:rPr>
              <a:t>Place, e.g. [Room], Mathematical Sciences Building, Kent State University</a:t>
            </a:r>
            <a:endParaRPr lang="en-US" sz="3000" dirty="0"/>
          </a:p>
        </p:txBody>
      </p:sp>
      <p:sp>
        <p:nvSpPr>
          <p:cNvPr id="12" name="Placeholder cta"/>
          <p:cNvSpPr>
            <a:spLocks noGrp="1"/>
          </p:cNvSpPr>
          <p:nvPr>
            <p:ph idx="110" type="body" hasCustomPrompt="1"/>
          </p:nvPr>
        </p:nvSpPr>
        <p:spPr>
          <a:xfrm>
            <a:off x="5448270" y="3829050"/>
            <a:ext cx="5410230" cy="476220"/>
          </a:xfrm>
          <a:prstGeom prst="rect">
            <a:avLst/>
          </a:prstGeom>
          <a:noFill/>
          <a:ln/>
        </p:spPr>
        <p:txBody>
          <a:bodyPr wrap="square" rtlCol="0" lIns="0" tIns="0" rIns="0" bIns="0" anchor="ctr">
            <a:normAutofit/>
          </a:bodyPr>
          <a:lstStyle>
            <a:lvl1pPr algn="l" indent="0" marL="0">
              <a:lnSpc>
                <a:spcPts val="3300"/>
              </a:lnSpc>
              <a:buNone/>
              <a:defRPr sz="2700">
                <a:solidFill>
                  <a:srgbClr val="003976"/>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003976"/>
                </a:solidFill>
                <a:latin typeface="Source Code Pro" pitchFamily="34" charset="0"/>
                <a:ea typeface="Source Code Pro" pitchFamily="34" charset="-122"/>
                <a:cs typeface="Source Code Pro" pitchFamily="34" charset="-120"/>
              </a:rPr>
              <a:t>Call to action, e.g. RSVP: [link]</a:t>
            </a:r>
            <a:endParaRPr lang="en-US" sz="27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aper accepted">
    <p:bg>
      <p:bgPr>
        <a:solidFill>
          <a:srgbClr val="003976"/>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685800" cy="6429421"/>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220170" y="228600"/>
            <a:ext cx="1904970" cy="104772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1257300" y="4810110"/>
            <a:ext cx="1015258" cy="1047720"/>
          </a:xfrm>
          <a:prstGeom prst="rect">
            <a:avLst/>
          </a:prstGeom>
        </p:spPr>
      </p:pic>
      <p:pic>
        <p:nvPicPr>
          <p:cNvPr id="5" name="Image 3" descr="Kent State University wordmark">    </p:cNvPr>
          <p:cNvPicPr>
            <a:picLocks noChangeAspect="1"/>
          </p:cNvPicPr>
          <p:nvPr/>
        </p:nvPicPr>
        <p:blipFill>
          <a:blip r:embed="rId4"/>
          <a:stretch>
            <a:fillRect/>
          </a:stretch>
        </p:blipFill>
        <p:spPr>
          <a:xfrm>
            <a:off x="9761403" y="4810110"/>
            <a:ext cx="1097097" cy="1047720"/>
          </a:xfrm>
          <a:prstGeom prst="rect">
            <a:avLst/>
          </a:prstGeom>
        </p:spPr>
      </p:pic>
      <p:sp>
        <p:nvSpPr>
          <p:cNvPr id="6" name="Placeholder eyebrow"/>
          <p:cNvSpPr>
            <a:spLocks noGrp="1"/>
          </p:cNvSpPr>
          <p:nvPr>
            <p:ph idx="104" type="body" hasCustomPrompt="1"/>
          </p:nvPr>
        </p:nvSpPr>
        <p:spPr>
          <a:xfrm>
            <a:off x="1257300" y="600121"/>
            <a:ext cx="731520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EFAB00"/>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PAPER ACCEPTED  ·  [VENUE YEAR]</a:t>
            </a:r>
            <a:endParaRPr lang="en-US" sz="2700" dirty="0"/>
          </a:p>
        </p:txBody>
      </p:sp>
      <p:sp>
        <p:nvSpPr>
          <p:cNvPr id="7" name="Placeholder title"/>
          <p:cNvSpPr>
            <a:spLocks noGrp="1"/>
          </p:cNvSpPr>
          <p:nvPr>
            <p:ph idx="105" type="title" hasCustomPrompt="1"/>
          </p:nvPr>
        </p:nvSpPr>
        <p:spPr>
          <a:xfrm>
            <a:off x="1257300" y="1171621"/>
            <a:ext cx="9601200" cy="1657350"/>
          </a:xfrm>
          <a:prstGeom prst="rect">
            <a:avLst/>
          </a:prstGeom>
          <a:noFill/>
          <a:ln/>
        </p:spPr>
        <p:txBody>
          <a:bodyPr wrap="square" rtlCol="0" lIns="0" tIns="0" rIns="0" bIns="0" anchor="t">
            <a:normAutofit/>
          </a:bodyPr>
          <a:lstStyle>
            <a:lvl1pPr algn="l" indent="0" marL="0">
              <a:lnSpc>
                <a:spcPts val="4200"/>
              </a:lnSpc>
              <a:buNone/>
              <a:defRPr sz="3900" b="1">
                <a:solidFill>
                  <a:srgbClr val="FFFFFF"/>
                </a:solidFill>
                <a:latin typeface="Source Sans 3" pitchFamily="34" charset="0"/>
                <a:ea typeface="Source Sans 3" pitchFamily="34" charset="-122"/>
                <a:cs typeface="Source Sans 3" pitchFamily="34" charset="-120"/>
              </a:defRPr>
            </a:lvl1pPr>
          </a:lstStyle>
          <a:p>
            <a:pPr algn="l" indent="0" marL="0">
              <a:lnSpc>
                <a:spcPts val="4200"/>
              </a:lnSpc>
              <a:buNone/>
            </a:pPr>
            <a:r>
              <a:rPr lang="en-US" sz="3900" b="1" dirty="0">
                <a:solidFill>
                  <a:srgbClr val="FFFFFF"/>
                </a:solidFill>
                <a:latin typeface="Source Sans 3" pitchFamily="34" charset="0"/>
                <a:ea typeface="Source Sans 3" pitchFamily="34" charset="-122"/>
                <a:cs typeface="Source Sans 3" pitchFamily="34" charset="-120"/>
              </a:rPr>
              <a:t>Paper title, up to 3 lines at 39 pt; longer text shrinks to fit, so cut words rather than accept small type</a:t>
            </a:r>
            <a:endParaRPr lang="en-US" sz="3900" dirty="0"/>
          </a:p>
        </p:txBody>
      </p:sp>
      <p:sp>
        <p:nvSpPr>
          <p:cNvPr id="8" name="Placeholder authors"/>
          <p:cNvSpPr>
            <a:spLocks noGrp="1"/>
          </p:cNvSpPr>
          <p:nvPr>
            <p:ph idx="106" type="body" hasCustomPrompt="1"/>
          </p:nvPr>
        </p:nvSpPr>
        <p:spPr>
          <a:xfrm>
            <a:off x="1257300" y="2962290"/>
            <a:ext cx="9601200" cy="533370"/>
          </a:xfrm>
          <a:prstGeom prst="rect">
            <a:avLst/>
          </a:prstGeom>
          <a:noFill/>
          <a:ln/>
        </p:spPr>
        <p:txBody>
          <a:bodyPr wrap="square" rtlCol="0" lIns="0" tIns="0" rIns="0" bIns="0" anchor="t">
            <a:normAutofit/>
          </a:bodyPr>
          <a:lstStyle>
            <a:lvl1pPr algn="l" indent="0" marL="0">
              <a:lnSpc>
                <a:spcPts val="3750"/>
              </a:lnSpc>
              <a:buNone/>
              <a:defRPr sz="3000">
                <a:solidFill>
                  <a:srgbClr val="FFFFFF"/>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dirty="0">
                <a:solidFill>
                  <a:srgbClr val="FFFFFF"/>
                </a:solidFill>
                <a:latin typeface="Source Sans 3" pitchFamily="34" charset="0"/>
                <a:ea typeface="Source Sans 3" pitchFamily="34" charset="-122"/>
                <a:cs typeface="Source Sans 3" pitchFamily="34" charset="-120"/>
              </a:rPr>
              <a:t>Authors, e.g. [Author One], [Author Two] and [Author Three]</a:t>
            </a:r>
            <a:endParaRPr lang="en-US" sz="3000" dirty="0"/>
          </a:p>
        </p:txBody>
      </p:sp>
      <p:sp>
        <p:nvSpPr>
          <p:cNvPr id="9" name="Placeholder venue"/>
          <p:cNvSpPr>
            <a:spLocks noGrp="1"/>
          </p:cNvSpPr>
          <p:nvPr>
            <p:ph idx="107" type="body" hasCustomPrompt="1"/>
          </p:nvPr>
        </p:nvSpPr>
        <p:spPr>
          <a:xfrm>
            <a:off x="1257300" y="3552901"/>
            <a:ext cx="9601200" cy="476220"/>
          </a:xfrm>
          <a:prstGeom prst="rect">
            <a:avLst/>
          </a:prstGeom>
          <a:noFill/>
          <a:ln/>
        </p:spPr>
        <p:txBody>
          <a:bodyPr wrap="square" rtlCol="0" lIns="0" tIns="0" rIns="0" bIns="0" anchor="ctr">
            <a:normAutofit/>
          </a:bodyPr>
          <a:lstStyle>
            <a:lvl1pPr algn="l" indent="0" marL="0">
              <a:lnSpc>
                <a:spcPts val="3300"/>
              </a:lnSpc>
              <a:buNone/>
              <a:defRPr sz="2700">
                <a:solidFill>
                  <a:srgbClr val="EFAB00"/>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Venue line, e.g. [Conference], [City]  ·  [Month YYYY]</a:t>
            </a:r>
            <a:endParaRPr lang="en-US" sz="2700" dirty="0"/>
          </a:p>
        </p:txBody>
      </p:sp>
      <p:sp>
        <p:nvSpPr>
          <p:cNvPr id="10" name="Placeholder cta"/>
          <p:cNvSpPr>
            <a:spLocks noGrp="1"/>
          </p:cNvSpPr>
          <p:nvPr>
            <p:ph idx="108" type="body" hasCustomPrompt="1"/>
          </p:nvPr>
        </p:nvSpPr>
        <p:spPr>
          <a:xfrm>
            <a:off x="1257300" y="4048140"/>
            <a:ext cx="9601200" cy="476220"/>
          </a:xfrm>
          <a:prstGeom prst="rect">
            <a:avLst/>
          </a:prstGeom>
          <a:noFill/>
          <a:ln/>
        </p:spPr>
        <p:txBody>
          <a:bodyPr wrap="square" rtlCol="0" lIns="0" tIns="0" rIns="0" bIns="0" anchor="ctr">
            <a:normAutofit/>
          </a:bodyPr>
          <a:lstStyle>
            <a:lvl1pPr algn="l" indent="0" marL="0">
              <a:lnSpc>
                <a:spcPts val="3300"/>
              </a:lnSpc>
              <a:buNone/>
              <a:defRPr sz="2700">
                <a:solidFill>
                  <a:srgbClr val="FFFFFF"/>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FFFFFF"/>
                </a:solidFill>
                <a:latin typeface="Source Code Pro" pitchFamily="34" charset="0"/>
                <a:ea typeface="Source Code Pro" pitchFamily="34" charset="-122"/>
                <a:cs typeface="Source Code Pro" pitchFamily="34" charset="-120"/>
              </a:rPr>
              <a:t>Where to read it, e.g. Read the paper: link in bio</a:t>
            </a:r>
            <a:endParaRPr lang="en-US" sz="27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Recruiting">
    <p:bg>
      <p:bgPr>
        <a:solidFill>
          <a:srgbClr val="EFAB00"/>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685800" cy="6429421"/>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220170" y="4219590"/>
            <a:ext cx="1904970" cy="190497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1257300" y="4810110"/>
            <a:ext cx="1015258" cy="1047720"/>
          </a:xfrm>
          <a:prstGeom prst="rect">
            <a:avLst/>
          </a:prstGeom>
        </p:spPr>
      </p:pic>
      <p:sp>
        <p:nvSpPr>
          <p:cNvPr id="5" name="Text 0"/>
          <p:cNvSpPr txBox="1"/>
          <p:nvPr/>
        </p:nvSpPr>
        <p:spPr>
          <a:xfrm>
            <a:off x="2691628" y="4810110"/>
            <a:ext cx="5715000" cy="1047720"/>
          </a:xfrm>
          <a:prstGeom prst="rect">
            <a:avLst/>
          </a:prstGeom>
          <a:noFill/>
          <a:ln/>
        </p:spPr>
        <p:txBody>
          <a:bodyPr wrap="square" lIns="0" tIns="0" rIns="0" bIns="0" rtlCol="0" anchor="ctr"/>
          <a:lstStyle/>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Advanced Telerobotics Research Lab</a:t>
            </a:r>
            <a:endParaRPr lang="en-US" sz="2700" dirty="0"/>
          </a:p>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Kent State University</a:t>
            </a:r>
            <a:endParaRPr lang="en-US" sz="2700" dirty="0"/>
          </a:p>
        </p:txBody>
      </p:sp>
      <p:sp>
        <p:nvSpPr>
          <p:cNvPr id="6" name="Placeholder eyebrow"/>
          <p:cNvSpPr>
            <a:spLocks noGrp="1"/>
          </p:cNvSpPr>
          <p:nvPr>
            <p:ph idx="104" type="body" hasCustomPrompt="1"/>
          </p:nvPr>
        </p:nvSpPr>
        <p:spPr>
          <a:xfrm>
            <a:off x="1257300" y="590520"/>
            <a:ext cx="960120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003976"/>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JOIN THE LAB</a:t>
            </a:r>
            <a:endParaRPr lang="en-US" sz="2700" dirty="0"/>
          </a:p>
        </p:txBody>
      </p:sp>
      <p:sp>
        <p:nvSpPr>
          <p:cNvPr id="7" name="Placeholder headline"/>
          <p:cNvSpPr>
            <a:spLocks noGrp="1"/>
          </p:cNvSpPr>
          <p:nvPr>
            <p:ph idx="105" type="title" hasCustomPrompt="1"/>
          </p:nvPr>
        </p:nvSpPr>
        <p:spPr>
          <a:xfrm>
            <a:off x="1257300" y="1162020"/>
            <a:ext cx="9601200" cy="1543050"/>
          </a:xfrm>
          <a:prstGeom prst="rect">
            <a:avLst/>
          </a:prstGeom>
          <a:noFill/>
          <a:ln/>
        </p:spPr>
        <p:txBody>
          <a:bodyPr wrap="square" rtlCol="0" lIns="0" tIns="0" rIns="0" bIns="0" anchor="t">
            <a:normAutofit/>
          </a:bodyPr>
          <a:lstStyle>
            <a:lvl1pPr algn="l" indent="0" marL="0">
              <a:lnSpc>
                <a:spcPts val="5850"/>
              </a:lnSpc>
              <a:buNone/>
              <a:defRPr sz="5400" b="1">
                <a:solidFill>
                  <a:srgbClr val="003976"/>
                </a:solidFill>
                <a:latin typeface="Source Sans 3" pitchFamily="34" charset="0"/>
                <a:ea typeface="Source Sans 3" pitchFamily="34" charset="-122"/>
                <a:cs typeface="Source Sans 3" pitchFamily="34" charset="-120"/>
              </a:defRPr>
            </a:lvl1pPr>
          </a:lstStyle>
          <a:p>
            <a:pPr algn="l" indent="0" marL="0">
              <a:lnSpc>
                <a:spcPts val="5850"/>
              </a:lnSpc>
              <a:buNone/>
            </a:pPr>
            <a:r>
              <a:rPr lang="en-US" sz="5400" b="1" dirty="0">
                <a:solidFill>
                  <a:srgbClr val="003976"/>
                </a:solidFill>
                <a:latin typeface="Source Sans 3" pitchFamily="34" charset="0"/>
                <a:ea typeface="Source Sans 3" pitchFamily="34" charset="-122"/>
                <a:cs typeface="Source Sans 3" pitchFamily="34" charset="-120"/>
              </a:rPr>
              <a:t>Headline, up to 2 lines at 54 pt; longer text shrinks to fit, so cut words rather than accept small type</a:t>
            </a:r>
            <a:endParaRPr lang="en-US" sz="5400" dirty="0"/>
          </a:p>
        </p:txBody>
      </p:sp>
      <p:sp>
        <p:nvSpPr>
          <p:cNvPr id="8" name="Placeholder points"/>
          <p:cNvSpPr>
            <a:spLocks noGrp="1"/>
          </p:cNvSpPr>
          <p:nvPr>
            <p:ph idx="106" type="body" hasCustomPrompt="1"/>
          </p:nvPr>
        </p:nvSpPr>
        <p:spPr>
          <a:xfrm>
            <a:off x="1257300" y="2838389"/>
            <a:ext cx="7696230" cy="1162020"/>
          </a:xfrm>
          <a:prstGeom prst="rect">
            <a:avLst/>
          </a:prstGeom>
          <a:noFill/>
          <a:ln/>
        </p:spPr>
        <p:txBody>
          <a:bodyPr wrap="square" rtlCol="0" lIns="0" tIns="0" rIns="0" bIns="0" anchor="t">
            <a:normAutofit/>
          </a:bodyPr>
          <a:lstStyle>
            <a:lvl1pPr algn="l" indent="0" marL="0">
              <a:lnSpc>
                <a:spcPts val="3750"/>
              </a:lnSpc>
              <a:spcAft>
                <a:spcPts val="600"/>
              </a:spcAft>
              <a:buNone/>
              <a:defRPr sz="3000">
                <a:solidFill>
                  <a:srgbClr val="1B2533"/>
                </a:solidFill>
                <a:latin typeface="Source Sans 3" pitchFamily="34" charset="0"/>
                <a:ea typeface="Source Sans 3" pitchFamily="34" charset="-122"/>
                <a:cs typeface="Source Sans 3" pitchFamily="34" charset="-120"/>
              </a:defRPr>
            </a:lvl1pPr>
          </a:lstStyle>
          <a:p>
            <a:pPr algn="l" indent="0" marL="0">
              <a:lnSpc>
                <a:spcPts val="3750"/>
              </a:lnSpc>
              <a:spcAft>
                <a:spcPts val="600"/>
              </a:spcAft>
              <a:buNone/>
            </a:pPr>
            <a:r>
              <a:rPr lang="en-US" sz="3000" dirty="0">
                <a:solidFill>
                  <a:srgbClr val="1B2533"/>
                </a:solidFill>
                <a:latin typeface="Source Sans 3" pitchFamily="34" charset="0"/>
                <a:ea typeface="Source Sans 3" pitchFamily="34" charset="-122"/>
                <a:cs typeface="Source Sans 3" pitchFamily="34" charset="-120"/>
              </a:rPr>
              <a:t>Short points (2 lines in all): who, what you would work on, how to apply</a:t>
            </a:r>
            <a:endParaRPr lang="en-US" sz="3000" dirty="0"/>
          </a:p>
        </p:txBody>
      </p:sp>
      <p:sp>
        <p:nvSpPr>
          <p:cNvPr id="9" name="Placeholder cta"/>
          <p:cNvSpPr>
            <a:spLocks noGrp="1"/>
          </p:cNvSpPr>
          <p:nvPr>
            <p:ph idx="107" type="body" hasCustomPrompt="1"/>
          </p:nvPr>
        </p:nvSpPr>
        <p:spPr>
          <a:xfrm>
            <a:off x="1257300" y="4057650"/>
            <a:ext cx="7696230" cy="476220"/>
          </a:xfrm>
          <a:prstGeom prst="rect">
            <a:avLst/>
          </a:prstGeom>
          <a:noFill/>
          <a:ln/>
        </p:spPr>
        <p:txBody>
          <a:bodyPr wrap="square" rtlCol="0" lIns="0" tIns="0" rIns="0" bIns="0" anchor="ctr">
            <a:normAutofit/>
          </a:bodyPr>
          <a:lstStyle>
            <a:lvl1pPr algn="l" indent="0" marL="0">
              <a:lnSpc>
                <a:spcPts val="3300"/>
              </a:lnSpc>
              <a:buNone/>
              <a:defRPr sz="2700">
                <a:solidFill>
                  <a:srgbClr val="003976"/>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003976"/>
                </a:solidFill>
                <a:latin typeface="Source Code Pro" pitchFamily="34" charset="0"/>
                <a:ea typeface="Source Code Pro" pitchFamily="34" charset="-122"/>
                <a:cs typeface="Source Code Pro" pitchFamily="34" charset="-120"/>
              </a:rPr>
              <a:t>How to apply, e.g. atr.cs.kent.edu  ·  [Join page]</a:t>
            </a:r>
            <a:endParaRPr lang="en-US" sz="27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Milestone">
    <p:bg>
      <p:bgPr>
        <a:solidFill>
          <a:srgbClr val="003976"/>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685800" cy="6429421"/>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220170" y="228600"/>
            <a:ext cx="1904970" cy="104772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1257300" y="4810110"/>
            <a:ext cx="1015258" cy="1047720"/>
          </a:xfrm>
          <a:prstGeom prst="rect">
            <a:avLst/>
          </a:prstGeom>
        </p:spPr>
      </p:pic>
      <p:pic>
        <p:nvPicPr>
          <p:cNvPr id="5" name="Image 3" descr="Kent State University wordmark">    </p:cNvPr>
          <p:cNvPicPr>
            <a:picLocks noChangeAspect="1"/>
          </p:cNvPicPr>
          <p:nvPr/>
        </p:nvPicPr>
        <p:blipFill>
          <a:blip r:embed="rId4"/>
          <a:stretch>
            <a:fillRect/>
          </a:stretch>
        </p:blipFill>
        <p:spPr>
          <a:xfrm>
            <a:off x="9761403" y="4810110"/>
            <a:ext cx="1097097" cy="1047720"/>
          </a:xfrm>
          <a:prstGeom prst="rect">
            <a:avLst/>
          </a:prstGeom>
        </p:spPr>
      </p:pic>
      <p:sp>
        <p:nvSpPr>
          <p:cNvPr id="6" name="Placeholder eyebrow"/>
          <p:cNvSpPr>
            <a:spLocks noGrp="1"/>
          </p:cNvSpPr>
          <p:nvPr>
            <p:ph idx="104" type="body" hasCustomPrompt="1"/>
          </p:nvPr>
        </p:nvSpPr>
        <p:spPr>
          <a:xfrm>
            <a:off x="1257300" y="571500"/>
            <a:ext cx="731520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EFAB00"/>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MILESTONE</a:t>
            </a:r>
            <a:endParaRPr lang="en-US" sz="2700" dirty="0"/>
          </a:p>
        </p:txBody>
      </p:sp>
      <p:sp>
        <p:nvSpPr>
          <p:cNvPr id="7" name="Placeholder number"/>
          <p:cNvSpPr>
            <a:spLocks noGrp="1"/>
          </p:cNvSpPr>
          <p:nvPr>
            <p:ph idx="105" type="title" hasCustomPrompt="1"/>
          </p:nvPr>
        </p:nvSpPr>
        <p:spPr>
          <a:xfrm>
            <a:off x="1257300" y="1143000"/>
            <a:ext cx="5276820" cy="2809860"/>
          </a:xfrm>
          <a:prstGeom prst="rect">
            <a:avLst/>
          </a:prstGeom>
          <a:noFill/>
          <a:ln/>
        </p:spPr>
        <p:txBody>
          <a:bodyPr wrap="square" rtlCol="0" lIns="0" tIns="0" rIns="0" bIns="0" anchor="ctr">
            <a:normAutofit/>
          </a:bodyPr>
          <a:lstStyle>
            <a:lvl1pPr algn="l" indent="0" marL="0">
              <a:lnSpc>
                <a:spcPts val="16950"/>
              </a:lnSpc>
              <a:buNone/>
              <a:defRPr sz="16500" b="1" spc="-200" kern="0">
                <a:solidFill>
                  <a:srgbClr val="EFAB00"/>
                </a:solidFill>
                <a:latin typeface="Roboto Slab" pitchFamily="34" charset="0"/>
                <a:ea typeface="Roboto Slab" pitchFamily="34" charset="-122"/>
                <a:cs typeface="Roboto Slab" pitchFamily="34" charset="-120"/>
              </a:defRPr>
            </a:lvl1pPr>
          </a:lstStyle>
          <a:p>
            <a:pPr algn="l" indent="0" marL="0">
              <a:lnSpc>
                <a:spcPts val="16950"/>
              </a:lnSpc>
              <a:buNone/>
            </a:pPr>
            <a:r>
              <a:rPr lang="en-US" sz="16500" b="1" spc="-200" kern="0" dirty="0">
                <a:solidFill>
                  <a:srgbClr val="EFAB00"/>
                </a:solidFill>
                <a:latin typeface="Roboto Slab" pitchFamily="34" charset="0"/>
                <a:ea typeface="Roboto Slab" pitchFamily="34" charset="-122"/>
                <a:cs typeface="Roboto Slab" pitchFamily="34" charset="-120"/>
              </a:rPr>
              <a:t>Number (up to 4 characters at full size; a longer number shrinks to fit)</a:t>
            </a:r>
            <a:endParaRPr lang="en-US" sz="16500" dirty="0"/>
          </a:p>
        </p:txBody>
      </p:sp>
      <p:sp>
        <p:nvSpPr>
          <p:cNvPr id="8" name="Placeholder label"/>
          <p:cNvSpPr>
            <a:spLocks noGrp="1"/>
          </p:cNvSpPr>
          <p:nvPr>
            <p:ph idx="106" type="body" hasCustomPrompt="1"/>
          </p:nvPr>
        </p:nvSpPr>
        <p:spPr>
          <a:xfrm>
            <a:off x="6915150" y="1143000"/>
            <a:ext cx="3943350" cy="2809860"/>
          </a:xfrm>
          <a:prstGeom prst="rect">
            <a:avLst/>
          </a:prstGeom>
          <a:noFill/>
          <a:ln/>
        </p:spPr>
        <p:txBody>
          <a:bodyPr wrap="square" rtlCol="0" lIns="0" tIns="0" rIns="0" bIns="0" anchor="ctr">
            <a:normAutofit/>
          </a:bodyPr>
          <a:lstStyle>
            <a:lvl1pPr algn="l" indent="0" marL="0">
              <a:lnSpc>
                <a:spcPts val="3750"/>
              </a:lnSpc>
              <a:buNone/>
              <a:defRPr sz="3000">
                <a:solidFill>
                  <a:srgbClr val="FFFFFF"/>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dirty="0">
                <a:solidFill>
                  <a:srgbClr val="FFFFFF"/>
                </a:solidFill>
                <a:latin typeface="Source Sans 3" pitchFamily="34" charset="0"/>
                <a:ea typeface="Source Sans 3" pitchFamily="34" charset="-122"/>
                <a:cs typeface="Source Sans 3" pitchFamily="34" charset="-120"/>
              </a:rPr>
              <a:t>What the number is, up to four lines</a:t>
            </a:r>
            <a:endParaRPr lang="en-US" sz="3000" dirty="0"/>
          </a:p>
        </p:txBody>
      </p:sp>
      <p:sp>
        <p:nvSpPr>
          <p:cNvPr id="9" name="Placeholder source"/>
          <p:cNvSpPr>
            <a:spLocks noGrp="1"/>
          </p:cNvSpPr>
          <p:nvPr>
            <p:ph idx="107" type="body" hasCustomPrompt="1"/>
          </p:nvPr>
        </p:nvSpPr>
        <p:spPr>
          <a:xfrm>
            <a:off x="1257300" y="4086271"/>
            <a:ext cx="9601200" cy="476220"/>
          </a:xfrm>
          <a:prstGeom prst="rect">
            <a:avLst/>
          </a:prstGeom>
          <a:noFill/>
          <a:ln/>
        </p:spPr>
        <p:txBody>
          <a:bodyPr wrap="square" rtlCol="0" lIns="0" tIns="0" rIns="0" bIns="0" anchor="ctr">
            <a:normAutofit/>
          </a:bodyPr>
          <a:lstStyle>
            <a:lvl1pPr algn="l" indent="0" marL="0">
              <a:lnSpc>
                <a:spcPts val="3300"/>
              </a:lnSpc>
              <a:buNone/>
              <a:defRPr sz="2700">
                <a:solidFill>
                  <a:srgbClr val="EFAB00"/>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Source or link, e.g. atr.cs.kent.edu/[news post]</a:t>
            </a:r>
            <a:endParaRPr lang="en-US" sz="27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potlight quote">
    <p:bg>
      <p:bgPr>
        <a:solidFill>
          <a:srgbClr val="003976"/>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685800" cy="6429421"/>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220170" y="228600"/>
            <a:ext cx="1904970" cy="104772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1257300" y="4810110"/>
            <a:ext cx="1015258" cy="1047720"/>
          </a:xfrm>
          <a:prstGeom prst="rect">
            <a:avLst/>
          </a:prstGeom>
        </p:spPr>
      </p:pic>
      <p:pic>
        <p:nvPicPr>
          <p:cNvPr id="5" name="Image 3" descr="Kent State University wordmark">    </p:cNvPr>
          <p:cNvPicPr>
            <a:picLocks noChangeAspect="1"/>
          </p:cNvPicPr>
          <p:nvPr/>
        </p:nvPicPr>
        <p:blipFill>
          <a:blip r:embed="rId4"/>
          <a:stretch>
            <a:fillRect/>
          </a:stretch>
        </p:blipFill>
        <p:spPr>
          <a:xfrm>
            <a:off x="9761403" y="4810110"/>
            <a:ext cx="1097097" cy="1047720"/>
          </a:xfrm>
          <a:prstGeom prst="rect">
            <a:avLst/>
          </a:prstGeom>
        </p:spPr>
      </p:pic>
      <p:sp>
        <p:nvSpPr>
          <p:cNvPr id="6" name="Placeholder eyebrow"/>
          <p:cNvSpPr>
            <a:spLocks noGrp="1"/>
          </p:cNvSpPr>
          <p:nvPr>
            <p:ph idx="104" type="body" hasCustomPrompt="1"/>
          </p:nvPr>
        </p:nvSpPr>
        <p:spPr>
          <a:xfrm>
            <a:off x="1257300" y="857250"/>
            <a:ext cx="731520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EFAB00"/>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[STUDENT SPOTLIGHT]</a:t>
            </a:r>
            <a:endParaRPr lang="en-US" sz="2700" dirty="0"/>
          </a:p>
        </p:txBody>
      </p:sp>
      <p:sp>
        <p:nvSpPr>
          <p:cNvPr id="7" name="Picture Placeholder photo"/>
          <p:cNvSpPr>
            <a:spLocks noGrp="1"/>
          </p:cNvSpPr>
          <p:nvPr>
            <p:ph idx="105" hasCustomPrompt="1" type="pic"/>
          </p:nvPr>
        </p:nvSpPr>
        <p:spPr>
          <a:xfrm>
            <a:off x="8191470" y="1504920"/>
            <a:ext cx="2667030" cy="2667030"/>
          </a:xfrm>
          <a:prstGeom prst="rect">
            <a:avLst/>
          </a:prstGeom>
          <a:solidFill>
            <a:srgbClr val="F3F6FA"/>
          </a:solidFill>
          <a:ln/>
        </p:spPr>
        <p:txBody>
          <a:bodyPr wrap="square" rtlCol="0"/>
          <a:lstStyle>
            <a:lvl1pPr indent="0" marL="0">
              <a:buNone/>
              <a:defRPr lang="en-US" dirty="0"/>
            </a:lvl1pPr>
          </a:lstStyle>
          <a:p>
            <a:pPr indent="0" marL="0">
              <a:buNone/>
            </a:pPr>
            <a:r>
              <a:rPr lang="en-US" dirty="0">
                <a:solidFill>
                  <a:srgbClr val="000000"/>
                </a:solidFill>
              </a:rPr>
              <a:t>Add a real photo of the person (with their written permission)</a:t>
            </a:r>
            <a:endParaRPr lang="en-US" dirty="0"/>
          </a:p>
        </p:txBody>
      </p:sp>
      <p:sp>
        <p:nvSpPr>
          <p:cNvPr id="8" name="Placeholder name"/>
          <p:cNvSpPr>
            <a:spLocks noGrp="1"/>
          </p:cNvSpPr>
          <p:nvPr>
            <p:ph idx="106" type="body" hasCustomPrompt="1"/>
          </p:nvPr>
        </p:nvSpPr>
        <p:spPr>
          <a:xfrm>
            <a:off x="1257300" y="1504920"/>
            <a:ext cx="6553230" cy="533370"/>
          </a:xfrm>
          <a:prstGeom prst="rect">
            <a:avLst/>
          </a:prstGeom>
          <a:noFill/>
          <a:ln/>
        </p:spPr>
        <p:txBody>
          <a:bodyPr wrap="square" rtlCol="0" lIns="0" tIns="0" rIns="0" bIns="0" anchor="ctr">
            <a:normAutofit/>
          </a:bodyPr>
          <a:lstStyle>
            <a:lvl1pPr algn="l" indent="0" marL="0">
              <a:lnSpc>
                <a:spcPts val="3750"/>
              </a:lnSpc>
              <a:buNone/>
              <a:defRPr sz="3000" b="1">
                <a:solidFill>
                  <a:srgbClr val="FFFFFF"/>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b="1" dirty="0">
                <a:solidFill>
                  <a:srgbClr val="FFFFFF"/>
                </a:solidFill>
                <a:latin typeface="Source Sans 3" pitchFamily="34" charset="0"/>
                <a:ea typeface="Source Sans 3" pitchFamily="34" charset="-122"/>
                <a:cs typeface="Source Sans 3" pitchFamily="34" charset="-120"/>
              </a:rPr>
              <a:t>Name</a:t>
            </a:r>
            <a:endParaRPr lang="en-US" sz="3000" dirty="0"/>
          </a:p>
        </p:txBody>
      </p:sp>
      <p:sp>
        <p:nvSpPr>
          <p:cNvPr id="9" name="Placeholder role"/>
          <p:cNvSpPr>
            <a:spLocks noGrp="1"/>
          </p:cNvSpPr>
          <p:nvPr>
            <p:ph idx="107" type="body" hasCustomPrompt="1"/>
          </p:nvPr>
        </p:nvSpPr>
        <p:spPr>
          <a:xfrm>
            <a:off x="1257300" y="2019270"/>
            <a:ext cx="6553230" cy="476220"/>
          </a:xfrm>
          <a:prstGeom prst="rect">
            <a:avLst/>
          </a:prstGeom>
          <a:noFill/>
          <a:ln/>
        </p:spPr>
        <p:txBody>
          <a:bodyPr wrap="square" rtlCol="0" lIns="0" tIns="0" rIns="0" bIns="0" anchor="t">
            <a:normAutofit/>
          </a:bodyPr>
          <a:lstStyle>
            <a:lvl1pPr algn="l" indent="0" marL="0">
              <a:lnSpc>
                <a:spcPts val="3300"/>
              </a:lnSpc>
              <a:buNone/>
              <a:defRPr sz="2700">
                <a:solidFill>
                  <a:srgbClr val="FFFFFF"/>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dirty="0">
                <a:solidFill>
                  <a:srgbClr val="FFFFFF"/>
                </a:solidFill>
                <a:latin typeface="Source Sans 3" pitchFamily="34" charset="0"/>
                <a:ea typeface="Source Sans 3" pitchFamily="34" charset="-122"/>
                <a:cs typeface="Source Sans 3" pitchFamily="34" charset="-120"/>
              </a:rPr>
              <a:t>Role, e.g. [Ph.D. student, computer science]</a:t>
            </a:r>
            <a:endParaRPr lang="en-US" sz="2700" dirty="0"/>
          </a:p>
        </p:txBody>
      </p:sp>
      <p:pic>
        <p:nvPicPr>
          <p:cNvPr id="10" name="Image 4" descr="Opening quotation mark">    </p:cNvPr>
          <p:cNvPicPr>
            <a:picLocks noChangeAspect="1"/>
          </p:cNvPicPr>
          <p:nvPr/>
        </p:nvPicPr>
        <p:blipFill>
          <a:blip r:embed="rId5"/>
          <a:stretch>
            <a:fillRect/>
          </a:stretch>
        </p:blipFill>
        <p:spPr>
          <a:xfrm>
            <a:off x="1257300" y="2667030"/>
            <a:ext cx="761970" cy="761970"/>
          </a:xfrm>
          <a:prstGeom prst="rect">
            <a:avLst/>
          </a:prstGeom>
        </p:spPr>
      </p:pic>
      <p:sp>
        <p:nvSpPr>
          <p:cNvPr id="11" name="Placeholder quote"/>
          <p:cNvSpPr>
            <a:spLocks noGrp="1"/>
          </p:cNvSpPr>
          <p:nvPr>
            <p:ph idx="109" type="body" hasCustomPrompt="1"/>
          </p:nvPr>
        </p:nvSpPr>
        <p:spPr>
          <a:xfrm>
            <a:off x="2286000" y="2667030"/>
            <a:ext cx="5524530" cy="1600200"/>
          </a:xfrm>
          <a:prstGeom prst="rect">
            <a:avLst/>
          </a:prstGeom>
          <a:noFill/>
          <a:ln/>
        </p:spPr>
        <p:txBody>
          <a:bodyPr wrap="square" rtlCol="0" lIns="0" tIns="0" rIns="0" bIns="0" anchor="t">
            <a:normAutofit/>
          </a:bodyPr>
          <a:lstStyle>
            <a:lvl1pPr algn="l" indent="0" marL="0">
              <a:lnSpc>
                <a:spcPts val="4050"/>
              </a:lnSpc>
              <a:buNone/>
              <a:defRPr sz="3300">
                <a:solidFill>
                  <a:srgbClr val="FFFFFF"/>
                </a:solidFill>
                <a:latin typeface="Roboto Slab" pitchFamily="34" charset="0"/>
                <a:ea typeface="Roboto Slab" pitchFamily="34" charset="-122"/>
                <a:cs typeface="Roboto Slab" pitchFamily="34" charset="-120"/>
              </a:defRPr>
            </a:lvl1pPr>
          </a:lstStyle>
          <a:p>
            <a:pPr algn="l" indent="0" marL="0">
              <a:lnSpc>
                <a:spcPts val="4050"/>
              </a:lnSpc>
              <a:buNone/>
            </a:pPr>
            <a:r>
              <a:rPr lang="en-US" sz="3300" dirty="0">
                <a:solidFill>
                  <a:srgbClr val="FFFFFF"/>
                </a:solidFill>
                <a:latin typeface="Roboto Slab" pitchFamily="34" charset="0"/>
                <a:ea typeface="Roboto Slab" pitchFamily="34" charset="-122"/>
                <a:cs typeface="Roboto Slab" pitchFamily="34" charset="-120"/>
              </a:rPr>
              <a:t>Quote the person approved, up to 3 lines</a:t>
            </a:r>
            <a:endParaRPr lang="en-US" sz="33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mo video cover">
    <p:bg>
      <p:bgPr>
        <a:solidFill>
          <a:srgbClr val="003976"/>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685800" cy="6429421"/>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220170" y="228600"/>
            <a:ext cx="1904970" cy="104772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1257300" y="4810110"/>
            <a:ext cx="1015258" cy="1047720"/>
          </a:xfrm>
          <a:prstGeom prst="rect">
            <a:avLst/>
          </a:prstGeom>
        </p:spPr>
      </p:pic>
      <p:pic>
        <p:nvPicPr>
          <p:cNvPr id="5" name="Image 3" descr="Kent State University wordmark">    </p:cNvPr>
          <p:cNvPicPr>
            <a:picLocks noChangeAspect="1"/>
          </p:cNvPicPr>
          <p:nvPr/>
        </p:nvPicPr>
        <p:blipFill>
          <a:blip r:embed="rId4"/>
          <a:stretch>
            <a:fillRect/>
          </a:stretch>
        </p:blipFill>
        <p:spPr>
          <a:xfrm>
            <a:off x="9761403" y="4810110"/>
            <a:ext cx="1097097" cy="1047720"/>
          </a:xfrm>
          <a:prstGeom prst="rect">
            <a:avLst/>
          </a:prstGeom>
        </p:spPr>
      </p:pic>
      <p:sp>
        <p:nvSpPr>
          <p:cNvPr id="6" name="Placeholder eyebrow"/>
          <p:cNvSpPr>
            <a:spLocks noGrp="1"/>
          </p:cNvSpPr>
          <p:nvPr>
            <p:ph idx="104" type="body" hasCustomPrompt="1"/>
          </p:nvPr>
        </p:nvSpPr>
        <p:spPr>
          <a:xfrm>
            <a:off x="1257300" y="628650"/>
            <a:ext cx="731520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EFAB00"/>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DEMO VIDEO</a:t>
            </a:r>
            <a:endParaRPr lang="en-US" sz="2700" dirty="0"/>
          </a:p>
        </p:txBody>
      </p:sp>
      <p:sp>
        <p:nvSpPr>
          <p:cNvPr id="7" name="Picture Placeholder frame"/>
          <p:cNvSpPr>
            <a:spLocks noGrp="1"/>
          </p:cNvSpPr>
          <p:nvPr>
            <p:ph idx="105" hasCustomPrompt="1" type="pic"/>
          </p:nvPr>
        </p:nvSpPr>
        <p:spPr>
          <a:xfrm>
            <a:off x="6096030" y="1200150"/>
            <a:ext cx="4762470" cy="2676540"/>
          </a:xfrm>
          <a:prstGeom prst="rect">
            <a:avLst/>
          </a:prstGeom>
          <a:solidFill>
            <a:srgbClr val="F3F6FA"/>
          </a:solidFill>
          <a:ln/>
        </p:spPr>
        <p:txBody>
          <a:bodyPr wrap="square" rtlCol="0"/>
          <a:lstStyle>
            <a:lvl1pPr indent="0" marL="0">
              <a:buNone/>
              <a:defRPr lang="en-US" dirty="0"/>
            </a:lvl1pPr>
          </a:lstStyle>
          <a:p>
            <a:pPr indent="0" marL="0">
              <a:buNone/>
            </a:pPr>
            <a:r>
              <a:rPr lang="en-US" dirty="0">
                <a:solidFill>
                  <a:srgbClr val="000000"/>
                </a:solidFill>
              </a:rPr>
              <a:t>Add a real frame from the video (16:9)</a:t>
            </a:r>
            <a:endParaRPr lang="en-US" dirty="0"/>
          </a:p>
        </p:txBody>
      </p:sp>
      <p:sp>
        <p:nvSpPr>
          <p:cNvPr id="8" name="Placeholder title"/>
          <p:cNvSpPr>
            <a:spLocks noGrp="1"/>
          </p:cNvSpPr>
          <p:nvPr>
            <p:ph idx="106" type="title" hasCustomPrompt="1"/>
          </p:nvPr>
        </p:nvSpPr>
        <p:spPr>
          <a:xfrm>
            <a:off x="1257300" y="1200150"/>
            <a:ext cx="4457700" cy="1657350"/>
          </a:xfrm>
          <a:prstGeom prst="rect">
            <a:avLst/>
          </a:prstGeom>
          <a:noFill/>
          <a:ln/>
        </p:spPr>
        <p:txBody>
          <a:bodyPr wrap="square" rtlCol="0" lIns="0" tIns="0" rIns="0" bIns="0" anchor="t">
            <a:normAutofit/>
          </a:bodyPr>
          <a:lstStyle>
            <a:lvl1pPr algn="l" indent="0" marL="0">
              <a:lnSpc>
                <a:spcPts val="4200"/>
              </a:lnSpc>
              <a:buNone/>
              <a:defRPr sz="3900" b="1">
                <a:solidFill>
                  <a:srgbClr val="FFFFFF"/>
                </a:solidFill>
                <a:latin typeface="Source Sans 3" pitchFamily="34" charset="0"/>
                <a:ea typeface="Source Sans 3" pitchFamily="34" charset="-122"/>
                <a:cs typeface="Source Sans 3" pitchFamily="34" charset="-120"/>
              </a:defRPr>
            </a:lvl1pPr>
          </a:lstStyle>
          <a:p>
            <a:pPr algn="l" indent="0" marL="0">
              <a:lnSpc>
                <a:spcPts val="4200"/>
              </a:lnSpc>
              <a:buNone/>
            </a:pPr>
            <a:r>
              <a:rPr lang="en-US" sz="3900" b="1" dirty="0">
                <a:solidFill>
                  <a:srgbClr val="FFFFFF"/>
                </a:solidFill>
                <a:latin typeface="Source Sans 3" pitchFamily="34" charset="0"/>
                <a:ea typeface="Source Sans 3" pitchFamily="34" charset="-122"/>
                <a:cs typeface="Source Sans 3" pitchFamily="34" charset="-120"/>
              </a:rPr>
              <a:t>What the robot does, three to five words</a:t>
            </a:r>
            <a:endParaRPr lang="en-US" sz="3900" dirty="0"/>
          </a:p>
        </p:txBody>
      </p:sp>
      <p:sp>
        <p:nvSpPr>
          <p:cNvPr id="9" name="Placeholder flags"/>
          <p:cNvSpPr>
            <a:spLocks noGrp="1"/>
          </p:cNvSpPr>
          <p:nvPr>
            <p:ph idx="107" type="body" hasCustomPrompt="1"/>
          </p:nvPr>
        </p:nvSpPr>
        <p:spPr>
          <a:xfrm>
            <a:off x="1257300" y="4029121"/>
            <a:ext cx="9601200" cy="476220"/>
          </a:xfrm>
          <a:prstGeom prst="rect">
            <a:avLst/>
          </a:prstGeom>
          <a:noFill/>
          <a:ln/>
        </p:spPr>
        <p:txBody>
          <a:bodyPr wrap="square" rtlCol="0" lIns="0" tIns="0" rIns="0" bIns="0" anchor="ctr">
            <a:normAutofit/>
          </a:bodyPr>
          <a:lstStyle>
            <a:lvl1pPr algn="l" indent="0" marL="0">
              <a:lnSpc>
                <a:spcPts val="3300"/>
              </a:lnSpc>
              <a:buNone/>
              <a:defRPr sz="2700">
                <a:solidFill>
                  <a:srgbClr val="EFAB00"/>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Honesty labels: [2X SPEED]  ·  [TELEOPERATED]</a:t>
            </a:r>
            <a:endParaRPr lang="en-US" sz="27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ank you / Welcome">
    <p:bg>
      <p:bgPr>
        <a:solidFill>
          <a:srgbClr val="EFAB00"/>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685800" cy="6429421"/>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220170" y="4219590"/>
            <a:ext cx="1904970" cy="190497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1257300" y="4810110"/>
            <a:ext cx="1015258" cy="1047720"/>
          </a:xfrm>
          <a:prstGeom prst="rect">
            <a:avLst/>
          </a:prstGeom>
        </p:spPr>
      </p:pic>
      <p:sp>
        <p:nvSpPr>
          <p:cNvPr id="5" name="Text 0"/>
          <p:cNvSpPr txBox="1"/>
          <p:nvPr/>
        </p:nvSpPr>
        <p:spPr>
          <a:xfrm>
            <a:off x="2691628" y="4810110"/>
            <a:ext cx="5715000" cy="1047720"/>
          </a:xfrm>
          <a:prstGeom prst="rect">
            <a:avLst/>
          </a:prstGeom>
          <a:noFill/>
          <a:ln/>
        </p:spPr>
        <p:txBody>
          <a:bodyPr wrap="square" lIns="0" tIns="0" rIns="0" bIns="0" rtlCol="0" anchor="ctr"/>
          <a:lstStyle/>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Advanced Telerobotics Research Lab</a:t>
            </a:r>
            <a:endParaRPr lang="en-US" sz="2700" dirty="0"/>
          </a:p>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Kent State University</a:t>
            </a:r>
            <a:endParaRPr lang="en-US" sz="2700" dirty="0"/>
          </a:p>
        </p:txBody>
      </p:sp>
      <p:sp>
        <p:nvSpPr>
          <p:cNvPr id="6" name="Placeholder eyebrow"/>
          <p:cNvSpPr>
            <a:spLocks noGrp="1"/>
          </p:cNvSpPr>
          <p:nvPr>
            <p:ph idx="104" type="body" hasCustomPrompt="1"/>
          </p:nvPr>
        </p:nvSpPr>
        <p:spPr>
          <a:xfrm>
            <a:off x="1257300" y="857250"/>
            <a:ext cx="960120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003976"/>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[THANK YOU or WELCOME]</a:t>
            </a:r>
            <a:endParaRPr lang="en-US" sz="2700" dirty="0"/>
          </a:p>
        </p:txBody>
      </p:sp>
      <p:sp>
        <p:nvSpPr>
          <p:cNvPr id="7" name="Placeholder display"/>
          <p:cNvSpPr>
            <a:spLocks noGrp="1"/>
          </p:cNvSpPr>
          <p:nvPr>
            <p:ph idx="105" type="title" hasCustomPrompt="1"/>
          </p:nvPr>
        </p:nvSpPr>
        <p:spPr>
          <a:xfrm>
            <a:off x="1257300" y="1504920"/>
            <a:ext cx="9601200" cy="1009680"/>
          </a:xfrm>
          <a:prstGeom prst="rect">
            <a:avLst/>
          </a:prstGeom>
          <a:noFill/>
          <a:ln/>
        </p:spPr>
        <p:txBody>
          <a:bodyPr wrap="square" rtlCol="0" lIns="0" tIns="0" rIns="0" bIns="0" anchor="ctr">
            <a:normAutofit/>
          </a:bodyPr>
          <a:lstStyle>
            <a:lvl1pPr algn="l" indent="0" marL="0">
              <a:lnSpc>
                <a:spcPts val="7500"/>
              </a:lnSpc>
              <a:buNone/>
              <a:defRPr sz="7200">
                <a:solidFill>
                  <a:srgbClr val="003976"/>
                </a:solidFill>
                <a:latin typeface="Source Sans 3 Black" pitchFamily="34" charset="0"/>
                <a:ea typeface="Source Sans 3 Black" pitchFamily="34" charset="-122"/>
                <a:cs typeface="Source Sans 3 Black" pitchFamily="34" charset="-120"/>
              </a:defRPr>
            </a:lvl1pPr>
          </a:lstStyle>
          <a:p>
            <a:pPr algn="l" indent="0" marL="0">
              <a:lnSpc>
                <a:spcPts val="7500"/>
              </a:lnSpc>
              <a:buNone/>
            </a:pPr>
            <a:r>
              <a:rPr lang="en-US" sz="7200" dirty="0">
                <a:solidFill>
                  <a:srgbClr val="003976"/>
                </a:solidFill>
                <a:latin typeface="Source Sans 3 Black" pitchFamily="34" charset="0"/>
                <a:ea typeface="Source Sans 3 Black" pitchFamily="34" charset="-122"/>
                <a:cs typeface="Source Sans 3 Black" pitchFamily="34" charset="-120"/>
              </a:rPr>
              <a:t>Thank you  /  Welcome</a:t>
            </a:r>
            <a:endParaRPr lang="en-US" sz="7200" dirty="0"/>
          </a:p>
        </p:txBody>
      </p:sp>
      <p:sp>
        <p:nvSpPr>
          <p:cNvPr id="8" name="Placeholder support"/>
          <p:cNvSpPr>
            <a:spLocks noGrp="1"/>
          </p:cNvSpPr>
          <p:nvPr>
            <p:ph idx="106" type="body" hasCustomPrompt="1"/>
          </p:nvPr>
        </p:nvSpPr>
        <p:spPr>
          <a:xfrm>
            <a:off x="1257300" y="2647920"/>
            <a:ext cx="7696230" cy="1009680"/>
          </a:xfrm>
          <a:prstGeom prst="rect">
            <a:avLst/>
          </a:prstGeom>
          <a:noFill/>
          <a:ln/>
        </p:spPr>
        <p:txBody>
          <a:bodyPr wrap="square" rtlCol="0" lIns="0" tIns="0" rIns="0" bIns="0" anchor="t">
            <a:normAutofit/>
          </a:bodyPr>
          <a:lstStyle>
            <a:lvl1pPr algn="l" indent="0" marL="0">
              <a:lnSpc>
                <a:spcPts val="3750"/>
              </a:lnSpc>
              <a:buNone/>
              <a:defRPr sz="3000">
                <a:solidFill>
                  <a:srgbClr val="1B2533"/>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dirty="0">
                <a:solidFill>
                  <a:srgbClr val="1B2533"/>
                </a:solidFill>
                <a:latin typeface="Source Sans 3" pitchFamily="34" charset="0"/>
                <a:ea typeface="Source Sans 3" pitchFamily="34" charset="-122"/>
                <a:cs typeface="Source Sans 3" pitchFamily="34" charset="-120"/>
              </a:rPr>
              <a:t>Who and why, up to 2 lines</a:t>
            </a:r>
            <a:endParaRPr lang="en-US" sz="3000" dirty="0"/>
          </a:p>
        </p:txBody>
      </p:sp>
      <p:sp>
        <p:nvSpPr>
          <p:cNvPr id="9" name="Placeholder next"/>
          <p:cNvSpPr>
            <a:spLocks noGrp="1"/>
          </p:cNvSpPr>
          <p:nvPr>
            <p:ph idx="107" type="body" hasCustomPrompt="1"/>
          </p:nvPr>
        </p:nvSpPr>
        <p:spPr>
          <a:xfrm>
            <a:off x="1257300" y="3790920"/>
            <a:ext cx="7696230" cy="476220"/>
          </a:xfrm>
          <a:prstGeom prst="rect">
            <a:avLst/>
          </a:prstGeom>
          <a:noFill/>
          <a:ln/>
        </p:spPr>
        <p:txBody>
          <a:bodyPr wrap="square" rtlCol="0" lIns="0" tIns="0" rIns="0" bIns="0" anchor="ctr">
            <a:normAutofit/>
          </a:bodyPr>
          <a:lstStyle>
            <a:lvl1pPr algn="l" indent="0" marL="0">
              <a:lnSpc>
                <a:spcPts val="3300"/>
              </a:lnSpc>
              <a:buNone/>
              <a:defRPr sz="2700">
                <a:solidFill>
                  <a:srgbClr val="003976"/>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003976"/>
                </a:solidFill>
                <a:latin typeface="Source Code Pro" pitchFamily="34" charset="0"/>
                <a:ea typeface="Source Code Pro" pitchFamily="34" charset="-122"/>
                <a:cs typeface="Source Code Pro" pitchFamily="34" charset="-120"/>
              </a:rPr>
              <a:t>What is next, e.g. Next: [event, date]</a:t>
            </a:r>
            <a:endParaRPr lang="en-US" sz="2700" dirty="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laceholder eyebrow"/>
          <p:cNvSpPr/>
          <p:nvPr>
            <p:ph idx="104" type="body"/>
          </p:nvPr>
        </p:nvSpPr>
        <p:spPr>
          <a:xfrm>
            <a:off x="1257300" y="571500"/>
            <a:ext cx="731520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ANNOUNCEMENT</a:t>
            </a:r>
            <a:endParaRPr lang="en-US" sz="2700" dirty="0"/>
          </a:p>
        </p:txBody>
      </p:sp>
      <p:sp>
        <p:nvSpPr>
          <p:cNvPr id="3" name="Placeholder headline"/>
          <p:cNvSpPr/>
          <p:nvPr>
            <p:ph idx="105" type="title"/>
          </p:nvPr>
        </p:nvSpPr>
        <p:spPr>
          <a:xfrm>
            <a:off x="1257300" y="1181130"/>
            <a:ext cx="9601200" cy="1543050"/>
          </a:xfrm>
          <a:prstGeom prst="rect">
            <a:avLst/>
          </a:prstGeom>
          <a:noFill/>
          <a:ln/>
        </p:spPr>
        <p:txBody>
          <a:bodyPr wrap="square" lIns="0" tIns="0" rIns="0" bIns="0" rtlCol="0" anchor="t">
            <a:normAutofit/>
          </a:bodyPr>
          <a:lstStyle/>
          <a:p>
            <a:pPr algn="l" indent="0" marL="0">
              <a:lnSpc>
                <a:spcPts val="5850"/>
              </a:lnSpc>
              <a:buNone/>
            </a:pPr>
            <a:r>
              <a:rPr lang="en-US" sz="5400" b="1" dirty="0">
                <a:solidFill>
                  <a:srgbClr val="FFFFFF"/>
                </a:solidFill>
                <a:latin typeface="Source Sans 3" pitchFamily="34" charset="0"/>
                <a:ea typeface="Source Sans 3" pitchFamily="34" charset="-122"/>
                <a:cs typeface="Source Sans 3" pitchFamily="34" charset="-120"/>
              </a:rPr>
              <a:t>Hands-on Physical AI and robotics</a:t>
            </a:r>
            <a:endParaRPr lang="en-US" sz="5400" dirty="0"/>
          </a:p>
        </p:txBody>
      </p:sp>
      <p:sp>
        <p:nvSpPr>
          <p:cNvPr id="4" name="Placeholder support"/>
          <p:cNvSpPr/>
          <p:nvPr>
            <p:ph idx="106" type="body"/>
          </p:nvPr>
        </p:nvSpPr>
        <p:spPr>
          <a:xfrm>
            <a:off x="1257300" y="2933670"/>
            <a:ext cx="9601200" cy="1009680"/>
          </a:xfrm>
          <a:prstGeom prst="rect">
            <a:avLst/>
          </a:prstGeom>
          <a:noFill/>
          <a:ln/>
        </p:spPr>
        <p:txBody>
          <a:bodyPr wrap="square" lIns="0" tIns="0" rIns="0" bIns="0" rtlCol="0" anchor="t">
            <a:normAutofit/>
          </a:bodyPr>
          <a:lstStyle/>
          <a:p>
            <a:pPr algn="l" indent="0" marL="0">
              <a:lnSpc>
                <a:spcPts val="3750"/>
              </a:lnSpc>
              <a:buNone/>
            </a:pPr>
            <a:r>
              <a:rPr lang="en-US" sz="3000" dirty="0">
                <a:solidFill>
                  <a:srgbClr val="FFFFFF"/>
                </a:solidFill>
                <a:latin typeface="Source Sans 3" pitchFamily="34" charset="0"/>
                <a:ea typeface="Source Sans 3" pitchFamily="34" charset="-122"/>
                <a:cs typeface="Source Sans 3" pitchFamily="34" charset="-120"/>
              </a:rPr>
              <a:t>Spend your summer on a real robotics research team at Kent State University.</a:t>
            </a:r>
            <a:endParaRPr lang="en-US" sz="3000" dirty="0"/>
          </a:p>
        </p:txBody>
      </p:sp>
      <p:sp>
        <p:nvSpPr>
          <p:cNvPr id="5" name="Placeholder link"/>
          <p:cNvSpPr/>
          <p:nvPr>
            <p:ph idx="107" type="body"/>
          </p:nvPr>
        </p:nvSpPr>
        <p:spPr>
          <a:xfrm>
            <a:off x="1257300" y="4076670"/>
            <a:ext cx="960120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atr.cs.kent.edu</a:t>
            </a:r>
            <a:endParaRPr lang="en-US" sz="2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Placeholder eyebrow"/>
          <p:cNvSpPr/>
          <p:nvPr>
            <p:ph idx="104" type="body"/>
          </p:nvPr>
        </p:nvSpPr>
        <p:spPr>
          <a:xfrm>
            <a:off x="1257300" y="819120"/>
            <a:ext cx="960120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EVENT</a:t>
            </a:r>
            <a:endParaRPr lang="en-US" sz="2700" dirty="0"/>
          </a:p>
        </p:txBody>
      </p:sp>
      <p:sp>
        <p:nvSpPr>
          <p:cNvPr id="3" name="Placeholder headline"/>
          <p:cNvSpPr/>
          <p:nvPr>
            <p:ph idx="105" type="title"/>
          </p:nvPr>
        </p:nvSpPr>
        <p:spPr>
          <a:xfrm>
            <a:off x="1257300" y="1466789"/>
            <a:ext cx="3810030" cy="1543050"/>
          </a:xfrm>
          <a:prstGeom prst="rect">
            <a:avLst/>
          </a:prstGeom>
          <a:noFill/>
          <a:ln/>
        </p:spPr>
        <p:txBody>
          <a:bodyPr wrap="square" lIns="0" tIns="0" rIns="0" bIns="0" rtlCol="0" anchor="t">
            <a:normAutofit/>
          </a:bodyPr>
          <a:lstStyle/>
          <a:p>
            <a:pPr algn="l" indent="0" marL="0">
              <a:lnSpc>
                <a:spcPts val="5850"/>
              </a:lnSpc>
              <a:buNone/>
            </a:pPr>
            <a:r>
              <a:rPr lang="en-US" sz="5400" b="1" dirty="0">
                <a:solidFill>
                  <a:srgbClr val="003976"/>
                </a:solidFill>
                <a:latin typeface="Source Sans 3" pitchFamily="34" charset="0"/>
                <a:ea typeface="Source Sans 3" pitchFamily="34" charset="-122"/>
                <a:cs typeface="Source Sans 3" pitchFamily="34" charset="-120"/>
              </a:rPr>
              <a:t>Open lab night</a:t>
            </a:r>
            <a:endParaRPr lang="en-US" sz="5400" dirty="0"/>
          </a:p>
        </p:txBody>
      </p:sp>
      <p:sp>
        <p:nvSpPr>
          <p:cNvPr id="4" name="Placeholder when"/>
          <p:cNvSpPr/>
          <p:nvPr>
            <p:ph idx="107" type="body"/>
          </p:nvPr>
        </p:nvSpPr>
        <p:spPr>
          <a:xfrm>
            <a:off x="6210330" y="1466789"/>
            <a:ext cx="4648170" cy="1009680"/>
          </a:xfrm>
          <a:prstGeom prst="rect">
            <a:avLst/>
          </a:prstGeom>
          <a:noFill/>
          <a:ln/>
        </p:spPr>
        <p:txBody>
          <a:bodyPr wrap="square" lIns="0" tIns="0" rIns="0" bIns="0" rtlCol="0" anchor="t">
            <a:normAutofit/>
          </a:bodyPr>
          <a:lstStyle/>
          <a:p>
            <a:pPr algn="l" indent="0" marL="0">
              <a:lnSpc>
                <a:spcPts val="3750"/>
              </a:lnSpc>
              <a:buNone/>
            </a:pPr>
            <a:r>
              <a:rPr lang="en-US" sz="3000" dirty="0">
                <a:solidFill>
                  <a:srgbClr val="1B2533"/>
                </a:solidFill>
                <a:latin typeface="Source Sans 3" pitchFamily="34" charset="0"/>
                <a:ea typeface="Source Sans 3" pitchFamily="34" charset="-122"/>
                <a:cs typeface="Source Sans 3" pitchFamily="34" charset="-120"/>
              </a:rPr>
              <a:t>[Sept. 23]  ·  [6-8 p.m.]</a:t>
            </a:r>
            <a:endParaRPr lang="en-US" sz="3000" dirty="0"/>
          </a:p>
        </p:txBody>
      </p:sp>
      <p:sp>
        <p:nvSpPr>
          <p:cNvPr id="5" name="Placeholder where"/>
          <p:cNvSpPr/>
          <p:nvPr>
            <p:ph idx="109" type="body"/>
          </p:nvPr>
        </p:nvSpPr>
        <p:spPr>
          <a:xfrm>
            <a:off x="6210330" y="2609789"/>
            <a:ext cx="4648170" cy="1009680"/>
          </a:xfrm>
          <a:prstGeom prst="rect">
            <a:avLst/>
          </a:prstGeom>
          <a:noFill/>
          <a:ln/>
        </p:spPr>
        <p:txBody>
          <a:bodyPr wrap="square" lIns="0" tIns="0" rIns="0" bIns="0" rtlCol="0" anchor="t">
            <a:normAutofit/>
          </a:bodyPr>
          <a:lstStyle/>
          <a:p>
            <a:pPr algn="l" indent="0" marL="0">
              <a:lnSpc>
                <a:spcPts val="3750"/>
              </a:lnSpc>
              <a:buNone/>
            </a:pPr>
            <a:r>
              <a:rPr lang="en-US" sz="3000" dirty="0">
                <a:solidFill>
                  <a:srgbClr val="1B2533"/>
                </a:solidFill>
                <a:latin typeface="Source Sans 3" pitchFamily="34" charset="0"/>
                <a:ea typeface="Source Sans 3" pitchFamily="34" charset="-122"/>
                <a:cs typeface="Source Sans 3" pitchFamily="34" charset="-120"/>
              </a:rPr>
              <a:t>[Room], Mathematical Sciences Building</a:t>
            </a:r>
            <a:endParaRPr lang="en-US" sz="3000" dirty="0"/>
          </a:p>
        </p:txBody>
      </p:sp>
      <p:sp>
        <p:nvSpPr>
          <p:cNvPr id="6" name="Placeholder cta"/>
          <p:cNvSpPr/>
          <p:nvPr>
            <p:ph idx="110" type="body"/>
          </p:nvPr>
        </p:nvSpPr>
        <p:spPr>
          <a:xfrm>
            <a:off x="5448270" y="3829050"/>
            <a:ext cx="541023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003976"/>
                </a:solidFill>
                <a:latin typeface="Source Code Pro" pitchFamily="34" charset="0"/>
                <a:ea typeface="Source Code Pro" pitchFamily="34" charset="-122"/>
                <a:cs typeface="Source Code Pro" pitchFamily="34" charset="-120"/>
              </a:rPr>
              <a:t>RSVP: [link]</a:t>
            </a:r>
            <a:endParaRPr lang="en-US" sz="2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Placeholder eyebrow"/>
          <p:cNvSpPr/>
          <p:nvPr>
            <p:ph idx="104" type="body"/>
          </p:nvPr>
        </p:nvSpPr>
        <p:spPr>
          <a:xfrm>
            <a:off x="1257300" y="600121"/>
            <a:ext cx="731520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PAPER ACCEPTED  ·  [VENUE 2027]</a:t>
            </a:r>
            <a:endParaRPr lang="en-US" sz="2700" dirty="0"/>
          </a:p>
        </p:txBody>
      </p:sp>
      <p:sp>
        <p:nvSpPr>
          <p:cNvPr id="3" name="Placeholder title"/>
          <p:cNvSpPr/>
          <p:nvPr>
            <p:ph idx="105" type="title"/>
          </p:nvPr>
        </p:nvSpPr>
        <p:spPr>
          <a:xfrm>
            <a:off x="1257300" y="1171621"/>
            <a:ext cx="9601200" cy="1657350"/>
          </a:xfrm>
          <a:prstGeom prst="rect">
            <a:avLst/>
          </a:prstGeom>
          <a:noFill/>
          <a:ln/>
        </p:spPr>
        <p:txBody>
          <a:bodyPr wrap="square" lIns="0" tIns="0" rIns="0" bIns="0" rtlCol="0" anchor="t">
            <a:normAutofit/>
          </a:bodyPr>
          <a:lstStyle/>
          <a:p>
            <a:pPr algn="l" indent="0" marL="0">
              <a:lnSpc>
                <a:spcPts val="4200"/>
              </a:lnSpc>
              <a:buNone/>
            </a:pPr>
            <a:r>
              <a:rPr lang="en-US" sz="3900" b="1" dirty="0">
                <a:solidFill>
                  <a:srgbClr val="FFFFFF"/>
                </a:solidFill>
                <a:latin typeface="Source Sans 3" pitchFamily="34" charset="0"/>
                <a:ea typeface="Source Sans 3" pitchFamily="34" charset="-122"/>
                <a:cs typeface="Source Sans 3" pitchFamily="34" charset="-120"/>
              </a:rPr>
              <a:t>[Paper title: the contribution in plain words, up to three lines]</a:t>
            </a:r>
            <a:endParaRPr lang="en-US" sz="3900" dirty="0"/>
          </a:p>
        </p:txBody>
      </p:sp>
      <p:sp>
        <p:nvSpPr>
          <p:cNvPr id="4" name="Placeholder authors"/>
          <p:cNvSpPr/>
          <p:nvPr>
            <p:ph idx="106" type="body"/>
          </p:nvPr>
        </p:nvSpPr>
        <p:spPr>
          <a:xfrm>
            <a:off x="1257300" y="2962290"/>
            <a:ext cx="9601200" cy="533370"/>
          </a:xfrm>
          <a:prstGeom prst="rect">
            <a:avLst/>
          </a:prstGeom>
          <a:noFill/>
          <a:ln/>
        </p:spPr>
        <p:txBody>
          <a:bodyPr wrap="square" lIns="0" tIns="0" rIns="0" bIns="0" rtlCol="0" anchor="t">
            <a:normAutofit/>
          </a:bodyPr>
          <a:lstStyle/>
          <a:p>
            <a:pPr algn="l" indent="0" marL="0">
              <a:lnSpc>
                <a:spcPts val="3750"/>
              </a:lnSpc>
              <a:buNone/>
            </a:pPr>
            <a:r>
              <a:rPr lang="en-US" sz="3000" dirty="0">
                <a:solidFill>
                  <a:srgbClr val="FFFFFF"/>
                </a:solidFill>
                <a:latin typeface="Source Sans 3" pitchFamily="34" charset="0"/>
                <a:ea typeface="Source Sans 3" pitchFamily="34" charset="-122"/>
                <a:cs typeface="Source Sans 3" pitchFamily="34" charset="-120"/>
              </a:rPr>
              <a:t>[Author One], [Author Two] and [Author Three]</a:t>
            </a:r>
            <a:endParaRPr lang="en-US" sz="3000" dirty="0"/>
          </a:p>
        </p:txBody>
      </p:sp>
      <p:sp>
        <p:nvSpPr>
          <p:cNvPr id="5" name="Placeholder venue"/>
          <p:cNvSpPr/>
          <p:nvPr>
            <p:ph idx="107" type="body"/>
          </p:nvPr>
        </p:nvSpPr>
        <p:spPr>
          <a:xfrm>
            <a:off x="1257300" y="3552901"/>
            <a:ext cx="960120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[Conference], [City]  ·  [Month YYYY]</a:t>
            </a:r>
            <a:endParaRPr lang="en-US" sz="2700" dirty="0"/>
          </a:p>
        </p:txBody>
      </p:sp>
      <p:sp>
        <p:nvSpPr>
          <p:cNvPr id="6" name="Placeholder cta"/>
          <p:cNvSpPr/>
          <p:nvPr>
            <p:ph idx="108" type="body"/>
          </p:nvPr>
        </p:nvSpPr>
        <p:spPr>
          <a:xfrm>
            <a:off x="1257300" y="4048140"/>
            <a:ext cx="960120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FFFFFF"/>
                </a:solidFill>
                <a:latin typeface="Source Code Pro" pitchFamily="34" charset="0"/>
                <a:ea typeface="Source Code Pro" pitchFamily="34" charset="-122"/>
                <a:cs typeface="Source Code Pro" pitchFamily="34" charset="-120"/>
              </a:rPr>
              <a:t>Read the paper: link in bio</a:t>
            </a:r>
            <a:endParaRPr lang="en-US" sz="2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laceholder eyebrow"/>
          <p:cNvSpPr/>
          <p:nvPr>
            <p:ph idx="104" type="body"/>
          </p:nvPr>
        </p:nvSpPr>
        <p:spPr>
          <a:xfrm>
            <a:off x="1257300" y="590520"/>
            <a:ext cx="960120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JOIN THE LAB</a:t>
            </a:r>
            <a:endParaRPr lang="en-US" sz="2700" dirty="0"/>
          </a:p>
        </p:txBody>
      </p:sp>
      <p:sp>
        <p:nvSpPr>
          <p:cNvPr id="3" name="Placeholder headline"/>
          <p:cNvSpPr/>
          <p:nvPr>
            <p:ph idx="105" type="title"/>
          </p:nvPr>
        </p:nvSpPr>
        <p:spPr>
          <a:xfrm>
            <a:off x="1257300" y="1162020"/>
            <a:ext cx="9601200" cy="1543050"/>
          </a:xfrm>
          <a:prstGeom prst="rect">
            <a:avLst/>
          </a:prstGeom>
          <a:noFill/>
          <a:ln/>
        </p:spPr>
        <p:txBody>
          <a:bodyPr wrap="square" lIns="0" tIns="0" rIns="0" bIns="0" rtlCol="0" anchor="t">
            <a:normAutofit/>
          </a:bodyPr>
          <a:lstStyle/>
          <a:p>
            <a:pPr algn="l" indent="0" marL="0">
              <a:lnSpc>
                <a:spcPts val="5850"/>
              </a:lnSpc>
              <a:buNone/>
            </a:pPr>
            <a:r>
              <a:rPr lang="en-US" sz="5400" b="1" dirty="0">
                <a:solidFill>
                  <a:srgbClr val="003976"/>
                </a:solidFill>
                <a:latin typeface="Source Sans 3" pitchFamily="34" charset="0"/>
                <a:ea typeface="Source Sans 3" pitchFamily="34" charset="-122"/>
                <a:cs typeface="Source Sans 3" pitchFamily="34" charset="-120"/>
              </a:rPr>
              <a:t>Build real robots before you graduate</a:t>
            </a:r>
            <a:endParaRPr lang="en-US" sz="5400" dirty="0"/>
          </a:p>
        </p:txBody>
      </p:sp>
      <p:sp>
        <p:nvSpPr>
          <p:cNvPr id="4" name="Placeholder points"/>
          <p:cNvSpPr/>
          <p:nvPr>
            <p:ph idx="106" type="body"/>
          </p:nvPr>
        </p:nvSpPr>
        <p:spPr>
          <a:xfrm>
            <a:off x="1257300" y="2838389"/>
            <a:ext cx="7696230" cy="1162020"/>
          </a:xfrm>
          <a:prstGeom prst="rect">
            <a:avLst/>
          </a:prstGeom>
          <a:noFill/>
          <a:ln/>
        </p:spPr>
        <p:txBody>
          <a:bodyPr wrap="square" lIns="0" tIns="0" rIns="0" bIns="0" rtlCol="0" anchor="t">
            <a:normAutofit/>
          </a:bodyPr>
          <a:lstStyle/>
          <a:p>
            <a:pPr algn="l" marL="381000" indent="-381000">
              <a:lnSpc>
                <a:spcPts val="3750"/>
              </a:lnSpc>
              <a:spcAft>
                <a:spcPts val="600"/>
              </a:spcAft>
              <a:buSzPct val="100000"/>
              <a:buChar char="▸"/>
            </a:pPr>
            <a:r>
              <a:rPr lang="en-US" sz="3000" dirty="0">
                <a:solidFill>
                  <a:srgbClr val="1B2533"/>
                </a:solidFill>
                <a:latin typeface="Source Sans 3" pitchFamily="34" charset="0"/>
                <a:ea typeface="Source Sans 3" pitchFamily="34" charset="-122"/>
                <a:cs typeface="Source Sans 3" pitchFamily="34" charset="-120"/>
              </a:rPr>
              <a:t>[Who can apply]</a:t>
            </a:r>
            <a:endParaRPr lang="en-US" sz="3000" dirty="0"/>
          </a:p>
          <a:p>
            <a:pPr algn="l" marL="381000" indent="-381000">
              <a:lnSpc>
                <a:spcPts val="3750"/>
              </a:lnSpc>
              <a:spcAft>
                <a:spcPts val="600"/>
              </a:spcAft>
              <a:buSzPct val="100000"/>
              <a:buChar char="▸"/>
            </a:pPr>
            <a:r>
              <a:rPr lang="en-US" sz="3000" dirty="0">
                <a:solidFill>
                  <a:srgbClr val="1B2533"/>
                </a:solidFill>
                <a:latin typeface="Source Sans 3" pitchFamily="34" charset="0"/>
                <a:ea typeface="Source Sans 3" pitchFamily="34" charset="-122"/>
                <a:cs typeface="Source Sans 3" pitchFamily="34" charset="-120"/>
              </a:rPr>
              <a:t>[How and when to apply]</a:t>
            </a:r>
            <a:endParaRPr lang="en-US" sz="3000" dirty="0"/>
          </a:p>
        </p:txBody>
      </p:sp>
      <p:sp>
        <p:nvSpPr>
          <p:cNvPr id="5" name="Placeholder cta"/>
          <p:cNvSpPr/>
          <p:nvPr>
            <p:ph idx="107" type="body"/>
          </p:nvPr>
        </p:nvSpPr>
        <p:spPr>
          <a:xfrm>
            <a:off x="1257300" y="4057650"/>
            <a:ext cx="769623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003976"/>
                </a:solidFill>
                <a:latin typeface="Source Code Pro" pitchFamily="34" charset="0"/>
                <a:ea typeface="Source Code Pro" pitchFamily="34" charset="-122"/>
                <a:cs typeface="Source Code Pro" pitchFamily="34" charset="-120"/>
              </a:rPr>
              <a:t>atr.cs.kent.edu  ·  [Join page]</a:t>
            </a:r>
            <a:endParaRPr lang="en-US" sz="2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laceholder eyebrow"/>
          <p:cNvSpPr/>
          <p:nvPr>
            <p:ph idx="104" type="body"/>
          </p:nvPr>
        </p:nvSpPr>
        <p:spPr>
          <a:xfrm>
            <a:off x="1257300" y="571500"/>
            <a:ext cx="731520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MILESTONE</a:t>
            </a:r>
            <a:endParaRPr lang="en-US" sz="2700" dirty="0"/>
          </a:p>
        </p:txBody>
      </p:sp>
      <p:sp>
        <p:nvSpPr>
          <p:cNvPr id="3" name="Placeholder number"/>
          <p:cNvSpPr/>
          <p:nvPr>
            <p:ph idx="105" type="title"/>
          </p:nvPr>
        </p:nvSpPr>
        <p:spPr>
          <a:xfrm>
            <a:off x="1257300" y="1143000"/>
            <a:ext cx="5276820" cy="2809860"/>
          </a:xfrm>
          <a:prstGeom prst="rect">
            <a:avLst/>
          </a:prstGeom>
          <a:noFill/>
          <a:ln/>
        </p:spPr>
        <p:txBody>
          <a:bodyPr wrap="square" lIns="0" tIns="0" rIns="0" bIns="0" rtlCol="0" anchor="ctr">
            <a:normAutofit/>
          </a:bodyPr>
          <a:lstStyle/>
          <a:p>
            <a:pPr algn="l" indent="0" marL="0">
              <a:lnSpc>
                <a:spcPts val="16950"/>
              </a:lnSpc>
              <a:buNone/>
            </a:pPr>
            <a:r>
              <a:rPr lang="en-US" sz="16500" b="1" spc="-200" kern="0" dirty="0">
                <a:solidFill>
                  <a:srgbClr val="EFAB00"/>
                </a:solidFill>
                <a:latin typeface="Roboto Slab" pitchFamily="34" charset="0"/>
                <a:ea typeface="Roboto Slab" pitchFamily="34" charset="-122"/>
                <a:cs typeface="Roboto Slab" pitchFamily="34" charset="-120"/>
              </a:rPr>
              <a:t>[10]</a:t>
            </a:r>
            <a:endParaRPr lang="en-US" sz="16500" dirty="0"/>
          </a:p>
        </p:txBody>
      </p:sp>
      <p:sp>
        <p:nvSpPr>
          <p:cNvPr id="4" name="Placeholder label"/>
          <p:cNvSpPr/>
          <p:nvPr>
            <p:ph idx="106" type="body"/>
          </p:nvPr>
        </p:nvSpPr>
        <p:spPr>
          <a:xfrm>
            <a:off x="6915150" y="1143000"/>
            <a:ext cx="3943350" cy="2809860"/>
          </a:xfrm>
          <a:prstGeom prst="rect">
            <a:avLst/>
          </a:prstGeom>
          <a:noFill/>
          <a:ln/>
        </p:spPr>
        <p:txBody>
          <a:bodyPr wrap="square" lIns="0" tIns="0" rIns="0" bIns="0" rtlCol="0" anchor="ctr">
            <a:normAutofit/>
          </a:bodyPr>
          <a:lstStyle/>
          <a:p>
            <a:pPr algn="l" indent="0" marL="0">
              <a:lnSpc>
                <a:spcPts val="3750"/>
              </a:lnSpc>
              <a:buNone/>
            </a:pPr>
            <a:r>
              <a:rPr lang="en-US" sz="3000" dirty="0">
                <a:solidFill>
                  <a:srgbClr val="FFFFFF"/>
                </a:solidFill>
                <a:latin typeface="Source Sans 3" pitchFamily="34" charset="0"/>
                <a:ea typeface="Source Sans 3" pitchFamily="34" charset="-122"/>
                <a:cs typeface="Source Sans 3" pitchFamily="34" charset="-120"/>
              </a:rPr>
              <a:t>years of telerobotics research at Kent State: the lab opened its doors in spring 2017</a:t>
            </a:r>
            <a:endParaRPr lang="en-US" sz="3000" dirty="0"/>
          </a:p>
        </p:txBody>
      </p:sp>
      <p:sp>
        <p:nvSpPr>
          <p:cNvPr id="5" name="Placeholder source"/>
          <p:cNvSpPr/>
          <p:nvPr>
            <p:ph idx="107" type="body"/>
          </p:nvPr>
        </p:nvSpPr>
        <p:spPr>
          <a:xfrm>
            <a:off x="1257300" y="4086271"/>
            <a:ext cx="960120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atr.cs.kent.edu/[news post]</a:t>
            </a:r>
            <a:endParaRPr lang="en-US" sz="2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laceholder eyebrow"/>
          <p:cNvSpPr/>
          <p:nvPr>
            <p:ph idx="104" type="body"/>
          </p:nvPr>
        </p:nvSpPr>
        <p:spPr>
          <a:xfrm>
            <a:off x="1257300" y="857250"/>
            <a:ext cx="731520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[STUDENT SPOTLIGHT]</a:t>
            </a:r>
            <a:endParaRPr lang="en-US" sz="2700" dirty="0"/>
          </a:p>
        </p:txBody>
      </p:sp>
      <p:pic>
        <p:nvPicPr>
          <p:cNvPr id="3" name="Picture Placeholder photo" descr="Photo placeholder: replace with a real photo of the person">    </p:cNvPr>
          <p:cNvPicPr>
            <a:picLocks noChangeAspect="1"/>
          </p:cNvPicPr>
          <p:nvPr>
            <p:ph idx="105" type="pic"/>
          </p:nvPr>
        </p:nvPicPr>
        <p:blipFill>
          <a:blip r:embed="rId1"/>
          <a:stretch>
            <a:fillRect/>
          </a:stretch>
        </p:blipFill>
        <p:spPr>
          <a:xfrm>
            <a:off x="8191470" y="1504920"/>
            <a:ext cx="2667030" cy="2667030"/>
          </a:xfrm>
          <a:prstGeom prst="rect">
            <a:avLst/>
          </a:prstGeom>
        </p:spPr>
      </p:pic>
      <p:sp>
        <p:nvSpPr>
          <p:cNvPr id="4" name="Placeholder name"/>
          <p:cNvSpPr/>
          <p:nvPr>
            <p:ph idx="106" type="body"/>
          </p:nvPr>
        </p:nvSpPr>
        <p:spPr>
          <a:xfrm>
            <a:off x="1257300" y="1504920"/>
            <a:ext cx="6553230" cy="533370"/>
          </a:xfrm>
          <a:prstGeom prst="rect">
            <a:avLst/>
          </a:prstGeom>
          <a:noFill/>
          <a:ln/>
        </p:spPr>
        <p:txBody>
          <a:bodyPr wrap="square" lIns="0" tIns="0" rIns="0" bIns="0" rtlCol="0" anchor="ctr">
            <a:normAutofit/>
          </a:bodyPr>
          <a:lstStyle/>
          <a:p>
            <a:pPr algn="l" indent="0" marL="0">
              <a:lnSpc>
                <a:spcPts val="3750"/>
              </a:lnSpc>
              <a:buNone/>
            </a:pPr>
            <a:r>
              <a:rPr lang="en-US" sz="3000" b="1" dirty="0">
                <a:solidFill>
                  <a:srgbClr val="FFFFFF"/>
                </a:solidFill>
                <a:latin typeface="Source Sans 3" pitchFamily="34" charset="0"/>
                <a:ea typeface="Source Sans 3" pitchFamily="34" charset="-122"/>
                <a:cs typeface="Source Sans 3" pitchFamily="34" charset="-120"/>
              </a:rPr>
              <a:t>[First Last]</a:t>
            </a:r>
            <a:endParaRPr lang="en-US" sz="3000" dirty="0"/>
          </a:p>
        </p:txBody>
      </p:sp>
      <p:sp>
        <p:nvSpPr>
          <p:cNvPr id="5" name="Placeholder role"/>
          <p:cNvSpPr/>
          <p:nvPr>
            <p:ph idx="107" type="body"/>
          </p:nvPr>
        </p:nvSpPr>
        <p:spPr>
          <a:xfrm>
            <a:off x="1257300" y="2019270"/>
            <a:ext cx="6553230" cy="476220"/>
          </a:xfrm>
          <a:prstGeom prst="rect">
            <a:avLst/>
          </a:prstGeom>
          <a:noFill/>
          <a:ln/>
        </p:spPr>
        <p:txBody>
          <a:bodyPr wrap="square" lIns="0" tIns="0" rIns="0" bIns="0" rtlCol="0" anchor="t">
            <a:normAutofit/>
          </a:bodyPr>
          <a:lstStyle/>
          <a:p>
            <a:pPr algn="l" indent="0" marL="0">
              <a:lnSpc>
                <a:spcPts val="3300"/>
              </a:lnSpc>
              <a:buNone/>
            </a:pPr>
            <a:r>
              <a:rPr lang="en-US" sz="2700" dirty="0">
                <a:solidFill>
                  <a:srgbClr val="FFFFFF"/>
                </a:solidFill>
                <a:latin typeface="Source Sans 3" pitchFamily="34" charset="0"/>
                <a:ea typeface="Source Sans 3" pitchFamily="34" charset="-122"/>
                <a:cs typeface="Source Sans 3" pitchFamily="34" charset="-120"/>
              </a:rPr>
              <a:t>[Ph.D. student, computer science]</a:t>
            </a:r>
            <a:endParaRPr lang="en-US" sz="2700" dirty="0"/>
          </a:p>
        </p:txBody>
      </p:sp>
      <p:sp>
        <p:nvSpPr>
          <p:cNvPr id="6" name="Placeholder quote"/>
          <p:cNvSpPr/>
          <p:nvPr>
            <p:ph idx="109" type="body"/>
          </p:nvPr>
        </p:nvSpPr>
        <p:spPr>
          <a:xfrm>
            <a:off x="2286000" y="2667030"/>
            <a:ext cx="5524530" cy="1600200"/>
          </a:xfrm>
          <a:prstGeom prst="rect">
            <a:avLst/>
          </a:prstGeom>
          <a:noFill/>
          <a:ln/>
        </p:spPr>
        <p:txBody>
          <a:bodyPr wrap="square" lIns="0" tIns="0" rIns="0" bIns="0" rtlCol="0" anchor="t">
            <a:normAutofit/>
          </a:bodyPr>
          <a:lstStyle/>
          <a:p>
            <a:pPr algn="l" indent="0" marL="0">
              <a:lnSpc>
                <a:spcPts val="4050"/>
              </a:lnSpc>
              <a:buNone/>
            </a:pPr>
            <a:r>
              <a:rPr lang="en-US" sz="3300" dirty="0">
                <a:solidFill>
                  <a:srgbClr val="FFFFFF"/>
                </a:solidFill>
                <a:latin typeface="Roboto Slab" pitchFamily="34" charset="0"/>
                <a:ea typeface="Roboto Slab" pitchFamily="34" charset="-122"/>
                <a:cs typeface="Roboto Slab" pitchFamily="34" charset="-120"/>
              </a:rPr>
              <a:t>[A short quote the person approved, 20 words or fewer.]</a:t>
            </a:r>
            <a:endParaRPr lang="en-US" sz="3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laceholder eyebrow"/>
          <p:cNvSpPr/>
          <p:nvPr>
            <p:ph idx="104" type="body"/>
          </p:nvPr>
        </p:nvSpPr>
        <p:spPr>
          <a:xfrm>
            <a:off x="1257300" y="628650"/>
            <a:ext cx="731520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DEMO VIDEO</a:t>
            </a:r>
            <a:endParaRPr lang="en-US" sz="2700" dirty="0"/>
          </a:p>
        </p:txBody>
      </p:sp>
      <p:pic>
        <p:nvPicPr>
          <p:cNvPr id="3" name="Picture Placeholder frame" descr="Video frame placeholder: replace with a real frame from the video">    </p:cNvPr>
          <p:cNvPicPr>
            <a:picLocks noChangeAspect="1"/>
          </p:cNvPicPr>
          <p:nvPr>
            <p:ph idx="105" type="pic"/>
          </p:nvPr>
        </p:nvPicPr>
        <p:blipFill>
          <a:blip r:embed="rId1"/>
          <a:stretch>
            <a:fillRect/>
          </a:stretch>
        </p:blipFill>
        <p:spPr>
          <a:xfrm>
            <a:off x="6096030" y="1200150"/>
            <a:ext cx="4762470" cy="2676540"/>
          </a:xfrm>
          <a:prstGeom prst="rect">
            <a:avLst/>
          </a:prstGeom>
        </p:spPr>
      </p:pic>
      <p:pic>
        <p:nvPicPr>
          <p:cNvPr id="4" name="Play badge" descr="Play">    </p:cNvPr>
          <p:cNvPicPr>
            <a:picLocks noChangeAspect="1"/>
          </p:cNvPicPr>
          <p:nvPr/>
        </p:nvPicPr>
        <p:blipFill>
          <a:blip r:embed="rId2"/>
          <a:stretch>
            <a:fillRect/>
          </a:stretch>
        </p:blipFill>
        <p:spPr>
          <a:xfrm>
            <a:off x="6096030" y="2962290"/>
            <a:ext cx="914400" cy="914400"/>
          </a:xfrm>
          <a:prstGeom prst="rect">
            <a:avLst/>
          </a:prstGeom>
        </p:spPr>
      </p:pic>
      <p:sp>
        <p:nvSpPr>
          <p:cNvPr id="5" name="Placeholder title"/>
          <p:cNvSpPr/>
          <p:nvPr>
            <p:ph idx="106" type="title"/>
          </p:nvPr>
        </p:nvSpPr>
        <p:spPr>
          <a:xfrm>
            <a:off x="1257300" y="1200150"/>
            <a:ext cx="4457700" cy="1657350"/>
          </a:xfrm>
          <a:prstGeom prst="rect">
            <a:avLst/>
          </a:prstGeom>
          <a:noFill/>
          <a:ln/>
        </p:spPr>
        <p:txBody>
          <a:bodyPr wrap="square" lIns="0" tIns="0" rIns="0" bIns="0" rtlCol="0" anchor="t">
            <a:normAutofit/>
          </a:bodyPr>
          <a:lstStyle/>
          <a:p>
            <a:pPr algn="l" indent="0" marL="0">
              <a:lnSpc>
                <a:spcPts val="4200"/>
              </a:lnSpc>
              <a:buNone/>
            </a:pPr>
            <a:r>
              <a:rPr lang="en-US" sz="3900" b="1" dirty="0">
                <a:solidFill>
                  <a:srgbClr val="FFFFFF"/>
                </a:solidFill>
                <a:latin typeface="Source Sans 3" pitchFamily="34" charset="0"/>
                <a:ea typeface="Source Sans 3" pitchFamily="34" charset="-122"/>
                <a:cs typeface="Source Sans 3" pitchFamily="34" charset="-120"/>
              </a:rPr>
              <a:t>[What the robot does, in five words]</a:t>
            </a:r>
            <a:endParaRPr lang="en-US" sz="3900" dirty="0"/>
          </a:p>
        </p:txBody>
      </p:sp>
      <p:sp>
        <p:nvSpPr>
          <p:cNvPr id="6" name="Placeholder flags"/>
          <p:cNvSpPr/>
          <p:nvPr>
            <p:ph idx="107" type="body"/>
          </p:nvPr>
        </p:nvSpPr>
        <p:spPr>
          <a:xfrm>
            <a:off x="1257300" y="4029121"/>
            <a:ext cx="960120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[2X SPEED]  ·  [TELEOPERATED]</a:t>
            </a:r>
            <a:endParaRPr lang="en-US" sz="2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laceholder eyebrow"/>
          <p:cNvSpPr/>
          <p:nvPr>
            <p:ph idx="104" type="body"/>
          </p:nvPr>
        </p:nvSpPr>
        <p:spPr>
          <a:xfrm>
            <a:off x="1257300" y="857250"/>
            <a:ext cx="960120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THANK YOU</a:t>
            </a:r>
            <a:endParaRPr lang="en-US" sz="2700" dirty="0"/>
          </a:p>
        </p:txBody>
      </p:sp>
      <p:sp>
        <p:nvSpPr>
          <p:cNvPr id="3" name="Placeholder display"/>
          <p:cNvSpPr/>
          <p:nvPr>
            <p:ph idx="105" type="title"/>
          </p:nvPr>
        </p:nvSpPr>
        <p:spPr>
          <a:xfrm>
            <a:off x="1257300" y="1504920"/>
            <a:ext cx="9601200" cy="1009680"/>
          </a:xfrm>
          <a:prstGeom prst="rect">
            <a:avLst/>
          </a:prstGeom>
          <a:noFill/>
          <a:ln/>
        </p:spPr>
        <p:txBody>
          <a:bodyPr wrap="square" lIns="0" tIns="0" rIns="0" bIns="0" rtlCol="0" anchor="ctr">
            <a:normAutofit/>
          </a:bodyPr>
          <a:lstStyle/>
          <a:p>
            <a:pPr algn="l" indent="0" marL="0">
              <a:lnSpc>
                <a:spcPts val="7500"/>
              </a:lnSpc>
              <a:buNone/>
            </a:pPr>
            <a:r>
              <a:rPr lang="en-US" sz="7200" dirty="0">
                <a:solidFill>
                  <a:srgbClr val="003976"/>
                </a:solidFill>
                <a:latin typeface="Source Sans 3 Black" pitchFamily="34" charset="0"/>
                <a:ea typeface="Source Sans 3 Black" pitchFamily="34" charset="-122"/>
                <a:cs typeface="Source Sans 3 Black" pitchFamily="34" charset="-120"/>
              </a:rPr>
              <a:t>Thank you</a:t>
            </a:r>
            <a:endParaRPr lang="en-US" sz="7200" dirty="0"/>
          </a:p>
        </p:txBody>
      </p:sp>
      <p:sp>
        <p:nvSpPr>
          <p:cNvPr id="4" name="Placeholder support"/>
          <p:cNvSpPr/>
          <p:nvPr>
            <p:ph idx="106" type="body"/>
          </p:nvPr>
        </p:nvSpPr>
        <p:spPr>
          <a:xfrm>
            <a:off x="1257300" y="2647920"/>
            <a:ext cx="7696230" cy="1009680"/>
          </a:xfrm>
          <a:prstGeom prst="rect">
            <a:avLst/>
          </a:prstGeom>
          <a:noFill/>
          <a:ln/>
        </p:spPr>
        <p:txBody>
          <a:bodyPr wrap="square" lIns="0" tIns="0" rIns="0" bIns="0" rtlCol="0" anchor="t">
            <a:normAutofit/>
          </a:bodyPr>
          <a:lstStyle/>
          <a:p>
            <a:pPr algn="l" indent="0" marL="0">
              <a:lnSpc>
                <a:spcPts val="3750"/>
              </a:lnSpc>
              <a:buNone/>
            </a:pPr>
            <a:r>
              <a:rPr lang="en-US" sz="3000" dirty="0">
                <a:solidFill>
                  <a:srgbClr val="1B2533"/>
                </a:solidFill>
                <a:latin typeface="Source Sans 3" pitchFamily="34" charset="0"/>
                <a:ea typeface="Source Sans 3" pitchFamily="34" charset="-122"/>
                <a:cs typeface="Source Sans 3" pitchFamily="34" charset="-120"/>
              </a:rPr>
              <a:t>[to everyone who came to open lab night]</a:t>
            </a:r>
            <a:endParaRPr lang="en-US" sz="3000" dirty="0"/>
          </a:p>
        </p:txBody>
      </p:sp>
      <p:sp>
        <p:nvSpPr>
          <p:cNvPr id="5" name="Placeholder next"/>
          <p:cNvSpPr/>
          <p:nvPr>
            <p:ph idx="107" type="body"/>
          </p:nvPr>
        </p:nvSpPr>
        <p:spPr>
          <a:xfrm>
            <a:off x="1257300" y="3790920"/>
            <a:ext cx="769623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003976"/>
                </a:solidFill>
                <a:latin typeface="Source Code Pro" pitchFamily="34" charset="0"/>
                <a:ea typeface="Source Code Pro" pitchFamily="34" charset="-122"/>
                <a:cs typeface="Source Code Pro" pitchFamily="34" charset="-120"/>
              </a:rPr>
              <a:t>Next: [event, date]</a:t>
            </a:r>
            <a:endParaRPr lang="en-US" sz="2700" dirty="0"/>
          </a:p>
        </p:txBody>
      </p:sp>
    </p:spTree>
  </p:cSld>
  <p:clrMapOvr>
    <a:masterClrMapping/>
  </p:clrMapOvr>
</p:sld>
</file>

<file path=ppt/theme/theme1.xml><?xml version="1.0" encoding="utf-8"?>
<a:theme xmlns:a="http://schemas.openxmlformats.org/drawingml/2006/main" xmlns:r="http://schemas.openxmlformats.org/officeDocument/2006/relationships" name="ATR Lab">
  <a:themeElements>
    <a:clrScheme name="ATR Lab">
      <a:dk1>
        <a:srgbClr val="1B2533"/>
      </a:dk1>
      <a:lt1>
        <a:srgbClr val="FFFFFF"/>
      </a:lt1>
      <a:dk2>
        <a:srgbClr val="003976"/>
      </a:dk2>
      <a:lt2>
        <a:srgbClr val="F3F6FA"/>
      </a:lt2>
      <a:accent1>
        <a:srgbClr val="003976"/>
      </a:accent1>
      <a:accent2>
        <a:srgbClr val="EFAB00"/>
      </a:accent2>
      <a:accent3>
        <a:srgbClr val="2C8ECD"/>
      </a:accent3>
      <a:accent4>
        <a:srgbClr val="B63B35"/>
      </a:accent4>
      <a:accent5>
        <a:srgbClr val="059583"/>
      </a:accent5>
      <a:accent6>
        <a:srgbClr val="DC7533"/>
      </a:accent6>
      <a:hlink>
        <a:srgbClr val="1D65B9"/>
      </a:hlink>
      <a:folHlink>
        <a:srgbClr val="663E9E"/>
      </a:folHlink>
    </a:clrScheme>
    <a:fontScheme name="ATR Lab">
      <a:majorFont>
        <a:latin typeface="Source Sans 3" panose="020B0503030403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ource Sans 3" panose="020B0503030403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R Lab">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TR Navy">
      <a:srgbClr val="003976"/>
    </a:custClr>
    <a:custClr name="ATR Gold">
      <a:srgbClr val="EFAB00"/>
    </a:custClr>
    <a:custClr name="Midnight">
      <a:srgbClr val="00295F"/>
    </a:custClr>
    <a:custClr name="Sky">
      <a:srgbClr val="2C8ECD"/>
    </a:custClr>
    <a:custClr name="Ink">
      <a:srgbClr val="1B2533"/>
    </a:custClr>
    <a:custClr name="Slate">
      <a:srgbClr val="4A5868"/>
    </a:custClr>
    <a:custClr name="Bronze">
      <a:srgbClr val="8A6100"/>
    </a:custClr>
    <a:custClr name="Mist">
      <a:srgbClr val="F3F6FA"/>
    </a:custClr>
    <a:custClr name="Line">
      <a:srgbClr val="D6DEE8"/>
    </a:custClr>
    <a:custClr name="Flash">
      <a:srgbClr val="FFD702"/>
    </a:custClr>
  </a:custClr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Kent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ATR Lab social template: landscape 1200 x 675</dc:title>
  <dc:subject>1200 x 675 px social tile; eight named layouts with placeholders</dc:subject>
  <dc:creator>Advanced Telerobotics Research Lab, Kent State University</dc:creator>
  <cp:lastModifiedBy>Advanced Telerobotics Research Lab, Kent State University</cp:lastModifiedBy>
  <cp:revision>1</cp:revision>
  <dcterms:created xsi:type="dcterms:W3CDTF">2026-09-29T05:20:28Z</dcterms:created>
  <dcterms:modified xsi:type="dcterms:W3CDTF">2026-09-29T05:20:28Z</dcterms:modified>
</cp:coreProperties>
</file>