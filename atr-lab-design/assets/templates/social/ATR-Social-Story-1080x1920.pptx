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0287000" cy="18288000"/>
  <p:notesSz cx="18288000" cy="10287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Announcement (navy tile). Instagram and Facebook Stories and Reels covers, TikTok, YouTube Shorts covers. Export PNG at 1080 x 1920 px.
SAFE ZONE: Meta keeps 14% top, 35% bottom and 6% each side clear for its UI (safe box x 65 to 1015, y 269 to 1248); TikTok keeps 130 px top, 484 px bottom, 44 px left and 140 px right clear. This layout uses the union: text and logos sit in x 72 to 940, y 288 to 1248. The hazard band and the constellation art at the very top and bottom are decoration inside the UI zones.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(keep "ATR LAB ·" and change the label; about 28 characters at most), the headline (three to eight words, up to 4 lines at 72 pt; longer text shrinks to fit, so cut words rather than accept small type), the support line (3 lines) and the link line. Twelve words or fewer on the whole tile.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1920 PX (this slide is 11.25 x 20 in; at PowerPoint's default 96 px/in that is exactly 1080 x 1920).
PowerPoint for Mac: File &gt; Export &gt; File Format: PNG &gt; set Width 1080 and Height 1920 &gt; Export; choose "Save Every Slide" for a folder of PNGs or "Save Current Slide Only".
PowerPoint for Windows: File &gt; Save As (or Save a Copy) &gt; file type PNG &gt; "Just This One" or "All Slides". Windows exports at 96 px/in, which gives 1080 x 1920; check the pixel size in the file's Details tab.
Google Slides: File &gt; Download &gt; PNG image (.png, current slide). Google Slides exports at its own fixed scale, not at the slide's pixel size, so check the downloaded file's size and resize it to exactly 1080 x 1920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Event (gold tile). Instagram and Facebook Stories and Reels covers, TikTok, YouTube Shorts covers. Export PNG at 1080 x 1920 px.
SAFE ZONE: Meta keeps 14% top, 35% bottom and 6% each side clear for its UI (safe box x 65 to 1015, y 269 to 1248); TikTok keeps 130 px top, 484 px bottom, 44 px left and 140 px right clear. This layout uses the union: text and logos sit in x 72 to 940, y 288 to 1248. The hazard band and the constellation art at the very top and bottom are decoration inside the UI zones.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event name (up to 2 lines at 72 pt; longer text shrinks to fit, so cut words rather than accept small type; a one-line name leaves one line of air above the date row, which is by design), the date-and-time row, the place row and the call to action. Dates follow AP style ("Sept. 23", "6-8 p.m.", "9 a.m.-noon"). GOLD TILE RULE: navy or ink text only; never white text on gold (2.0:1). There is no approved Kent State wordmark for gold fields, so the text credit next to the mark names the university.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1920 PX (this slide is 11.25 x 20 in; at PowerPoint's default 96 px/in that is exactly 1080 x 1920).
PowerPoint for Mac: File &gt; Export &gt; File Format: PNG &gt; set Width 1080 and Height 1920 &gt; Export; choose "Save Every Slide" for a folder of PNGs or "Save Current Slide Only".
PowerPoint for Windows: File &gt; Save As (or Save a Copy) &gt; file type PNG &gt; "Just This One" or "All Slides". Windows exports at 96 px/in, which gives 1080 x 1920; check the pixel size in the file's Details tab.
Google Slides: File &gt; Download &gt; PNG image (.png, current slide). Google Slides exports at its own fixed scale, not at the slide's pixel size, so check the downloaded file's size and resize it to exactly 1080 x 1920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Paper accepted (navy tile). Instagram and Facebook Stories and Reels covers, TikTok, YouTube Shorts covers. Export PNG at 1080 x 1920 px.
SAFE ZONE: Meta keeps 14% top, 35% bottom and 6% each side clear for its UI (safe box x 65 to 1015, y 269 to 1248); TikTok keeps 130 px top, 484 px bottom, 44 px left and 140 px right clear. This layout uses the union: text and logos sit in x 72 to 940, y 288 to 1248. The hazard band and the constellation art at the very top and bottom are decoration inside the UI zones.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venue in the eyebrow, the paper title (no quotation marks; keep the paper's hedges; up to 5 lines at 54 pt; longer text shrinks to fit, so cut words rather than accept small type), the author line (name students only with their written permission; no Oxford comma), the venue line and the read-it line. POST ONLY after acceptance is public and any anonymity period or embargo is over. Put the DOI or the publication page link in the caption or first comment; no link shorteners.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1920 PX (this slide is 11.25 x 20 in; at PowerPoint's default 96 px/in that is exactly 1080 x 1920).
PowerPoint for Mac: File &gt; Export &gt; File Format: PNG &gt; set Width 1080 and Height 1920 &gt; Export; choose "Save Every Slide" for a folder of PNGs or "Save Current Slide Only".
PowerPoint for Windows: File &gt; Save As (or Save a Copy) &gt; file type PNG &gt; "Just This One" or "All Slides". Windows exports at 96 px/in, which gives 1080 x 1920; check the pixel size in the file's Details tab.
Google Slides: File &gt; Download &gt; PNG image (.png, current slide). Google Slides exports at its own fixed scale, not at the slide's pixel size, so check the downloaded file's size and resize it to exactly 1080 x 1920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Recruiting (gold tile). Instagram and Facebook Stories and Reels covers, TikTok, YouTube Shorts covers. Export PNG at 1080 x 1920 px.
SAFE ZONE: Meta keeps 14% top, 35% bottom and 6% each side clear for its UI (safe box x 65 to 1015, y 269 to 1248); TikTok keeps 130 px top, 484 px bottom, 44 px left and 140 px right clear. This layout uses the union: text and logos sit in x 72 to 940, y 288 to 1248. The hazard band and the constellation art at the very top and bottom are decoration inside the UI zones.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headline, the bullet points (4 lines in all: who, what, how) and the apply line. NEVER promise funding, assistantships, admission, co-authorship or jobs; paid student jobs go on Handshake and the post points there. Describe the work and the requirements, not eligibility by demographic. Minors: no DMs; questions go to a program kent.edu address. Bullets are the small triangle (U+25B8); keep them.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1920 PX (this slide is 11.25 x 20 in; at PowerPoint's default 96 px/in that is exactly 1080 x 1920).
PowerPoint for Mac: File &gt; Export &gt; File Format: PNG &gt; set Width 1080 and Height 1920 &gt; Export; choose "Save Every Slide" for a folder of PNGs or "Save Current Slide Only".
PowerPoint for Windows: File &gt; Save As (or Save a Copy) &gt; file type PNG &gt; "Just This One" or "All Slides". Windows exports at 96 px/in, which gives 1080 x 1920; check the pixel size in the file's Details tab.
Google Slides: File &gt; Download &gt; PNG image (.png, current slide). Google Slides exports at its own fixed scale, not at the slide's pixel size, so check the downloaded file's size and resize it to exactly 1080 x 1920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Milestone (navy tile). Instagram and Facebook Stories and Reels covers, TikTok, YouTube Shorts covers. Export PNG at 1080 x 1920 px.
SAFE ZONE: Meta keeps 14% top, 35% bottom and 6% each side clear for its UI (safe box x 65 to 1015, y 269 to 1248); TikTok keeps 130 px top, 484 px bottom, 44 px left and 140 px right clear. This layout uses the union: text and logos sit in x 72 to 940, y 288 to 1248. The hazard band and the constellation art at the very top and bottom are decoration inside the UI zones.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number (Roboto Slab; a percentage, a count, an anniversary; up to 5 characters at full size; a longer number shrinks to fit), the label that says what it is, and the source line. The showcase number is bracketed because it is a placeholder: "10 years" is true only from spring 2027 (the lab opened in spring 2017); replace it with a number that is true on the day you post. One number per tile. Numbers come from real records (sign-in sheets, registrations, the conferring body's announcement); the linked page holds the detail. Use the conferring body's exact wording for awards: finalist stays finalist. Never print a RoboCup placement (none is published).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1920 PX (this slide is 11.25 x 20 in; at PowerPoint's default 96 px/in that is exactly 1080 x 1920).
PowerPoint for Mac: File &gt; Export &gt; File Format: PNG &gt; set Width 1080 and Height 1920 &gt; Export; choose "Save Every Slide" for a folder of PNGs or "Save Current Slide Only".
PowerPoint for Windows: File &gt; Save As (or Save a Copy) &gt; file type PNG &gt; "Just This One" or "All Slides". Windows exports at 96 px/in, which gives 1080 x 1920; check the pixel size in the file's Details tab.
Google Slides: File &gt; Download &gt; PNG image (.png, current slide). Google Slides exports at its own fixed scale, not at the slide's pixel size, so check the downloaded file's size and resize it to exactly 1080 x 1920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Spotlight quote (navy tile). Instagram and Facebook Stories and Reels covers, TikTok, YouTube Shorts covers. Export PNG at 1080 x 1920 px.
SAFE ZONE: Meta keeps 14% top, 35% bottom and 6% each side clear for its UI (safe box x 65 to 1015, y 269 to 1248); TikTok keeps 130 px top, 484 px bottom, 44 px left and 140 px right clear. This layout uses the union: text and logos sit in x 72 to 940, y 288 to 1248. The hazard band and the constellation art at the very top and bottom are decoration inside the UI zones.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(student, alumni or staff spotlight), the photo (right-click &gt; Change Picture; a real photo, never an AI image of a person), the name and role, and the quote. Consent: name a student only with their written permission and quote only words they approved; minors: first names at most. Kent State photo guidance: candid, natural light, not smiling at the camera. The quote is Roboto Slab; the gold plate with the navy quote mark is one picture on the layout and stays.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1920 PX (this slide is 11.25 x 20 in; at PowerPoint's default 96 px/in that is exactly 1080 x 1920).
PowerPoint for Mac: File &gt; Export &gt; File Format: PNG &gt; set Width 1080 and Height 1920 &gt; Export; choose "Save Every Slide" for a folder of PNGs or "Save Current Slide Only".
PowerPoint for Windows: File &gt; Save As (or Save a Copy) &gt; file type PNG &gt; "Just This One" or "All Slides". Windows exports at 96 px/in, which gives 1080 x 1920; check the pixel size in the file's Details tab.
Google Slides: File &gt; Download &gt; PNG image (.png, current slide). Google Slides exports at its own fixed scale, not at the slide's pixel size, so check the downloaded file's size and resize it to exactly 1080 x 1920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Demo video cover (navy tile). Instagram and Facebook Stories and Reels covers, TikTok, YouTube Shorts covers. Export PNG at 1080 x 1920 px.
SAFE ZONE: Meta keeps 14% top, 35% bottom and 6% each side clear for its UI (safe box x 65 to 1015, y 269 to 1248); TikTok keeps 130 px top, 484 px bottom, 44 px left and 140 px right clear. This layout uses the union: text and logos sit in x 72 to 940, y 288 to 1248. The hazard band and the constellation art at the very top and bottom are decoration inside the UI zones.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frame (right-click &gt; Change Picture; a real frame from the video, never an AI render of a robot), the title (a task or a question, not an internal tag), the honesty labels (playback speed such as REAL TIME or 2X SPEED; TELEOPERATED, AUTONOMOUS or SCRIPTED; add SIMULATION when it is one) and the watch line. The labels are part of the lab's robot-content honesty rule; keep them on the cover and in the post. PLAY BADGE: the gold plate with the play triangle is one picture placed above the frame as a slide object (layout art always sits under slide content), so make new covers by duplicating this slide (right-click the thumbnail &gt; Duplicate Slide) rather than New Slide, or copy the badge picture. Cover images inherit the alt text you type in the platform: say what happens on screen.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1920 PX (this slide is 11.25 x 20 in; at PowerPoint's default 96 px/in that is exactly 1080 x 1920).
PowerPoint for Mac: File &gt; Export &gt; File Format: PNG &gt; set Width 1080 and Height 1920 &gt; Export; choose "Save Every Slide" for a folder of PNGs or "Save Current Slide Only".
PowerPoint for Windows: File &gt; Save As (or Save a Copy) &gt; file type PNG &gt; "Just This One" or "All Slides". Windows exports at 96 px/in, which gives 1080 x 1920; check the pixel size in the file's Details tab.
Google Slides: File &gt; Download &gt; PNG image (.png, current slide). Google Slides exports at its own fixed scale, not at the slide's pixel size, so check the downloaded file's size and resize it to exactly 1080 x 1920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Thank you / Welcome (gold tile). Instagram and Facebook Stories and Reels covers, TikTok, YouTube Shorts covers. Export PNG at 1080 x 1920 px.
SAFE ZONE: Meta keeps 14% top, 35% bottom and 6% each side clear for its UI (safe box x 65 to 1015, y 269 to 1248); TikTok keeps 130 px top, 484 px bottom, 44 px left and 140 px right clear. This layout uses the union: text and logos sit in x 72 to 940, y 288 to 1248. The hazard band and the constellation art at the very top and bottom are decoration inside the UI zones.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the display word ("Thank you" or "Welcome"; it is the one place the Source Sans 3 Black family is used, so if your machine lacks it PowerPoint shows bold Source Sans 3 or Arial), the support line and the next line. Name partners and sponsors only with their written approval; no one is tagged without consent. GOLD TILE RULE: navy or ink text only.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1920 PX (this slide is 11.25 x 20 in; at PowerPoint's default 96 px/in that is exactly 1080 x 1920).
PowerPoint for Mac: File &gt; Export &gt; File Format: PNG &gt; set Width 1080 and Height 1920 &gt; Export; choose "Save Every Slide" for a folder of PNGs or "Save Current Slide Only".
PowerPoint for Windows: File &gt; Save As (or Save a Copy) &gt; file type PNG &gt; "Just This One" or "All Slides". Windows exports at 96 px/in, which gives 1080 x 1920; check the pixel size in the file's Details tab.
Google Slides: File &gt; Download &gt; PNG image (.png, current slide). Google Slides exports at its own fixed scale, not at the slide's pixel size, so check the downloaded file's size and resize it to exactly 1080 x 1920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2-5.png"/><Relationship Id="rId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image" Target="../media/image-1003-5.png"/><Relationship Id="rId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2-5.png"/><Relationship Id="rId6"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2-5.png"/><Relationship Id="rId6"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2-5.png"/><Relationship Id="rId6" Type="http://schemas.openxmlformats.org/officeDocument/2006/relationships/image" Target="../media/image-1007-6.png"/><Relationship Id="rId7"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2-5.png"/><Relationship Id="rId6"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Announcement">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7602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86400" y="152430"/>
            <a:ext cx="4572000" cy="2514600"/>
          </a:xfrm>
          <a:prstGeom prst="rect">
            <a:avLst/>
          </a:prstGeom>
        </p:spPr>
      </p:pic>
      <p:pic>
        <p:nvPicPr>
          <p:cNvPr id="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43400" y="12325380"/>
            <a:ext cx="5715000" cy="5048220"/>
          </a:xfrm>
          <a:prstGeom prst="rect">
            <a:avLst/>
          </a:prstGeom>
        </p:spPr>
      </p:pic>
      <p:pic>
        <p:nvPicPr>
          <p:cNvPr id="5" name="Image 3" descr="Advanced Telerobotics Research Lab mark">    </p:cNvPr>
          <p:cNvPicPr>
            <a:picLocks noChangeAspect="1"/>
          </p:cNvPicPr>
          <p:nvPr/>
        </p:nvPicPr>
        <p:blipFill>
          <a:blip r:embed="rId4"/>
          <a:stretch>
            <a:fillRect/>
          </a:stretch>
        </p:blipFill>
        <p:spPr>
          <a:xfrm>
            <a:off x="685800" y="10648920"/>
            <a:ext cx="1199876" cy="1238280"/>
          </a:xfrm>
          <a:prstGeom prst="rect">
            <a:avLst/>
          </a:prstGeom>
        </p:spPr>
      </p:pic>
      <p:pic>
        <p:nvPicPr>
          <p:cNvPr id="6" name="Image 4" descr="Kent State University wordmark">    </p:cNvPr>
          <p:cNvPicPr>
            <a:picLocks noChangeAspect="1"/>
          </p:cNvPicPr>
          <p:nvPr/>
        </p:nvPicPr>
        <p:blipFill>
          <a:blip r:embed="rId5"/>
          <a:stretch>
            <a:fillRect/>
          </a:stretch>
        </p:blipFill>
        <p:spPr>
          <a:xfrm>
            <a:off x="7656911" y="10648920"/>
            <a:ext cx="1296619" cy="1238280"/>
          </a:xfrm>
          <a:prstGeom prst="rect">
            <a:avLst/>
          </a:prstGeom>
        </p:spPr>
      </p:pic>
      <p:sp>
        <p:nvSpPr>
          <p:cNvPr id="7" name="Placeholder eyebrow"/>
          <p:cNvSpPr>
            <a:spLocks noGrp="1"/>
          </p:cNvSpPr>
          <p:nvPr>
            <p:ph idx="105" type="body" hasCustomPrompt="1"/>
          </p:nvPr>
        </p:nvSpPr>
        <p:spPr>
          <a:xfrm>
            <a:off x="685800" y="3067080"/>
            <a:ext cx="82677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8" name="Placeholder headline"/>
          <p:cNvSpPr>
            <a:spLocks noGrp="1"/>
          </p:cNvSpPr>
          <p:nvPr>
            <p:ph idx="106" type="title" hasCustomPrompt="1"/>
          </p:nvPr>
        </p:nvSpPr>
        <p:spPr>
          <a:xfrm>
            <a:off x="685800" y="3676711"/>
            <a:ext cx="8267730" cy="4019520"/>
          </a:xfrm>
          <a:prstGeom prst="rect">
            <a:avLst/>
          </a:prstGeom>
          <a:noFill/>
          <a:ln/>
        </p:spPr>
        <p:txBody>
          <a:bodyPr wrap="square" rtlCol="0" lIns="0" tIns="0" rIns="0" bIns="0" anchor="t">
            <a:normAutofit/>
          </a:bodyPr>
          <a:lstStyle>
            <a:lvl1pPr algn="l" indent="0" marL="0">
              <a:lnSpc>
                <a:spcPts val="7800"/>
              </a:lnSpc>
              <a:buNone/>
              <a:defRPr sz="7200" b="1">
                <a:solidFill>
                  <a:srgbClr val="FFFFFF"/>
                </a:solidFill>
                <a:latin typeface="Source Sans 3" pitchFamily="34" charset="0"/>
                <a:ea typeface="Source Sans 3" pitchFamily="34" charset="-122"/>
                <a:cs typeface="Source Sans 3" pitchFamily="34" charset="-120"/>
              </a:defRPr>
            </a:lvl1pPr>
          </a:lstStyle>
          <a:p>
            <a:pPr algn="l" indent="0" marL="0">
              <a:lnSpc>
                <a:spcPts val="7800"/>
              </a:lnSpc>
              <a:buNone/>
            </a:pPr>
            <a:r>
              <a:rPr lang="en-US" sz="7200" b="1" dirty="0">
                <a:solidFill>
                  <a:srgbClr val="FFFFFF"/>
                </a:solidFill>
                <a:latin typeface="Source Sans 3" pitchFamily="34" charset="0"/>
                <a:ea typeface="Source Sans 3" pitchFamily="34" charset="-122"/>
                <a:cs typeface="Source Sans 3" pitchFamily="34" charset="-120"/>
              </a:rPr>
              <a:t>Headline: three to eight words, up to 4 lines at 72 pt; longer text shrinks to fit, so cut words rather than accept small type</a:t>
            </a:r>
            <a:endParaRPr lang="en-US" sz="7200" dirty="0"/>
          </a:p>
        </p:txBody>
      </p:sp>
      <p:sp>
        <p:nvSpPr>
          <p:cNvPr id="9" name="Placeholder support"/>
          <p:cNvSpPr>
            <a:spLocks noGrp="1"/>
          </p:cNvSpPr>
          <p:nvPr>
            <p:ph idx="107" type="body" hasCustomPrompt="1"/>
          </p:nvPr>
        </p:nvSpPr>
        <p:spPr>
          <a:xfrm>
            <a:off x="685800" y="7905811"/>
            <a:ext cx="8267730" cy="148590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Support line: one or two sentences, up to 3 lines</a:t>
            </a:r>
            <a:endParaRPr lang="en-US" sz="3000" dirty="0"/>
          </a:p>
        </p:txBody>
      </p:sp>
      <p:sp>
        <p:nvSpPr>
          <p:cNvPr id="10" name="Placeholder link"/>
          <p:cNvSpPr>
            <a:spLocks noGrp="1"/>
          </p:cNvSpPr>
          <p:nvPr>
            <p:ph idx="108" type="body" hasCustomPrompt="1"/>
          </p:nvPr>
        </p:nvSpPr>
        <p:spPr>
          <a:xfrm>
            <a:off x="685800" y="9525030"/>
            <a:ext cx="826773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Link or date, for example atr.cs.kent.edu</a:t>
            </a:r>
            <a:endParaRPr lang="en-US" sz="2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vent">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28600" y="12858750"/>
            <a:ext cx="5715000" cy="50482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648920"/>
            <a:ext cx="1199876" cy="1238280"/>
          </a:xfrm>
          <a:prstGeom prst="rect">
            <a:avLst/>
          </a:prstGeom>
        </p:spPr>
      </p:pic>
      <p:sp>
        <p:nvSpPr>
          <p:cNvPr id="5" name="Text 0"/>
          <p:cNvSpPr txBox="1"/>
          <p:nvPr/>
        </p:nvSpPr>
        <p:spPr>
          <a:xfrm>
            <a:off x="2304745" y="10648920"/>
            <a:ext cx="5715000" cy="123828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685800" y="3648090"/>
            <a:ext cx="82677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7" name="Placeholder headline"/>
          <p:cNvSpPr>
            <a:spLocks noGrp="1"/>
          </p:cNvSpPr>
          <p:nvPr>
            <p:ph idx="105" type="title" hasCustomPrompt="1"/>
          </p:nvPr>
        </p:nvSpPr>
        <p:spPr>
          <a:xfrm>
            <a:off x="685800" y="4295760"/>
            <a:ext cx="8267730" cy="2038380"/>
          </a:xfrm>
          <a:prstGeom prst="rect">
            <a:avLst/>
          </a:prstGeom>
          <a:noFill/>
          <a:ln/>
        </p:spPr>
        <p:txBody>
          <a:bodyPr wrap="square" rtlCol="0" lIns="0" tIns="0" rIns="0" bIns="0" anchor="t">
            <a:normAutofit/>
          </a:bodyPr>
          <a:lstStyle>
            <a:lvl1pPr algn="l" indent="0" marL="0">
              <a:lnSpc>
                <a:spcPts val="7800"/>
              </a:lnSpc>
              <a:buNone/>
              <a:defRPr sz="7200" b="1">
                <a:solidFill>
                  <a:srgbClr val="003976"/>
                </a:solidFill>
                <a:latin typeface="Source Sans 3" pitchFamily="34" charset="0"/>
                <a:ea typeface="Source Sans 3" pitchFamily="34" charset="-122"/>
                <a:cs typeface="Source Sans 3" pitchFamily="34" charset="-120"/>
              </a:defRPr>
            </a:lvl1p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Event name, up to 2 lines at 72 pt; longer text shrinks to fit, so cut words rather than accept small type</a:t>
            </a:r>
            <a:endParaRPr lang="en-US" sz="7200" dirty="0"/>
          </a:p>
        </p:txBody>
      </p:sp>
      <p:pic>
        <p:nvPicPr>
          <p:cNvPr id="8" name="Image 3" descr="Date and time">    </p:cNvPr>
          <p:cNvPicPr>
            <a:picLocks noChangeAspect="1"/>
          </p:cNvPicPr>
          <p:nvPr/>
        </p:nvPicPr>
        <p:blipFill>
          <a:blip r:embed="rId4"/>
          <a:stretch>
            <a:fillRect/>
          </a:stretch>
        </p:blipFill>
        <p:spPr>
          <a:xfrm>
            <a:off x="685800" y="6553230"/>
            <a:ext cx="533370" cy="533370"/>
          </a:xfrm>
          <a:prstGeom prst="rect">
            <a:avLst/>
          </a:prstGeom>
        </p:spPr>
      </p:pic>
      <p:sp>
        <p:nvSpPr>
          <p:cNvPr id="9" name="Placeholder when"/>
          <p:cNvSpPr>
            <a:spLocks noGrp="1"/>
          </p:cNvSpPr>
          <p:nvPr>
            <p:ph idx="107" type="body" hasCustomPrompt="1"/>
          </p:nvPr>
        </p:nvSpPr>
        <p:spPr>
          <a:xfrm>
            <a:off x="1447770" y="6581760"/>
            <a:ext cx="750567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Date and time, e.g. [Thursday, Sept. 23]  ·  [6-8 p.m.]</a:t>
            </a:r>
            <a:endParaRPr lang="en-US" sz="3000" dirty="0"/>
          </a:p>
        </p:txBody>
      </p:sp>
      <p:pic>
        <p:nvPicPr>
          <p:cNvPr id="10" name="Image 4" descr="Place">    </p:cNvPr>
          <p:cNvPicPr>
            <a:picLocks noChangeAspect="1"/>
          </p:cNvPicPr>
          <p:nvPr/>
        </p:nvPicPr>
        <p:blipFill>
          <a:blip r:embed="rId5"/>
          <a:stretch>
            <a:fillRect/>
          </a:stretch>
        </p:blipFill>
        <p:spPr>
          <a:xfrm>
            <a:off x="685800" y="7696230"/>
            <a:ext cx="533370" cy="533370"/>
          </a:xfrm>
          <a:prstGeom prst="rect">
            <a:avLst/>
          </a:prstGeom>
        </p:spPr>
      </p:pic>
      <p:sp>
        <p:nvSpPr>
          <p:cNvPr id="11" name="Placeholder where"/>
          <p:cNvSpPr>
            <a:spLocks noGrp="1"/>
          </p:cNvSpPr>
          <p:nvPr>
            <p:ph idx="109" type="body" hasCustomPrompt="1"/>
          </p:nvPr>
        </p:nvSpPr>
        <p:spPr>
          <a:xfrm>
            <a:off x="1447770" y="7724760"/>
            <a:ext cx="750567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Place, e.g. [Room], Mathematical Sciences Building, Kent State University</a:t>
            </a:r>
            <a:endParaRPr lang="en-US" sz="3000" dirty="0"/>
          </a:p>
        </p:txBody>
      </p:sp>
      <p:sp>
        <p:nvSpPr>
          <p:cNvPr id="12" name="Placeholder cta"/>
          <p:cNvSpPr>
            <a:spLocks noGrp="1"/>
          </p:cNvSpPr>
          <p:nvPr>
            <p:ph idx="110" type="body" hasCustomPrompt="1"/>
          </p:nvPr>
        </p:nvSpPr>
        <p:spPr>
          <a:xfrm>
            <a:off x="685800" y="8944021"/>
            <a:ext cx="82677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Call to action, e.g. RSVP: [link]</a:t>
            </a:r>
            <a:endParaRPr lang="en-US" sz="2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per accepted">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7602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86400" y="152430"/>
            <a:ext cx="4572000" cy="2514600"/>
          </a:xfrm>
          <a:prstGeom prst="rect">
            <a:avLst/>
          </a:prstGeom>
        </p:spPr>
      </p:pic>
      <p:pic>
        <p:nvPicPr>
          <p:cNvPr id="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43400" y="12325380"/>
            <a:ext cx="5715000" cy="5048220"/>
          </a:xfrm>
          <a:prstGeom prst="rect">
            <a:avLst/>
          </a:prstGeom>
        </p:spPr>
      </p:pic>
      <p:pic>
        <p:nvPicPr>
          <p:cNvPr id="5" name="Image 3" descr="Advanced Telerobotics Research Lab mark">    </p:cNvPr>
          <p:cNvPicPr>
            <a:picLocks noChangeAspect="1"/>
          </p:cNvPicPr>
          <p:nvPr/>
        </p:nvPicPr>
        <p:blipFill>
          <a:blip r:embed="rId4"/>
          <a:stretch>
            <a:fillRect/>
          </a:stretch>
        </p:blipFill>
        <p:spPr>
          <a:xfrm>
            <a:off x="685800" y="10648920"/>
            <a:ext cx="1199876" cy="1238280"/>
          </a:xfrm>
          <a:prstGeom prst="rect">
            <a:avLst/>
          </a:prstGeom>
        </p:spPr>
      </p:pic>
      <p:pic>
        <p:nvPicPr>
          <p:cNvPr id="6" name="Image 4" descr="Kent State University wordmark">    </p:cNvPr>
          <p:cNvPicPr>
            <a:picLocks noChangeAspect="1"/>
          </p:cNvPicPr>
          <p:nvPr/>
        </p:nvPicPr>
        <p:blipFill>
          <a:blip r:embed="rId5"/>
          <a:stretch>
            <a:fillRect/>
          </a:stretch>
        </p:blipFill>
        <p:spPr>
          <a:xfrm>
            <a:off x="7656911" y="10648920"/>
            <a:ext cx="1296619" cy="1238280"/>
          </a:xfrm>
          <a:prstGeom prst="rect">
            <a:avLst/>
          </a:prstGeom>
        </p:spPr>
      </p:pic>
      <p:sp>
        <p:nvSpPr>
          <p:cNvPr id="7" name="Placeholder eyebrow"/>
          <p:cNvSpPr>
            <a:spLocks noGrp="1"/>
          </p:cNvSpPr>
          <p:nvPr>
            <p:ph idx="105" type="body" hasCustomPrompt="1"/>
          </p:nvPr>
        </p:nvSpPr>
        <p:spPr>
          <a:xfrm>
            <a:off x="685800" y="3162270"/>
            <a:ext cx="82677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YEAR]</a:t>
            </a:r>
            <a:endParaRPr lang="en-US" sz="2700" dirty="0"/>
          </a:p>
        </p:txBody>
      </p:sp>
      <p:sp>
        <p:nvSpPr>
          <p:cNvPr id="8" name="Placeholder title"/>
          <p:cNvSpPr>
            <a:spLocks noGrp="1"/>
          </p:cNvSpPr>
          <p:nvPr>
            <p:ph idx="106" type="title" hasCustomPrompt="1"/>
          </p:nvPr>
        </p:nvSpPr>
        <p:spPr>
          <a:xfrm>
            <a:off x="685800" y="3809939"/>
            <a:ext cx="8267730" cy="3771900"/>
          </a:xfrm>
          <a:prstGeom prst="rect">
            <a:avLst/>
          </a:prstGeom>
          <a:noFill/>
          <a:ln/>
        </p:spPr>
        <p:txBody>
          <a:bodyPr wrap="square" rtlCol="0" lIns="0" tIns="0" rIns="0" bIns="0" anchor="t">
            <a:normAutofit/>
          </a:bodyPr>
          <a:lstStyle>
            <a:lvl1pPr algn="l" indent="0" marL="0">
              <a:lnSpc>
                <a:spcPts val="5850"/>
              </a:lnSpc>
              <a:buNone/>
              <a:defRPr sz="5400" b="1">
                <a:solidFill>
                  <a:srgbClr val="FFFFFF"/>
                </a:solidFill>
                <a:latin typeface="Source Sans 3" pitchFamily="34" charset="0"/>
                <a:ea typeface="Source Sans 3" pitchFamily="34" charset="-122"/>
                <a:cs typeface="Source Sans 3" pitchFamily="34" charset="-120"/>
              </a:defRPr>
            </a:lvl1pPr>
          </a:lstStyle>
          <a:p>
            <a:pPr algn="l" indent="0" marL="0">
              <a:lnSpc>
                <a:spcPts val="5850"/>
              </a:lnSpc>
              <a:buNone/>
            </a:pPr>
            <a:r>
              <a:rPr lang="en-US" sz="5400" b="1" dirty="0">
                <a:solidFill>
                  <a:srgbClr val="FFFFFF"/>
                </a:solidFill>
                <a:latin typeface="Source Sans 3" pitchFamily="34" charset="0"/>
                <a:ea typeface="Source Sans 3" pitchFamily="34" charset="-122"/>
                <a:cs typeface="Source Sans 3" pitchFamily="34" charset="-120"/>
              </a:rPr>
              <a:t>Paper title, up to 5 lines at 54 pt; longer text shrinks to fit, so cut words rather than accept small type</a:t>
            </a:r>
            <a:endParaRPr lang="en-US" sz="5400" dirty="0"/>
          </a:p>
        </p:txBody>
      </p:sp>
      <p:sp>
        <p:nvSpPr>
          <p:cNvPr id="9" name="Placeholder authors"/>
          <p:cNvSpPr>
            <a:spLocks noGrp="1"/>
          </p:cNvSpPr>
          <p:nvPr>
            <p:ph idx="107" type="body" hasCustomPrompt="1"/>
          </p:nvPr>
        </p:nvSpPr>
        <p:spPr>
          <a:xfrm>
            <a:off x="685800" y="7791420"/>
            <a:ext cx="8267730" cy="100968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Authors, e.g. [Author One], [Author Two] and [Author Three]</a:t>
            </a:r>
            <a:endParaRPr lang="en-US" sz="3000" dirty="0"/>
          </a:p>
        </p:txBody>
      </p:sp>
      <p:sp>
        <p:nvSpPr>
          <p:cNvPr id="10" name="Placeholder venue"/>
          <p:cNvSpPr>
            <a:spLocks noGrp="1"/>
          </p:cNvSpPr>
          <p:nvPr>
            <p:ph idx="108" type="body" hasCustomPrompt="1"/>
          </p:nvPr>
        </p:nvSpPr>
        <p:spPr>
          <a:xfrm>
            <a:off x="685800" y="8896289"/>
            <a:ext cx="826773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Venue line, e.g. [Conference], [City]  ·  [Month YYYY]</a:t>
            </a:r>
            <a:endParaRPr lang="en-US" sz="2700" dirty="0"/>
          </a:p>
        </p:txBody>
      </p:sp>
      <p:sp>
        <p:nvSpPr>
          <p:cNvPr id="11" name="Placeholder cta"/>
          <p:cNvSpPr>
            <a:spLocks noGrp="1"/>
          </p:cNvSpPr>
          <p:nvPr>
            <p:ph idx="109" type="body" hasCustomPrompt="1"/>
          </p:nvPr>
        </p:nvSpPr>
        <p:spPr>
          <a:xfrm>
            <a:off x="685800" y="9429750"/>
            <a:ext cx="8267730" cy="476220"/>
          </a:xfrm>
          <a:prstGeom prst="rect">
            <a:avLst/>
          </a:prstGeom>
          <a:noFill/>
          <a:ln/>
        </p:spPr>
        <p:txBody>
          <a:bodyPr wrap="square" rtlCol="0" lIns="0" tIns="0" rIns="0" bIns="0" anchor="ctr">
            <a:normAutofit/>
          </a:bodyPr>
          <a:lstStyle>
            <a:lvl1pPr algn="l" indent="0" marL="0">
              <a:lnSpc>
                <a:spcPts val="3300"/>
              </a:lnSpc>
              <a:buNone/>
              <a:defRPr sz="2700">
                <a:solidFill>
                  <a:srgbClr val="FFFFFF"/>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Where to read it, e.g. Read the paper: link in bio</a:t>
            </a:r>
            <a:endParaRPr lang="en-US" sz="2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cruiting">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28600" y="12858750"/>
            <a:ext cx="5715000" cy="50482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648920"/>
            <a:ext cx="1199876" cy="1238280"/>
          </a:xfrm>
          <a:prstGeom prst="rect">
            <a:avLst/>
          </a:prstGeom>
        </p:spPr>
      </p:pic>
      <p:sp>
        <p:nvSpPr>
          <p:cNvPr id="5" name="Text 0"/>
          <p:cNvSpPr txBox="1"/>
          <p:nvPr/>
        </p:nvSpPr>
        <p:spPr>
          <a:xfrm>
            <a:off x="2304745" y="10648920"/>
            <a:ext cx="5715000" cy="123828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685800" y="3133740"/>
            <a:ext cx="82677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7" name="Placeholder headline"/>
          <p:cNvSpPr>
            <a:spLocks noGrp="1"/>
          </p:cNvSpPr>
          <p:nvPr>
            <p:ph idx="105" type="title" hasCustomPrompt="1"/>
          </p:nvPr>
        </p:nvSpPr>
        <p:spPr>
          <a:xfrm>
            <a:off x="685800" y="3781410"/>
            <a:ext cx="8267730" cy="3028950"/>
          </a:xfrm>
          <a:prstGeom prst="rect">
            <a:avLst/>
          </a:prstGeom>
          <a:noFill/>
          <a:ln/>
        </p:spPr>
        <p:txBody>
          <a:bodyPr wrap="square" rtlCol="0" lIns="0" tIns="0" rIns="0" bIns="0" anchor="t">
            <a:normAutofit/>
          </a:bodyPr>
          <a:lstStyle>
            <a:lvl1pPr algn="l" indent="0" marL="0">
              <a:lnSpc>
                <a:spcPts val="7800"/>
              </a:lnSpc>
              <a:buNone/>
              <a:defRPr sz="7200" b="1">
                <a:solidFill>
                  <a:srgbClr val="003976"/>
                </a:solidFill>
                <a:latin typeface="Source Sans 3" pitchFamily="34" charset="0"/>
                <a:ea typeface="Source Sans 3" pitchFamily="34" charset="-122"/>
                <a:cs typeface="Source Sans 3" pitchFamily="34" charset="-120"/>
              </a:defRPr>
            </a:lvl1p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Headline, up to 3 lines at 72 pt; longer text shrinks to fit, so cut words rather than accept small type</a:t>
            </a:r>
            <a:endParaRPr lang="en-US" sz="7200" dirty="0"/>
          </a:p>
        </p:txBody>
      </p:sp>
      <p:sp>
        <p:nvSpPr>
          <p:cNvPr id="8" name="Placeholder points"/>
          <p:cNvSpPr>
            <a:spLocks noGrp="1"/>
          </p:cNvSpPr>
          <p:nvPr>
            <p:ph idx="106" type="body" hasCustomPrompt="1"/>
          </p:nvPr>
        </p:nvSpPr>
        <p:spPr>
          <a:xfrm>
            <a:off x="685800" y="7058071"/>
            <a:ext cx="8267730" cy="2266980"/>
          </a:xfrm>
          <a:prstGeom prst="rect">
            <a:avLst/>
          </a:prstGeom>
          <a:noFill/>
          <a:ln/>
        </p:spPr>
        <p:txBody>
          <a:bodyPr wrap="square" rtlCol="0" lIns="0" tIns="0" rIns="0" bIns="0" anchor="t">
            <a:normAutofit/>
          </a:bodyPr>
          <a:lstStyle>
            <a:lvl1pPr algn="l" indent="0" marL="0">
              <a:lnSpc>
                <a:spcPts val="3750"/>
              </a:lnSpc>
              <a:spcAft>
                <a:spcPts val="600"/>
              </a:spcAft>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spcAft>
                <a:spcPts val="600"/>
              </a:spcAft>
              <a:buNone/>
            </a:pPr>
            <a:r>
              <a:rPr lang="en-US" sz="3000" dirty="0">
                <a:solidFill>
                  <a:srgbClr val="1B2533"/>
                </a:solidFill>
                <a:latin typeface="Source Sans 3" pitchFamily="34" charset="0"/>
                <a:ea typeface="Source Sans 3" pitchFamily="34" charset="-122"/>
                <a:cs typeface="Source Sans 3" pitchFamily="34" charset="-120"/>
              </a:rPr>
              <a:t>Short points (4 lines in all): who, what you would work on, how to apply</a:t>
            </a:r>
            <a:endParaRPr lang="en-US" sz="3000" dirty="0"/>
          </a:p>
        </p:txBody>
      </p:sp>
      <p:sp>
        <p:nvSpPr>
          <p:cNvPr id="9" name="Placeholder cta"/>
          <p:cNvSpPr>
            <a:spLocks noGrp="1"/>
          </p:cNvSpPr>
          <p:nvPr>
            <p:ph idx="107" type="body" hasCustomPrompt="1"/>
          </p:nvPr>
        </p:nvSpPr>
        <p:spPr>
          <a:xfrm>
            <a:off x="685800" y="9458371"/>
            <a:ext cx="82677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How to apply, e.g. atr.cs.kent.edu  ·  [Join page]</a:t>
            </a:r>
            <a:endParaRPr lang="en-US" sz="2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ileston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7602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86400" y="152430"/>
            <a:ext cx="4572000" cy="2514600"/>
          </a:xfrm>
          <a:prstGeom prst="rect">
            <a:avLst/>
          </a:prstGeom>
        </p:spPr>
      </p:pic>
      <p:pic>
        <p:nvPicPr>
          <p:cNvPr id="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43400" y="12325380"/>
            <a:ext cx="5715000" cy="5048220"/>
          </a:xfrm>
          <a:prstGeom prst="rect">
            <a:avLst/>
          </a:prstGeom>
        </p:spPr>
      </p:pic>
      <p:pic>
        <p:nvPicPr>
          <p:cNvPr id="5" name="Image 3" descr="Advanced Telerobotics Research Lab mark">    </p:cNvPr>
          <p:cNvPicPr>
            <a:picLocks noChangeAspect="1"/>
          </p:cNvPicPr>
          <p:nvPr/>
        </p:nvPicPr>
        <p:blipFill>
          <a:blip r:embed="rId4"/>
          <a:stretch>
            <a:fillRect/>
          </a:stretch>
        </p:blipFill>
        <p:spPr>
          <a:xfrm>
            <a:off x="685800" y="10648920"/>
            <a:ext cx="1199876" cy="1238280"/>
          </a:xfrm>
          <a:prstGeom prst="rect">
            <a:avLst/>
          </a:prstGeom>
        </p:spPr>
      </p:pic>
      <p:pic>
        <p:nvPicPr>
          <p:cNvPr id="6" name="Image 4" descr="Kent State University wordmark">    </p:cNvPr>
          <p:cNvPicPr>
            <a:picLocks noChangeAspect="1"/>
          </p:cNvPicPr>
          <p:nvPr/>
        </p:nvPicPr>
        <p:blipFill>
          <a:blip r:embed="rId5"/>
          <a:stretch>
            <a:fillRect/>
          </a:stretch>
        </p:blipFill>
        <p:spPr>
          <a:xfrm>
            <a:off x="7656911" y="10648920"/>
            <a:ext cx="1296619" cy="1238280"/>
          </a:xfrm>
          <a:prstGeom prst="rect">
            <a:avLst/>
          </a:prstGeom>
        </p:spPr>
      </p:pic>
      <p:sp>
        <p:nvSpPr>
          <p:cNvPr id="7" name="Placeholder eyebrow"/>
          <p:cNvSpPr>
            <a:spLocks noGrp="1"/>
          </p:cNvSpPr>
          <p:nvPr>
            <p:ph idx="105" type="body" hasCustomPrompt="1"/>
          </p:nvPr>
        </p:nvSpPr>
        <p:spPr>
          <a:xfrm>
            <a:off x="685800" y="3552810"/>
            <a:ext cx="82677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8" name="Placeholder number"/>
          <p:cNvSpPr>
            <a:spLocks noGrp="1"/>
          </p:cNvSpPr>
          <p:nvPr>
            <p:ph idx="106" type="title" hasCustomPrompt="1"/>
          </p:nvPr>
        </p:nvSpPr>
        <p:spPr>
          <a:xfrm>
            <a:off x="685800" y="4124310"/>
            <a:ext cx="8267730" cy="2800350"/>
          </a:xfrm>
          <a:prstGeom prst="rect">
            <a:avLst/>
          </a:prstGeom>
          <a:noFill/>
          <a:ln/>
        </p:spPr>
        <p:txBody>
          <a:bodyPr wrap="square" rtlCol="0" lIns="0" tIns="0" rIns="0" bIns="0" anchor="ctr">
            <a:normAutofit/>
          </a:bodyPr>
          <a:lstStyle>
            <a:lvl1pPr algn="l" indent="0" marL="0">
              <a:lnSpc>
                <a:spcPts val="21600"/>
              </a:lnSpc>
              <a:buNone/>
              <a:defRPr sz="21000" b="1" spc="-200" kern="0">
                <a:solidFill>
                  <a:srgbClr val="EFAB00"/>
                </a:solidFill>
                <a:latin typeface="Roboto Slab" pitchFamily="34" charset="0"/>
                <a:ea typeface="Roboto Slab" pitchFamily="34" charset="-122"/>
                <a:cs typeface="Roboto Slab" pitchFamily="34" charset="-120"/>
              </a:defRPr>
            </a:lvl1pPr>
          </a:lstStyle>
          <a:p>
            <a:pPr algn="l" indent="0" marL="0">
              <a:lnSpc>
                <a:spcPts val="21600"/>
              </a:lnSpc>
              <a:buNone/>
            </a:pPr>
            <a:r>
              <a:rPr lang="en-US" sz="21000" b="1" spc="-200" kern="0" dirty="0">
                <a:solidFill>
                  <a:srgbClr val="EFAB00"/>
                </a:solidFill>
                <a:latin typeface="Roboto Slab" pitchFamily="34" charset="0"/>
                <a:ea typeface="Roboto Slab" pitchFamily="34" charset="-122"/>
                <a:cs typeface="Roboto Slab" pitchFamily="34" charset="-120"/>
              </a:rPr>
              <a:t>Number (up to 5 characters at full size; a longer number shrinks to fit)</a:t>
            </a:r>
            <a:endParaRPr lang="en-US" sz="21000" dirty="0"/>
          </a:p>
        </p:txBody>
      </p:sp>
      <p:sp>
        <p:nvSpPr>
          <p:cNvPr id="9" name="Placeholder label"/>
          <p:cNvSpPr>
            <a:spLocks noGrp="1"/>
          </p:cNvSpPr>
          <p:nvPr>
            <p:ph idx="107" type="body" hasCustomPrompt="1"/>
          </p:nvPr>
        </p:nvSpPr>
        <p:spPr>
          <a:xfrm>
            <a:off x="685800" y="6943679"/>
            <a:ext cx="8267730" cy="196212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What the number is, up to 4 lines</a:t>
            </a:r>
            <a:endParaRPr lang="en-US" sz="3000" dirty="0"/>
          </a:p>
        </p:txBody>
      </p:sp>
      <p:sp>
        <p:nvSpPr>
          <p:cNvPr id="10" name="Placeholder source"/>
          <p:cNvSpPr>
            <a:spLocks noGrp="1"/>
          </p:cNvSpPr>
          <p:nvPr>
            <p:ph idx="108" type="body" hasCustomPrompt="1"/>
          </p:nvPr>
        </p:nvSpPr>
        <p:spPr>
          <a:xfrm>
            <a:off x="685800" y="9039210"/>
            <a:ext cx="826773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Source or link, e.g. atr.cs.kent.edu/[news post]</a:t>
            </a:r>
            <a:endParaRPr lang="en-US" sz="2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potlight quot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7602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86400" y="152430"/>
            <a:ext cx="4572000" cy="2514600"/>
          </a:xfrm>
          <a:prstGeom prst="rect">
            <a:avLst/>
          </a:prstGeom>
        </p:spPr>
      </p:pic>
      <p:pic>
        <p:nvPicPr>
          <p:cNvPr id="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43400" y="12325380"/>
            <a:ext cx="5715000" cy="5048220"/>
          </a:xfrm>
          <a:prstGeom prst="rect">
            <a:avLst/>
          </a:prstGeom>
        </p:spPr>
      </p:pic>
      <p:pic>
        <p:nvPicPr>
          <p:cNvPr id="5" name="Image 3" descr="Advanced Telerobotics Research Lab mark">    </p:cNvPr>
          <p:cNvPicPr>
            <a:picLocks noChangeAspect="1"/>
          </p:cNvPicPr>
          <p:nvPr/>
        </p:nvPicPr>
        <p:blipFill>
          <a:blip r:embed="rId4"/>
          <a:stretch>
            <a:fillRect/>
          </a:stretch>
        </p:blipFill>
        <p:spPr>
          <a:xfrm>
            <a:off x="685800" y="10648920"/>
            <a:ext cx="1199876" cy="1238280"/>
          </a:xfrm>
          <a:prstGeom prst="rect">
            <a:avLst/>
          </a:prstGeom>
        </p:spPr>
      </p:pic>
      <p:pic>
        <p:nvPicPr>
          <p:cNvPr id="6" name="Image 4" descr="Kent State University wordmark">    </p:cNvPr>
          <p:cNvPicPr>
            <a:picLocks noChangeAspect="1"/>
          </p:cNvPicPr>
          <p:nvPr/>
        </p:nvPicPr>
        <p:blipFill>
          <a:blip r:embed="rId5"/>
          <a:stretch>
            <a:fillRect/>
          </a:stretch>
        </p:blipFill>
        <p:spPr>
          <a:xfrm>
            <a:off x="7656911" y="10648920"/>
            <a:ext cx="1296619" cy="1238280"/>
          </a:xfrm>
          <a:prstGeom prst="rect">
            <a:avLst/>
          </a:prstGeom>
        </p:spPr>
      </p:pic>
      <p:sp>
        <p:nvSpPr>
          <p:cNvPr id="7" name="Placeholder eyebrow"/>
          <p:cNvSpPr>
            <a:spLocks noGrp="1"/>
          </p:cNvSpPr>
          <p:nvPr>
            <p:ph idx="105" type="body" hasCustomPrompt="1"/>
          </p:nvPr>
        </p:nvSpPr>
        <p:spPr>
          <a:xfrm>
            <a:off x="685800" y="3000421"/>
            <a:ext cx="82677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sp>
        <p:nvSpPr>
          <p:cNvPr id="8" name="Picture Placeholder photo"/>
          <p:cNvSpPr>
            <a:spLocks noGrp="1"/>
          </p:cNvSpPr>
          <p:nvPr>
            <p:ph idx="106" hasCustomPrompt="1" type="pic"/>
          </p:nvPr>
        </p:nvSpPr>
        <p:spPr>
          <a:xfrm>
            <a:off x="685800" y="3648090"/>
            <a:ext cx="3429000" cy="342900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photo of the person (with their written permission)</a:t>
            </a:r>
            <a:endParaRPr lang="en-US" dirty="0"/>
          </a:p>
        </p:txBody>
      </p:sp>
      <p:sp>
        <p:nvSpPr>
          <p:cNvPr id="9" name="Placeholder name"/>
          <p:cNvSpPr>
            <a:spLocks noGrp="1"/>
          </p:cNvSpPr>
          <p:nvPr>
            <p:ph idx="107" type="body" hasCustomPrompt="1"/>
          </p:nvPr>
        </p:nvSpPr>
        <p:spPr>
          <a:xfrm>
            <a:off x="4457700" y="4667280"/>
            <a:ext cx="4495830" cy="533370"/>
          </a:xfrm>
          <a:prstGeom prst="rect">
            <a:avLst/>
          </a:prstGeom>
          <a:noFill/>
          <a:ln/>
        </p:spPr>
        <p:txBody>
          <a:bodyPr wrap="square" rtlCol="0" lIns="0" tIns="0" rIns="0" bIns="0" anchor="ctr">
            <a:normAutofit/>
          </a:bodyPr>
          <a:lstStyle>
            <a:lvl1pPr algn="l" indent="0" marL="0">
              <a:lnSpc>
                <a:spcPts val="3750"/>
              </a:lnSpc>
              <a:buNone/>
              <a:defRPr sz="3000" b="1">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b="1" dirty="0">
                <a:solidFill>
                  <a:srgbClr val="FFFFFF"/>
                </a:solidFill>
                <a:latin typeface="Source Sans 3" pitchFamily="34" charset="0"/>
                <a:ea typeface="Source Sans 3" pitchFamily="34" charset="-122"/>
                <a:cs typeface="Source Sans 3" pitchFamily="34" charset="-120"/>
              </a:rPr>
              <a:t>Name</a:t>
            </a:r>
            <a:endParaRPr lang="en-US" sz="3000" dirty="0"/>
          </a:p>
        </p:txBody>
      </p:sp>
      <p:sp>
        <p:nvSpPr>
          <p:cNvPr id="10" name="Placeholder role"/>
          <p:cNvSpPr>
            <a:spLocks noGrp="1"/>
          </p:cNvSpPr>
          <p:nvPr>
            <p:ph idx="108" type="body" hasCustomPrompt="1"/>
          </p:nvPr>
        </p:nvSpPr>
        <p:spPr>
          <a:xfrm>
            <a:off x="4457700" y="5219761"/>
            <a:ext cx="4495830" cy="895380"/>
          </a:xfrm>
          <a:prstGeom prst="rect">
            <a:avLst/>
          </a:prstGeom>
          <a:noFill/>
          <a:ln/>
        </p:spPr>
        <p:txBody>
          <a:bodyPr wrap="square" rtlCol="0" lIns="0" tIns="0" rIns="0" bIns="0" anchor="t">
            <a:normAutofit/>
          </a:bodyPr>
          <a:lstStyle>
            <a:lvl1pPr algn="l" indent="0" marL="0">
              <a:lnSpc>
                <a:spcPts val="3300"/>
              </a:lnSpc>
              <a:buNone/>
              <a:defRPr sz="2700">
                <a:solidFill>
                  <a:srgbClr val="FFFFFF"/>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dirty="0">
                <a:solidFill>
                  <a:srgbClr val="FFFFFF"/>
                </a:solidFill>
                <a:latin typeface="Source Sans 3" pitchFamily="34" charset="0"/>
                <a:ea typeface="Source Sans 3" pitchFamily="34" charset="-122"/>
                <a:cs typeface="Source Sans 3" pitchFamily="34" charset="-120"/>
              </a:rPr>
              <a:t>Role, e.g. [Ph.D. student, computer science]</a:t>
            </a:r>
            <a:endParaRPr lang="en-US" sz="2700" dirty="0"/>
          </a:p>
        </p:txBody>
      </p:sp>
      <p:pic>
        <p:nvPicPr>
          <p:cNvPr id="11" name="Image 5" descr="Opening quotation mark">    </p:cNvPr>
          <p:cNvPicPr>
            <a:picLocks noChangeAspect="1"/>
          </p:cNvPicPr>
          <p:nvPr/>
        </p:nvPicPr>
        <p:blipFill>
          <a:blip r:embed="rId6"/>
          <a:stretch>
            <a:fillRect/>
          </a:stretch>
        </p:blipFill>
        <p:spPr>
          <a:xfrm>
            <a:off x="685800" y="7419990"/>
            <a:ext cx="914400" cy="914400"/>
          </a:xfrm>
          <a:prstGeom prst="rect">
            <a:avLst/>
          </a:prstGeom>
        </p:spPr>
      </p:pic>
      <p:sp>
        <p:nvSpPr>
          <p:cNvPr id="12" name="Placeholder quote"/>
          <p:cNvSpPr>
            <a:spLocks noGrp="1"/>
          </p:cNvSpPr>
          <p:nvPr>
            <p:ph idx="110" type="body" hasCustomPrompt="1"/>
          </p:nvPr>
        </p:nvSpPr>
        <p:spPr>
          <a:xfrm>
            <a:off x="1904970" y="7419990"/>
            <a:ext cx="7048470" cy="2647920"/>
          </a:xfrm>
          <a:prstGeom prst="rect">
            <a:avLst/>
          </a:prstGeom>
          <a:noFill/>
          <a:ln/>
        </p:spPr>
        <p:txBody>
          <a:bodyPr wrap="square" rtlCol="0" lIns="0" tIns="0" rIns="0" bIns="0" anchor="t">
            <a:normAutofit/>
          </a:bodyPr>
          <a:lstStyle>
            <a:lvl1pPr algn="l" indent="0" marL="0">
              <a:lnSpc>
                <a:spcPts val="5100"/>
              </a:lnSpc>
              <a:buNone/>
              <a:defRPr sz="4200">
                <a:solidFill>
                  <a:srgbClr val="FFFFFF"/>
                </a:solidFill>
                <a:latin typeface="Roboto Slab" pitchFamily="34" charset="0"/>
                <a:ea typeface="Roboto Slab" pitchFamily="34" charset="-122"/>
                <a:cs typeface="Roboto Slab" pitchFamily="34" charset="-120"/>
              </a:defRPr>
            </a:lvl1pPr>
          </a:lstStyle>
          <a:p>
            <a:pPr algn="l" indent="0" marL="0">
              <a:lnSpc>
                <a:spcPts val="5100"/>
              </a:lnSpc>
              <a:buNone/>
            </a:pPr>
            <a:r>
              <a:rPr lang="en-US" sz="4200" dirty="0">
                <a:solidFill>
                  <a:srgbClr val="FFFFFF"/>
                </a:solidFill>
                <a:latin typeface="Roboto Slab" pitchFamily="34" charset="0"/>
                <a:ea typeface="Roboto Slab" pitchFamily="34" charset="-122"/>
                <a:cs typeface="Roboto Slab" pitchFamily="34" charset="-120"/>
              </a:rPr>
              <a:t>Quote the person approved, up to 4 lines</a:t>
            </a:r>
            <a:endParaRPr lang="en-US" sz="42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video cover">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17602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86400" y="152430"/>
            <a:ext cx="4572000" cy="2514600"/>
          </a:xfrm>
          <a:prstGeom prst="rect">
            <a:avLst/>
          </a:prstGeom>
        </p:spPr>
      </p:pic>
      <p:pic>
        <p:nvPicPr>
          <p:cNvPr id="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43400" y="12325380"/>
            <a:ext cx="5715000" cy="5048220"/>
          </a:xfrm>
          <a:prstGeom prst="rect">
            <a:avLst/>
          </a:prstGeom>
        </p:spPr>
      </p:pic>
      <p:pic>
        <p:nvPicPr>
          <p:cNvPr id="5" name="Image 3" descr="Advanced Telerobotics Research Lab mark">    </p:cNvPr>
          <p:cNvPicPr>
            <a:picLocks noChangeAspect="1"/>
          </p:cNvPicPr>
          <p:nvPr/>
        </p:nvPicPr>
        <p:blipFill>
          <a:blip r:embed="rId4"/>
          <a:stretch>
            <a:fillRect/>
          </a:stretch>
        </p:blipFill>
        <p:spPr>
          <a:xfrm>
            <a:off x="685800" y="10648920"/>
            <a:ext cx="1199876" cy="1238280"/>
          </a:xfrm>
          <a:prstGeom prst="rect">
            <a:avLst/>
          </a:prstGeom>
        </p:spPr>
      </p:pic>
      <p:pic>
        <p:nvPicPr>
          <p:cNvPr id="6" name="Image 4" descr="Kent State University wordmark">    </p:cNvPr>
          <p:cNvPicPr>
            <a:picLocks noChangeAspect="1"/>
          </p:cNvPicPr>
          <p:nvPr/>
        </p:nvPicPr>
        <p:blipFill>
          <a:blip r:embed="rId5"/>
          <a:stretch>
            <a:fillRect/>
          </a:stretch>
        </p:blipFill>
        <p:spPr>
          <a:xfrm>
            <a:off x="7656911" y="10648920"/>
            <a:ext cx="1296619" cy="1238280"/>
          </a:xfrm>
          <a:prstGeom prst="rect">
            <a:avLst/>
          </a:prstGeom>
        </p:spPr>
      </p:pic>
      <p:sp>
        <p:nvSpPr>
          <p:cNvPr id="7" name="Placeholder eyebrow"/>
          <p:cNvSpPr>
            <a:spLocks noGrp="1"/>
          </p:cNvSpPr>
          <p:nvPr>
            <p:ph idx="105" type="body" hasCustomPrompt="1"/>
          </p:nvPr>
        </p:nvSpPr>
        <p:spPr>
          <a:xfrm>
            <a:off x="685800" y="2790840"/>
            <a:ext cx="82677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sp>
        <p:nvSpPr>
          <p:cNvPr id="8" name="Picture Placeholder frame"/>
          <p:cNvSpPr>
            <a:spLocks noGrp="1"/>
          </p:cNvSpPr>
          <p:nvPr>
            <p:ph idx="106" hasCustomPrompt="1" type="pic"/>
          </p:nvPr>
        </p:nvSpPr>
        <p:spPr>
          <a:xfrm>
            <a:off x="685800" y="3362340"/>
            <a:ext cx="7239030" cy="407667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frame from the video (16:9)</a:t>
            </a:r>
            <a:endParaRPr lang="en-US" dirty="0"/>
          </a:p>
        </p:txBody>
      </p:sp>
      <p:sp>
        <p:nvSpPr>
          <p:cNvPr id="9" name="Placeholder title"/>
          <p:cNvSpPr>
            <a:spLocks noGrp="1"/>
          </p:cNvSpPr>
          <p:nvPr>
            <p:ph idx="107" type="title" hasCustomPrompt="1"/>
          </p:nvPr>
        </p:nvSpPr>
        <p:spPr>
          <a:xfrm>
            <a:off x="685800" y="7667610"/>
            <a:ext cx="8267730" cy="1543050"/>
          </a:xfrm>
          <a:prstGeom prst="rect">
            <a:avLst/>
          </a:prstGeom>
          <a:noFill/>
          <a:ln/>
        </p:spPr>
        <p:txBody>
          <a:bodyPr wrap="square" rtlCol="0" lIns="0" tIns="0" rIns="0" bIns="0" anchor="t">
            <a:normAutofit/>
          </a:bodyPr>
          <a:lstStyle>
            <a:lvl1pPr algn="l" indent="0" marL="0">
              <a:lnSpc>
                <a:spcPts val="5850"/>
              </a:lnSpc>
              <a:buNone/>
              <a:defRPr sz="5400" b="1">
                <a:solidFill>
                  <a:srgbClr val="FFFFFF"/>
                </a:solidFill>
                <a:latin typeface="Source Sans 3" pitchFamily="34" charset="0"/>
                <a:ea typeface="Source Sans 3" pitchFamily="34" charset="-122"/>
                <a:cs typeface="Source Sans 3" pitchFamily="34" charset="-120"/>
              </a:defRPr>
            </a:lvl1pPr>
          </a:lstStyle>
          <a:p>
            <a:pPr algn="l" indent="0" marL="0">
              <a:lnSpc>
                <a:spcPts val="5850"/>
              </a:lnSpc>
              <a:buNone/>
            </a:pPr>
            <a:r>
              <a:rPr lang="en-US" sz="5400" b="1" dirty="0">
                <a:solidFill>
                  <a:srgbClr val="FFFFFF"/>
                </a:solidFill>
                <a:latin typeface="Source Sans 3" pitchFamily="34" charset="0"/>
                <a:ea typeface="Source Sans 3" pitchFamily="34" charset="-122"/>
                <a:cs typeface="Source Sans 3" pitchFamily="34" charset="-120"/>
              </a:rPr>
              <a:t>What the robot does, in five to eight words</a:t>
            </a:r>
            <a:endParaRPr lang="en-US" sz="5400" dirty="0"/>
          </a:p>
        </p:txBody>
      </p:sp>
      <p:sp>
        <p:nvSpPr>
          <p:cNvPr id="10" name="Placeholder flags"/>
          <p:cNvSpPr>
            <a:spLocks noGrp="1"/>
          </p:cNvSpPr>
          <p:nvPr>
            <p:ph idx="108" type="body" hasCustomPrompt="1"/>
          </p:nvPr>
        </p:nvSpPr>
        <p:spPr>
          <a:xfrm>
            <a:off x="685800" y="9305940"/>
            <a:ext cx="826773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Honesty labels: [2X SPEED]  ·  [TELEOPERATED]</a:t>
            </a:r>
            <a:endParaRPr lang="en-US" sz="2700" dirty="0"/>
          </a:p>
        </p:txBody>
      </p:sp>
      <p:sp>
        <p:nvSpPr>
          <p:cNvPr id="11" name="Placeholder cta"/>
          <p:cNvSpPr>
            <a:spLocks noGrp="1"/>
          </p:cNvSpPr>
          <p:nvPr>
            <p:ph idx="109" type="body" hasCustomPrompt="1"/>
          </p:nvPr>
        </p:nvSpPr>
        <p:spPr>
          <a:xfrm>
            <a:off x="685800" y="9801271"/>
            <a:ext cx="8267730" cy="476220"/>
          </a:xfrm>
          <a:prstGeom prst="rect">
            <a:avLst/>
          </a:prstGeom>
          <a:noFill/>
          <a:ln/>
        </p:spPr>
        <p:txBody>
          <a:bodyPr wrap="square" rtlCol="0" lIns="0" tIns="0" rIns="0" bIns="0" anchor="ctr">
            <a:normAutofit/>
          </a:bodyPr>
          <a:lstStyle>
            <a:lvl1pPr algn="l" indent="0" marL="0">
              <a:lnSpc>
                <a:spcPts val="3300"/>
              </a:lnSpc>
              <a:buNone/>
              <a:defRPr sz="2700">
                <a:solidFill>
                  <a:srgbClr val="FFFFFF"/>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Where to watch, e.g. Full video on YouTube: link in bio</a:t>
            </a:r>
            <a:endParaRPr lang="en-US" sz="27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ank you / Welcome">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28600" y="12858750"/>
            <a:ext cx="5715000" cy="504822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10648920"/>
            <a:ext cx="1199876" cy="1238280"/>
          </a:xfrm>
          <a:prstGeom prst="rect">
            <a:avLst/>
          </a:prstGeom>
        </p:spPr>
      </p:pic>
      <p:sp>
        <p:nvSpPr>
          <p:cNvPr id="5" name="Text 0"/>
          <p:cNvSpPr txBox="1"/>
          <p:nvPr/>
        </p:nvSpPr>
        <p:spPr>
          <a:xfrm>
            <a:off x="2304745" y="10648920"/>
            <a:ext cx="5715000" cy="123828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685800" y="4200571"/>
            <a:ext cx="82677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 or WELCOME]</a:t>
            </a:r>
            <a:endParaRPr lang="en-US" sz="2700" dirty="0"/>
          </a:p>
        </p:txBody>
      </p:sp>
      <p:sp>
        <p:nvSpPr>
          <p:cNvPr id="7" name="Placeholder display"/>
          <p:cNvSpPr>
            <a:spLocks noGrp="1"/>
          </p:cNvSpPr>
          <p:nvPr>
            <p:ph idx="105" type="title" hasCustomPrompt="1"/>
          </p:nvPr>
        </p:nvSpPr>
        <p:spPr>
          <a:xfrm>
            <a:off x="685800" y="4848240"/>
            <a:ext cx="8267730" cy="1314450"/>
          </a:xfrm>
          <a:prstGeom prst="rect">
            <a:avLst/>
          </a:prstGeom>
          <a:noFill/>
          <a:ln/>
        </p:spPr>
        <p:txBody>
          <a:bodyPr wrap="square" rtlCol="0" lIns="0" tIns="0" rIns="0" bIns="0" anchor="ctr">
            <a:normAutofit/>
          </a:bodyPr>
          <a:lstStyle>
            <a:lvl1pPr algn="l" indent="0" marL="0">
              <a:lnSpc>
                <a:spcPts val="9900"/>
              </a:lnSpc>
              <a:buNone/>
              <a:defRPr sz="9600">
                <a:solidFill>
                  <a:srgbClr val="003976"/>
                </a:solidFill>
                <a:latin typeface="Source Sans 3 Black" pitchFamily="34" charset="0"/>
                <a:ea typeface="Source Sans 3 Black" pitchFamily="34" charset="-122"/>
                <a:cs typeface="Source Sans 3 Black" pitchFamily="34" charset="-120"/>
              </a:defRPr>
            </a:lvl1pPr>
          </a:lstStyle>
          <a:p>
            <a:pPr algn="l" indent="0" marL="0">
              <a:lnSpc>
                <a:spcPts val="9900"/>
              </a:lnSpc>
              <a:buNone/>
            </a:pPr>
            <a:r>
              <a:rPr lang="en-US" sz="9600" dirty="0">
                <a:solidFill>
                  <a:srgbClr val="003976"/>
                </a:solidFill>
                <a:latin typeface="Source Sans 3 Black" pitchFamily="34" charset="0"/>
                <a:ea typeface="Source Sans 3 Black" pitchFamily="34" charset="-122"/>
                <a:cs typeface="Source Sans 3 Black" pitchFamily="34" charset="-120"/>
              </a:rPr>
              <a:t>Thank you  /  Welcome</a:t>
            </a:r>
            <a:endParaRPr lang="en-US" sz="9600" dirty="0"/>
          </a:p>
        </p:txBody>
      </p:sp>
      <p:sp>
        <p:nvSpPr>
          <p:cNvPr id="8" name="Placeholder support"/>
          <p:cNvSpPr>
            <a:spLocks noGrp="1"/>
          </p:cNvSpPr>
          <p:nvPr>
            <p:ph idx="106" type="body" hasCustomPrompt="1"/>
          </p:nvPr>
        </p:nvSpPr>
        <p:spPr>
          <a:xfrm>
            <a:off x="685800" y="6296101"/>
            <a:ext cx="8267730" cy="196212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Who and why, up to 4 lines</a:t>
            </a:r>
            <a:endParaRPr lang="en-US" sz="3000" dirty="0"/>
          </a:p>
        </p:txBody>
      </p:sp>
      <p:sp>
        <p:nvSpPr>
          <p:cNvPr id="9" name="Placeholder next"/>
          <p:cNvSpPr>
            <a:spLocks noGrp="1"/>
          </p:cNvSpPr>
          <p:nvPr>
            <p:ph idx="107" type="body" hasCustomPrompt="1"/>
          </p:nvPr>
        </p:nvSpPr>
        <p:spPr>
          <a:xfrm>
            <a:off x="685800" y="8391540"/>
            <a:ext cx="82677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What is next, e.g. Next: [event, date]</a:t>
            </a:r>
            <a:endParaRPr lang="en-US" sz="27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laceholder eyebrow"/>
          <p:cNvSpPr/>
          <p:nvPr>
            <p:ph idx="105" type="body"/>
          </p:nvPr>
        </p:nvSpPr>
        <p:spPr>
          <a:xfrm>
            <a:off x="685800" y="306708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3" name="Placeholder headline"/>
          <p:cNvSpPr/>
          <p:nvPr>
            <p:ph idx="106" type="title"/>
          </p:nvPr>
        </p:nvSpPr>
        <p:spPr>
          <a:xfrm>
            <a:off x="685800" y="3676711"/>
            <a:ext cx="8267730" cy="4019520"/>
          </a:xfrm>
          <a:prstGeom prst="rect">
            <a:avLst/>
          </a:prstGeom>
          <a:noFill/>
          <a:ln/>
        </p:spPr>
        <p:txBody>
          <a:bodyPr wrap="square" lIns="0" tIns="0" rIns="0" bIns="0" rtlCol="0" anchor="t">
            <a:normAutofit/>
          </a:bodyPr>
          <a:lstStyle/>
          <a:p>
            <a:pPr algn="l" indent="0" marL="0">
              <a:lnSpc>
                <a:spcPts val="7800"/>
              </a:lnSpc>
              <a:buNone/>
            </a:pPr>
            <a:r>
              <a:rPr lang="en-US" sz="7200" b="1" dirty="0">
                <a:solidFill>
                  <a:srgbClr val="FFFFFF"/>
                </a:solidFill>
                <a:latin typeface="Source Sans 3" pitchFamily="34" charset="0"/>
                <a:ea typeface="Source Sans 3" pitchFamily="34" charset="-122"/>
                <a:cs typeface="Source Sans 3" pitchFamily="34" charset="-120"/>
              </a:rPr>
              <a:t>Summer robotics internship</a:t>
            </a:r>
            <a:endParaRPr lang="en-US" sz="7200" dirty="0"/>
          </a:p>
        </p:txBody>
      </p:sp>
      <p:sp>
        <p:nvSpPr>
          <p:cNvPr id="4" name="Placeholder support"/>
          <p:cNvSpPr/>
          <p:nvPr>
            <p:ph idx="107" type="body"/>
          </p:nvPr>
        </p:nvSpPr>
        <p:spPr>
          <a:xfrm>
            <a:off x="685800" y="7905811"/>
            <a:ext cx="8267730" cy="148590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High school students: spend your summer on a real robotics research team at Kent State University.</a:t>
            </a:r>
            <a:endParaRPr lang="en-US" sz="3000" dirty="0"/>
          </a:p>
        </p:txBody>
      </p:sp>
      <p:sp>
        <p:nvSpPr>
          <p:cNvPr id="5" name="Placeholder link"/>
          <p:cNvSpPr/>
          <p:nvPr>
            <p:ph idx="108" type="body"/>
          </p:nvPr>
        </p:nvSpPr>
        <p:spPr>
          <a:xfrm>
            <a:off x="685800" y="952503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atr.cs.kent.edu</a:t>
            </a:r>
            <a:endParaRPr lang="en-US"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laceholder eyebrow"/>
          <p:cNvSpPr/>
          <p:nvPr>
            <p:ph idx="104" type="body"/>
          </p:nvPr>
        </p:nvSpPr>
        <p:spPr>
          <a:xfrm>
            <a:off x="685800" y="364809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3" name="Placeholder headline"/>
          <p:cNvSpPr/>
          <p:nvPr>
            <p:ph idx="105" type="title"/>
          </p:nvPr>
        </p:nvSpPr>
        <p:spPr>
          <a:xfrm>
            <a:off x="685800" y="4295760"/>
            <a:ext cx="8267730" cy="2038380"/>
          </a:xfrm>
          <a:prstGeom prst="rect">
            <a:avLst/>
          </a:prstGeom>
          <a:noFill/>
          <a:ln/>
        </p:spPr>
        <p:txBody>
          <a:bodyPr wrap="square" lIns="0" tIns="0" rIns="0" bIns="0" rtlCol="0" anchor="t">
            <a:normAutofit/>
          </a:body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Robot demos and open lab night</a:t>
            </a:r>
            <a:endParaRPr lang="en-US" sz="7200" dirty="0"/>
          </a:p>
        </p:txBody>
      </p:sp>
      <p:sp>
        <p:nvSpPr>
          <p:cNvPr id="4" name="Placeholder when"/>
          <p:cNvSpPr/>
          <p:nvPr>
            <p:ph idx="107" type="body"/>
          </p:nvPr>
        </p:nvSpPr>
        <p:spPr>
          <a:xfrm>
            <a:off x="1447770" y="6581760"/>
            <a:ext cx="750567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[Thursday, Sept. 23]  ·  [6-8 p.m.]</a:t>
            </a:r>
            <a:endParaRPr lang="en-US" sz="3000" dirty="0"/>
          </a:p>
        </p:txBody>
      </p:sp>
      <p:sp>
        <p:nvSpPr>
          <p:cNvPr id="5" name="Placeholder where"/>
          <p:cNvSpPr/>
          <p:nvPr>
            <p:ph idx="109" type="body"/>
          </p:nvPr>
        </p:nvSpPr>
        <p:spPr>
          <a:xfrm>
            <a:off x="1447770" y="7724760"/>
            <a:ext cx="750567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[Room], Mathematical Sciences Building, Kent State University</a:t>
            </a:r>
            <a:endParaRPr lang="en-US" sz="3000" dirty="0"/>
          </a:p>
        </p:txBody>
      </p:sp>
      <p:sp>
        <p:nvSpPr>
          <p:cNvPr id="6" name="Placeholder cta"/>
          <p:cNvSpPr/>
          <p:nvPr>
            <p:ph idx="110" type="body"/>
          </p:nvPr>
        </p:nvSpPr>
        <p:spPr>
          <a:xfrm>
            <a:off x="685800" y="8944021"/>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RSVP: [link]</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laceholder eyebrow"/>
          <p:cNvSpPr/>
          <p:nvPr>
            <p:ph idx="105" type="body"/>
          </p:nvPr>
        </p:nvSpPr>
        <p:spPr>
          <a:xfrm>
            <a:off x="685800" y="316227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2027]</a:t>
            </a:r>
            <a:endParaRPr lang="en-US" sz="2700" dirty="0"/>
          </a:p>
        </p:txBody>
      </p:sp>
      <p:sp>
        <p:nvSpPr>
          <p:cNvPr id="3" name="Placeholder title"/>
          <p:cNvSpPr/>
          <p:nvPr>
            <p:ph idx="106" type="title"/>
          </p:nvPr>
        </p:nvSpPr>
        <p:spPr>
          <a:xfrm>
            <a:off x="685800" y="3809939"/>
            <a:ext cx="8267730" cy="3771900"/>
          </a:xfrm>
          <a:prstGeom prst="rect">
            <a:avLst/>
          </a:prstGeom>
          <a:noFill/>
          <a:ln/>
        </p:spPr>
        <p:txBody>
          <a:bodyPr wrap="square" lIns="0" tIns="0" rIns="0" bIns="0" rtlCol="0" anchor="t">
            <a:normAutofit/>
          </a:bodyPr>
          <a:lstStyle/>
          <a:p>
            <a:pPr algn="l" indent="0" marL="0">
              <a:lnSpc>
                <a:spcPts val="5850"/>
              </a:lnSpc>
              <a:buNone/>
            </a:pPr>
            <a:r>
              <a:rPr lang="en-US" sz="5400" b="1" dirty="0">
                <a:solidFill>
                  <a:srgbClr val="FFFFFF"/>
                </a:solidFill>
                <a:latin typeface="Source Sans 3" pitchFamily="34" charset="0"/>
                <a:ea typeface="Source Sans 3" pitchFamily="34" charset="-122"/>
                <a:cs typeface="Source Sans 3" pitchFamily="34" charset="-120"/>
              </a:rPr>
              <a:t>[Paper title: state the contribution in plain words, up to five lines at this size]</a:t>
            </a:r>
            <a:endParaRPr lang="en-US" sz="5400" dirty="0"/>
          </a:p>
        </p:txBody>
      </p:sp>
      <p:sp>
        <p:nvSpPr>
          <p:cNvPr id="4" name="Placeholder authors"/>
          <p:cNvSpPr/>
          <p:nvPr>
            <p:ph idx="107" type="body"/>
          </p:nvPr>
        </p:nvSpPr>
        <p:spPr>
          <a:xfrm>
            <a:off x="685800" y="7791420"/>
            <a:ext cx="826773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[Author One], [Author Two] and [Author Three], Advanced Telerobotics Research Lab</a:t>
            </a:r>
            <a:endParaRPr lang="en-US" sz="3000" dirty="0"/>
          </a:p>
        </p:txBody>
      </p:sp>
      <p:sp>
        <p:nvSpPr>
          <p:cNvPr id="5" name="Placeholder venue"/>
          <p:cNvSpPr/>
          <p:nvPr>
            <p:ph idx="108" type="body"/>
          </p:nvPr>
        </p:nvSpPr>
        <p:spPr>
          <a:xfrm>
            <a:off x="685800" y="8896289"/>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[Conference], [City]  ·  [Month YYYY]</a:t>
            </a:r>
            <a:endParaRPr lang="en-US" sz="2700" dirty="0"/>
          </a:p>
        </p:txBody>
      </p:sp>
      <p:sp>
        <p:nvSpPr>
          <p:cNvPr id="6" name="Placeholder cta"/>
          <p:cNvSpPr/>
          <p:nvPr>
            <p:ph idx="109" type="body"/>
          </p:nvPr>
        </p:nvSpPr>
        <p:spPr>
          <a:xfrm>
            <a:off x="685800" y="942975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Read the paper: link in bio</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laceholder eyebrow"/>
          <p:cNvSpPr/>
          <p:nvPr>
            <p:ph idx="104" type="body"/>
          </p:nvPr>
        </p:nvSpPr>
        <p:spPr>
          <a:xfrm>
            <a:off x="685800" y="313374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3" name="Placeholder headline"/>
          <p:cNvSpPr/>
          <p:nvPr>
            <p:ph idx="105" type="title"/>
          </p:nvPr>
        </p:nvSpPr>
        <p:spPr>
          <a:xfrm>
            <a:off x="685800" y="3781410"/>
            <a:ext cx="8267730" cy="3028950"/>
          </a:xfrm>
          <a:prstGeom prst="rect">
            <a:avLst/>
          </a:prstGeom>
          <a:noFill/>
          <a:ln/>
        </p:spPr>
        <p:txBody>
          <a:bodyPr wrap="square" lIns="0" tIns="0" rIns="0" bIns="0" rtlCol="0" anchor="t">
            <a:normAutofit/>
          </a:body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Build real robots before you graduate.</a:t>
            </a:r>
            <a:endParaRPr lang="en-US" sz="7200" dirty="0"/>
          </a:p>
        </p:txBody>
      </p:sp>
      <p:sp>
        <p:nvSpPr>
          <p:cNvPr id="4" name="Placeholder points"/>
          <p:cNvSpPr/>
          <p:nvPr>
            <p:ph idx="106" type="body"/>
          </p:nvPr>
        </p:nvSpPr>
        <p:spPr>
          <a:xfrm>
            <a:off x="685800" y="7058071"/>
            <a:ext cx="8267730" cy="2266980"/>
          </a:xfrm>
          <a:prstGeom prst="rect">
            <a:avLst/>
          </a:prstGeom>
          <a:noFill/>
          <a:ln/>
        </p:spPr>
        <p:txBody>
          <a:bodyPr wrap="square" lIns="0" tIns="0" rIns="0" bIns="0" rtlCol="0" anchor="t">
            <a:normAutofit/>
          </a:bodyPr>
          <a:lstStyle/>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[Who can apply]</a:t>
            </a:r>
            <a:endParaRPr lang="en-US" sz="3000" dirty="0"/>
          </a:p>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[What you would work on]</a:t>
            </a:r>
            <a:endParaRPr lang="en-US" sz="3000" dirty="0"/>
          </a:p>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[Hours, credit or pay]</a:t>
            </a:r>
            <a:endParaRPr lang="en-US" sz="3000" dirty="0"/>
          </a:p>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[How and when to apply]</a:t>
            </a:r>
            <a:endParaRPr lang="en-US" sz="3000" dirty="0"/>
          </a:p>
        </p:txBody>
      </p:sp>
      <p:sp>
        <p:nvSpPr>
          <p:cNvPr id="5" name="Placeholder cta"/>
          <p:cNvSpPr/>
          <p:nvPr>
            <p:ph idx="107" type="body"/>
          </p:nvPr>
        </p:nvSpPr>
        <p:spPr>
          <a:xfrm>
            <a:off x="685800" y="9458371"/>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atr.cs.kent.edu  ·  [Join page]</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laceholder eyebrow"/>
          <p:cNvSpPr/>
          <p:nvPr>
            <p:ph idx="105" type="body"/>
          </p:nvPr>
        </p:nvSpPr>
        <p:spPr>
          <a:xfrm>
            <a:off x="685800" y="355281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3" name="Placeholder number"/>
          <p:cNvSpPr/>
          <p:nvPr>
            <p:ph idx="106" type="title"/>
          </p:nvPr>
        </p:nvSpPr>
        <p:spPr>
          <a:xfrm>
            <a:off x="685800" y="4124310"/>
            <a:ext cx="8267730" cy="2800350"/>
          </a:xfrm>
          <a:prstGeom prst="rect">
            <a:avLst/>
          </a:prstGeom>
          <a:noFill/>
          <a:ln/>
        </p:spPr>
        <p:txBody>
          <a:bodyPr wrap="square" lIns="0" tIns="0" rIns="0" bIns="0" rtlCol="0" anchor="ctr">
            <a:normAutofit/>
          </a:bodyPr>
          <a:lstStyle/>
          <a:p>
            <a:pPr algn="l" indent="0" marL="0">
              <a:lnSpc>
                <a:spcPts val="21600"/>
              </a:lnSpc>
              <a:buNone/>
            </a:pPr>
            <a:r>
              <a:rPr lang="en-US" sz="21000" b="1" spc="-200" kern="0" dirty="0">
                <a:solidFill>
                  <a:srgbClr val="EFAB00"/>
                </a:solidFill>
                <a:latin typeface="Roboto Slab" pitchFamily="34" charset="0"/>
                <a:ea typeface="Roboto Slab" pitchFamily="34" charset="-122"/>
                <a:cs typeface="Roboto Slab" pitchFamily="34" charset="-120"/>
              </a:rPr>
              <a:t>[10]</a:t>
            </a:r>
            <a:endParaRPr lang="en-US" sz="21000" dirty="0"/>
          </a:p>
        </p:txBody>
      </p:sp>
      <p:sp>
        <p:nvSpPr>
          <p:cNvPr id="4" name="Placeholder label"/>
          <p:cNvSpPr/>
          <p:nvPr>
            <p:ph idx="107" type="body"/>
          </p:nvPr>
        </p:nvSpPr>
        <p:spPr>
          <a:xfrm>
            <a:off x="685800" y="6943679"/>
            <a:ext cx="8267730" cy="196212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years of telerobotics research at Kent State: the lab opened its doors in spring 2017</a:t>
            </a:r>
            <a:endParaRPr lang="en-US" sz="3000" dirty="0"/>
          </a:p>
        </p:txBody>
      </p:sp>
      <p:sp>
        <p:nvSpPr>
          <p:cNvPr id="5" name="Placeholder source"/>
          <p:cNvSpPr/>
          <p:nvPr>
            <p:ph idx="108" type="body"/>
          </p:nvPr>
        </p:nvSpPr>
        <p:spPr>
          <a:xfrm>
            <a:off x="685800" y="903921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atr.cs.kent.edu/[news post]</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laceholder eyebrow"/>
          <p:cNvSpPr/>
          <p:nvPr>
            <p:ph idx="105" type="body"/>
          </p:nvPr>
        </p:nvSpPr>
        <p:spPr>
          <a:xfrm>
            <a:off x="685800" y="3000421"/>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pic>
        <p:nvPicPr>
          <p:cNvPr id="3" name="Picture Placeholder photo" descr="Photo placeholder: replace with a real photo of the person">    </p:cNvPr>
          <p:cNvPicPr>
            <a:picLocks noChangeAspect="1"/>
          </p:cNvPicPr>
          <p:nvPr>
            <p:ph idx="106" type="pic"/>
          </p:nvPr>
        </p:nvPicPr>
        <p:blipFill>
          <a:blip r:embed="rId1"/>
          <a:stretch>
            <a:fillRect/>
          </a:stretch>
        </p:blipFill>
        <p:spPr>
          <a:xfrm>
            <a:off x="685800" y="3648090"/>
            <a:ext cx="3429000" cy="3429000"/>
          </a:xfrm>
          <a:prstGeom prst="rect">
            <a:avLst/>
          </a:prstGeom>
        </p:spPr>
      </p:pic>
      <p:sp>
        <p:nvSpPr>
          <p:cNvPr id="4" name="Placeholder name"/>
          <p:cNvSpPr/>
          <p:nvPr>
            <p:ph idx="107" type="body"/>
          </p:nvPr>
        </p:nvSpPr>
        <p:spPr>
          <a:xfrm>
            <a:off x="4457700" y="4667280"/>
            <a:ext cx="4495830" cy="533370"/>
          </a:xfrm>
          <a:prstGeom prst="rect">
            <a:avLst/>
          </a:prstGeom>
          <a:noFill/>
          <a:ln/>
        </p:spPr>
        <p:txBody>
          <a:bodyPr wrap="square" lIns="0" tIns="0" rIns="0" bIns="0" rtlCol="0" anchor="ctr">
            <a:normAutofit/>
          </a:bodyPr>
          <a:lstStyle/>
          <a:p>
            <a:pPr algn="l" indent="0" marL="0">
              <a:lnSpc>
                <a:spcPts val="3750"/>
              </a:lnSpc>
              <a:buNone/>
            </a:pPr>
            <a:r>
              <a:rPr lang="en-US" sz="3000" b="1" dirty="0">
                <a:solidFill>
                  <a:srgbClr val="FFFFFF"/>
                </a:solidFill>
                <a:latin typeface="Source Sans 3" pitchFamily="34" charset="0"/>
                <a:ea typeface="Source Sans 3" pitchFamily="34" charset="-122"/>
                <a:cs typeface="Source Sans 3" pitchFamily="34" charset="-120"/>
              </a:rPr>
              <a:t>[First Last]</a:t>
            </a:r>
            <a:endParaRPr lang="en-US" sz="3000" dirty="0"/>
          </a:p>
        </p:txBody>
      </p:sp>
      <p:sp>
        <p:nvSpPr>
          <p:cNvPr id="5" name="Placeholder role"/>
          <p:cNvSpPr/>
          <p:nvPr>
            <p:ph idx="108" type="body"/>
          </p:nvPr>
        </p:nvSpPr>
        <p:spPr>
          <a:xfrm>
            <a:off x="4457700" y="5219761"/>
            <a:ext cx="4495830" cy="895380"/>
          </a:xfrm>
          <a:prstGeom prst="rect">
            <a:avLst/>
          </a:prstGeom>
          <a:noFill/>
          <a:ln/>
        </p:spPr>
        <p:txBody>
          <a:bodyPr wrap="square" lIns="0" tIns="0" rIns="0" bIns="0" rtlCol="0" anchor="t">
            <a:normAutofit/>
          </a:bodyPr>
          <a:lstStyle/>
          <a:p>
            <a:pPr algn="l" indent="0" marL="0">
              <a:lnSpc>
                <a:spcPts val="3300"/>
              </a:lnSpc>
              <a:buNone/>
            </a:pPr>
            <a:r>
              <a:rPr lang="en-US" sz="2700" dirty="0">
                <a:solidFill>
                  <a:srgbClr val="FFFFFF"/>
                </a:solidFill>
                <a:latin typeface="Source Sans 3" pitchFamily="34" charset="0"/>
                <a:ea typeface="Source Sans 3" pitchFamily="34" charset="-122"/>
                <a:cs typeface="Source Sans 3" pitchFamily="34" charset="-120"/>
              </a:rPr>
              <a:t>[Ph.D. student, computer science]</a:t>
            </a:r>
            <a:endParaRPr lang="en-US" sz="2700" dirty="0"/>
          </a:p>
        </p:txBody>
      </p:sp>
      <p:sp>
        <p:nvSpPr>
          <p:cNvPr id="6" name="Placeholder quote"/>
          <p:cNvSpPr/>
          <p:nvPr>
            <p:ph idx="110" type="body"/>
          </p:nvPr>
        </p:nvSpPr>
        <p:spPr>
          <a:xfrm>
            <a:off x="1904970" y="7419990"/>
            <a:ext cx="7048470" cy="2647920"/>
          </a:xfrm>
          <a:prstGeom prst="rect">
            <a:avLst/>
          </a:prstGeom>
          <a:noFill/>
          <a:ln/>
        </p:spPr>
        <p:txBody>
          <a:bodyPr wrap="square" lIns="0" tIns="0" rIns="0" bIns="0" rtlCol="0" anchor="t">
            <a:normAutofit/>
          </a:bodyPr>
          <a:lstStyle/>
          <a:p>
            <a:pPr algn="l" indent="0" marL="0">
              <a:lnSpc>
                <a:spcPts val="5100"/>
              </a:lnSpc>
              <a:buNone/>
            </a:pPr>
            <a:r>
              <a:rPr lang="en-US" sz="4200" dirty="0">
                <a:solidFill>
                  <a:srgbClr val="FFFFFF"/>
                </a:solidFill>
                <a:latin typeface="Roboto Slab" pitchFamily="34" charset="0"/>
                <a:ea typeface="Roboto Slab" pitchFamily="34" charset="-122"/>
                <a:cs typeface="Roboto Slab" pitchFamily="34" charset="-120"/>
              </a:rPr>
              <a:t>[A short quote the person approved, 25 words or fewer.]</a:t>
            </a:r>
            <a:endParaRPr lang="en-US" sz="4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laceholder eyebrow"/>
          <p:cNvSpPr/>
          <p:nvPr>
            <p:ph idx="105" type="body"/>
          </p:nvPr>
        </p:nvSpPr>
        <p:spPr>
          <a:xfrm>
            <a:off x="685800" y="279084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pic>
        <p:nvPicPr>
          <p:cNvPr id="3" name="Picture Placeholder frame" descr="Video frame placeholder: replace with a real frame from the video">    </p:cNvPr>
          <p:cNvPicPr>
            <a:picLocks noChangeAspect="1"/>
          </p:cNvPicPr>
          <p:nvPr>
            <p:ph idx="106" type="pic"/>
          </p:nvPr>
        </p:nvPicPr>
        <p:blipFill>
          <a:blip r:embed="rId1"/>
          <a:stretch>
            <a:fillRect/>
          </a:stretch>
        </p:blipFill>
        <p:spPr>
          <a:xfrm>
            <a:off x="685800" y="3362340"/>
            <a:ext cx="7239030" cy="4076670"/>
          </a:xfrm>
          <a:prstGeom prst="rect">
            <a:avLst/>
          </a:prstGeom>
        </p:spPr>
      </p:pic>
      <p:pic>
        <p:nvPicPr>
          <p:cNvPr id="4" name="Play badge" descr="Play">    </p:cNvPr>
          <p:cNvPicPr>
            <a:picLocks noChangeAspect="1"/>
          </p:cNvPicPr>
          <p:nvPr/>
        </p:nvPicPr>
        <p:blipFill>
          <a:blip r:embed="rId2"/>
          <a:stretch>
            <a:fillRect/>
          </a:stretch>
        </p:blipFill>
        <p:spPr>
          <a:xfrm>
            <a:off x="685800" y="6372271"/>
            <a:ext cx="1066830" cy="1066830"/>
          </a:xfrm>
          <a:prstGeom prst="rect">
            <a:avLst/>
          </a:prstGeom>
        </p:spPr>
      </p:pic>
      <p:sp>
        <p:nvSpPr>
          <p:cNvPr id="5" name="Placeholder title"/>
          <p:cNvSpPr/>
          <p:nvPr>
            <p:ph idx="107" type="title"/>
          </p:nvPr>
        </p:nvSpPr>
        <p:spPr>
          <a:xfrm>
            <a:off x="685800" y="7667610"/>
            <a:ext cx="8267730" cy="1543050"/>
          </a:xfrm>
          <a:prstGeom prst="rect">
            <a:avLst/>
          </a:prstGeom>
          <a:noFill/>
          <a:ln/>
        </p:spPr>
        <p:txBody>
          <a:bodyPr wrap="square" lIns="0" tIns="0" rIns="0" bIns="0" rtlCol="0" anchor="t">
            <a:normAutofit/>
          </a:bodyPr>
          <a:lstStyle/>
          <a:p>
            <a:pPr algn="l" indent="0" marL="0">
              <a:lnSpc>
                <a:spcPts val="5850"/>
              </a:lnSpc>
              <a:buNone/>
            </a:pPr>
            <a:r>
              <a:rPr lang="en-US" sz="5400" b="1" dirty="0">
                <a:solidFill>
                  <a:srgbClr val="FFFFFF"/>
                </a:solidFill>
                <a:latin typeface="Source Sans 3" pitchFamily="34" charset="0"/>
                <a:ea typeface="Source Sans 3" pitchFamily="34" charset="-122"/>
                <a:cs typeface="Source Sans 3" pitchFamily="34" charset="-120"/>
              </a:rPr>
              <a:t>[What the robot does, in five words]</a:t>
            </a:r>
            <a:endParaRPr lang="en-US" sz="5400" dirty="0"/>
          </a:p>
        </p:txBody>
      </p:sp>
      <p:sp>
        <p:nvSpPr>
          <p:cNvPr id="6" name="Placeholder flags"/>
          <p:cNvSpPr/>
          <p:nvPr>
            <p:ph idx="108" type="body"/>
          </p:nvPr>
        </p:nvSpPr>
        <p:spPr>
          <a:xfrm>
            <a:off x="685800" y="930594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[2X SPEED]  ·  [TELEOPERATED]</a:t>
            </a:r>
            <a:endParaRPr lang="en-US" sz="2700" dirty="0"/>
          </a:p>
        </p:txBody>
      </p:sp>
      <p:sp>
        <p:nvSpPr>
          <p:cNvPr id="7" name="Placeholder cta"/>
          <p:cNvSpPr/>
          <p:nvPr>
            <p:ph idx="109" type="body"/>
          </p:nvPr>
        </p:nvSpPr>
        <p:spPr>
          <a:xfrm>
            <a:off x="685800" y="9801271"/>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Full video on YouTube: link in bio</a:t>
            </a:r>
            <a:endParaRPr lang="en-US" sz="2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laceholder eyebrow"/>
          <p:cNvSpPr/>
          <p:nvPr>
            <p:ph idx="104" type="body"/>
          </p:nvPr>
        </p:nvSpPr>
        <p:spPr>
          <a:xfrm>
            <a:off x="685800" y="4200571"/>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a:t>
            </a:r>
            <a:endParaRPr lang="en-US" sz="2700" dirty="0"/>
          </a:p>
        </p:txBody>
      </p:sp>
      <p:sp>
        <p:nvSpPr>
          <p:cNvPr id="3" name="Placeholder display"/>
          <p:cNvSpPr/>
          <p:nvPr>
            <p:ph idx="105" type="title"/>
          </p:nvPr>
        </p:nvSpPr>
        <p:spPr>
          <a:xfrm>
            <a:off x="685800" y="4848240"/>
            <a:ext cx="8267730" cy="1314450"/>
          </a:xfrm>
          <a:prstGeom prst="rect">
            <a:avLst/>
          </a:prstGeom>
          <a:noFill/>
          <a:ln/>
        </p:spPr>
        <p:txBody>
          <a:bodyPr wrap="square" lIns="0" tIns="0" rIns="0" bIns="0" rtlCol="0" anchor="ctr">
            <a:normAutofit/>
          </a:bodyPr>
          <a:lstStyle/>
          <a:p>
            <a:pPr algn="l" indent="0" marL="0">
              <a:lnSpc>
                <a:spcPts val="9900"/>
              </a:lnSpc>
              <a:buNone/>
            </a:pPr>
            <a:r>
              <a:rPr lang="en-US" sz="9600" dirty="0">
                <a:solidFill>
                  <a:srgbClr val="003976"/>
                </a:solidFill>
                <a:latin typeface="Source Sans 3 Black" pitchFamily="34" charset="0"/>
                <a:ea typeface="Source Sans 3 Black" pitchFamily="34" charset="-122"/>
                <a:cs typeface="Source Sans 3 Black" pitchFamily="34" charset="-120"/>
              </a:rPr>
              <a:t>Thank you</a:t>
            </a:r>
            <a:endParaRPr lang="en-US" sz="9600" dirty="0"/>
          </a:p>
        </p:txBody>
      </p:sp>
      <p:sp>
        <p:nvSpPr>
          <p:cNvPr id="4" name="Placeholder support"/>
          <p:cNvSpPr/>
          <p:nvPr>
            <p:ph idx="106" type="body"/>
          </p:nvPr>
        </p:nvSpPr>
        <p:spPr>
          <a:xfrm>
            <a:off x="685800" y="6296101"/>
            <a:ext cx="8267730" cy="196212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[to everyone who came to open lab night on Sept. 23, and to the partners who made it possible]</a:t>
            </a:r>
            <a:endParaRPr lang="en-US" sz="3000" dirty="0"/>
          </a:p>
        </p:txBody>
      </p:sp>
      <p:sp>
        <p:nvSpPr>
          <p:cNvPr id="5" name="Placeholder next"/>
          <p:cNvSpPr/>
          <p:nvPr>
            <p:ph idx="107" type="body"/>
          </p:nvPr>
        </p:nvSpPr>
        <p:spPr>
          <a:xfrm>
            <a:off x="685800" y="8391540"/>
            <a:ext cx="82677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Next: [event, date]</a:t>
            </a:r>
            <a:endParaRPr lang="en-US" sz="27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social template: story 1080 x 1920</dc:title>
  <dc:subject>1080 x 1920 px social tile; eight named layouts with placeholders</dc:subject>
  <dc:creator>Advanced Telerobotics Research Lab, Kent State University</dc:creator>
  <cp:lastModifiedBy>Advanced Telerobotics Research Lab, Kent State University</cp:lastModifiedBy>
  <cp:revision>1</cp:revision>
  <dcterms:created xsi:type="dcterms:W3CDTF">2026-09-29T05:20:28Z</dcterms:created>
  <dcterms:modified xsi:type="dcterms:W3CDTF">2026-09-29T05:20:28Z</dcterms:modified>
</cp:coreProperties>
</file>