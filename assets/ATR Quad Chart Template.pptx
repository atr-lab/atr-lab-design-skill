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5143500" cx="9144000"/>
  <p:notesSz cx="6858000" cy="9144000"/>
  <p:embeddedFontLst>
    <p:embeddedFont>
      <p:font typeface="Lato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UBSMX5bkbkwbZtP3bfPFcxLeT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font" Target="fonts/Lato-boldItalic.fntdata"/><Relationship Id="rId9" Type="http://schemas.openxmlformats.org/officeDocument/2006/relationships/font" Target="fonts/Lato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font" Target="fonts/Lato-regular.fntdata"/><Relationship Id="rId8" Type="http://schemas.openxmlformats.org/officeDocument/2006/relationships/font" Target="fonts/La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" name="Google Shape;1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gif"/><Relationship Id="rId4" Type="http://schemas.openxmlformats.org/officeDocument/2006/relationships/image" Target="../media/image1.jpg"/><Relationship Id="rId5" Type="http://schemas.openxmlformats.org/officeDocument/2006/relationships/image" Target="../media/image4.jpg"/><Relationship Id="rId6" Type="http://schemas.openxmlformats.org/officeDocument/2006/relationships/image" Target="../media/image6.jpg"/><Relationship Id="rId7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youtube.com/watch?time_continue=64&amp;v=ux10tNwYtqk" TargetMode="External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"/>
          <p:cNvGrpSpPr/>
          <p:nvPr/>
        </p:nvGrpSpPr>
        <p:grpSpPr>
          <a:xfrm>
            <a:off x="311700" y="937900"/>
            <a:ext cx="8520600" cy="3809400"/>
            <a:chOff x="311700" y="937900"/>
            <a:chExt cx="8520600" cy="3809400"/>
          </a:xfrm>
        </p:grpSpPr>
        <p:cxnSp>
          <p:nvCxnSpPr>
            <p:cNvPr id="55" name="Google Shape;55;p1"/>
            <p:cNvCxnSpPr/>
            <p:nvPr/>
          </p:nvCxnSpPr>
          <p:spPr>
            <a:xfrm>
              <a:off x="311700" y="2842600"/>
              <a:ext cx="8520600" cy="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" name="Google Shape;56;p1"/>
            <p:cNvCxnSpPr/>
            <p:nvPr/>
          </p:nvCxnSpPr>
          <p:spPr>
            <a:xfrm>
              <a:off x="4572000" y="937900"/>
              <a:ext cx="0" cy="3809400"/>
            </a:xfrm>
            <a:prstGeom prst="straightConnector1">
              <a:avLst/>
            </a:prstGeom>
            <a:noFill/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7" name="Google Shape;57;p1"/>
          <p:cNvSpPr txBox="1"/>
          <p:nvPr>
            <p:ph idx="1" type="body"/>
          </p:nvPr>
        </p:nvSpPr>
        <p:spPr>
          <a:xfrm>
            <a:off x="4626600" y="2846575"/>
            <a:ext cx="42057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Milestones. </a:t>
            </a:r>
            <a:endParaRPr b="1"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8" name="Google Shape;58;p1"/>
          <p:cNvSpPr txBox="1"/>
          <p:nvPr>
            <p:ph idx="1" type="body"/>
          </p:nvPr>
        </p:nvSpPr>
        <p:spPr>
          <a:xfrm>
            <a:off x="311700" y="937900"/>
            <a:ext cx="42057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Description. (font: Lato, 10, bold, black)</a:t>
            </a:r>
            <a:endParaRPr b="1"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59" name="Google Shape;59;p1"/>
          <p:cNvSpPr txBox="1"/>
          <p:nvPr>
            <p:ph idx="1" type="body"/>
          </p:nvPr>
        </p:nvSpPr>
        <p:spPr>
          <a:xfrm>
            <a:off x="311700" y="2844325"/>
            <a:ext cx="42057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Approach. (font: Lato, 10</a:t>
            </a: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bold, black</a:t>
            </a: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)</a:t>
            </a:r>
            <a:endParaRPr b="1"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AutoNum type="arabicPeriod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Complete Course on Locomotion and Planning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AutoNum type="alphaLcPeriod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Refer to Irvin’s Research Doc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AutoNum type="arabicPeriod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Research the following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AutoNum type="alphaLcPeriod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Controls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AutoNum type="alphaLcPeriod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Mechanical Designs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AutoNum type="alphaLcPeriod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Software Designs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AutoNum type="alphaLcPeriod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Software tools and resources</a:t>
            </a:r>
            <a:endParaRPr sz="1000" u="sng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0" name="Google Shape;60;p1"/>
          <p:cNvSpPr txBox="1"/>
          <p:nvPr>
            <p:ph idx="1" type="body"/>
          </p:nvPr>
        </p:nvSpPr>
        <p:spPr>
          <a:xfrm>
            <a:off x="-4444675" y="0"/>
            <a:ext cx="30045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Part I </a:t>
            </a:r>
            <a:endParaRPr b="1"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Open Milestones. 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Further discussion required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" name="Google Shape;61;p1"/>
          <p:cNvSpPr txBox="1"/>
          <p:nvPr>
            <p:ph idx="1" type="body"/>
          </p:nvPr>
        </p:nvSpPr>
        <p:spPr>
          <a:xfrm>
            <a:off x="311700" y="4855075"/>
            <a:ext cx="85206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/>
              <a:t>20</a:t>
            </a:r>
            <a:r>
              <a:rPr lang="en" sz="1000"/>
              <a:t>18</a:t>
            </a:r>
            <a:r>
              <a:rPr lang="en" sz="1000"/>
              <a:t>-0</a:t>
            </a:r>
            <a:r>
              <a:rPr lang="en" sz="1000"/>
              <a:t>4</a:t>
            </a:r>
            <a:r>
              <a:rPr lang="en" sz="1000"/>
              <a:t>-</a:t>
            </a:r>
            <a:r>
              <a:rPr lang="en" sz="1000"/>
              <a:t>02</a:t>
            </a:r>
            <a:r>
              <a:rPr lang="en" sz="1000"/>
              <a:t>			                                                                                                                                                                       		1</a:t>
            </a:r>
            <a:endParaRPr sz="1000"/>
          </a:p>
        </p:txBody>
      </p:sp>
      <p:sp>
        <p:nvSpPr>
          <p:cNvPr id="62" name="Google Shape;62;p1"/>
          <p:cNvSpPr txBox="1"/>
          <p:nvPr>
            <p:ph type="title"/>
          </p:nvPr>
        </p:nvSpPr>
        <p:spPr>
          <a:xfrm>
            <a:off x="1601700" y="234475"/>
            <a:ext cx="723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000"/>
              <a:t>ROS2</a:t>
            </a:r>
            <a:endParaRPr b="1" sz="2000"/>
          </a:p>
        </p:txBody>
      </p:sp>
      <p:cxnSp>
        <p:nvCxnSpPr>
          <p:cNvPr id="63" name="Google Shape;63;p1"/>
          <p:cNvCxnSpPr/>
          <p:nvPr/>
        </p:nvCxnSpPr>
        <p:spPr>
          <a:xfrm>
            <a:off x="134250" y="4815025"/>
            <a:ext cx="8875500" cy="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"/>
          <p:cNvCxnSpPr/>
          <p:nvPr/>
        </p:nvCxnSpPr>
        <p:spPr>
          <a:xfrm>
            <a:off x="1573300" y="176325"/>
            <a:ext cx="7436400" cy="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"/>
          <p:cNvCxnSpPr/>
          <p:nvPr/>
        </p:nvCxnSpPr>
        <p:spPr>
          <a:xfrm>
            <a:off x="134250" y="865325"/>
            <a:ext cx="8875500" cy="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"/>
          <p:cNvSpPr txBox="1"/>
          <p:nvPr>
            <p:ph idx="1" type="body"/>
          </p:nvPr>
        </p:nvSpPr>
        <p:spPr>
          <a:xfrm>
            <a:off x="7631100" y="2844325"/>
            <a:ext cx="12012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Date</a:t>
            </a:r>
            <a:endParaRPr b="1"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Tentative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4626600" y="2620975"/>
            <a:ext cx="42057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 Locomotion</a:t>
            </a:r>
            <a:endParaRPr b="1" i="0" sz="1000" u="sng" cap="none" strike="noStrike">
              <a:solidFill>
                <a:srgbClr val="595959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68" name="Google Shape;68;p1"/>
          <p:cNvPicPr preferRelativeResize="0"/>
          <p:nvPr/>
        </p:nvPicPr>
        <p:blipFill rotWithShape="1">
          <a:blip r:embed="rId3">
            <a:alphaModFix/>
          </a:blip>
          <a:srcRect b="0" l="1380" r="0" t="0"/>
          <a:stretch/>
        </p:blipFill>
        <p:spPr>
          <a:xfrm>
            <a:off x="217150" y="176325"/>
            <a:ext cx="1204671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"/>
          <p:cNvPicPr preferRelativeResize="0"/>
          <p:nvPr/>
        </p:nvPicPr>
        <p:blipFill rotWithShape="1">
          <a:blip r:embed="rId4">
            <a:alphaModFix/>
          </a:blip>
          <a:srcRect b="0" l="5927" r="16480" t="3427"/>
          <a:stretch/>
        </p:blipFill>
        <p:spPr>
          <a:xfrm>
            <a:off x="7394650" y="953072"/>
            <a:ext cx="1505824" cy="168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"/>
          <p:cNvPicPr preferRelativeResize="0"/>
          <p:nvPr/>
        </p:nvPicPr>
        <p:blipFill rotWithShape="1">
          <a:blip r:embed="rId5">
            <a:alphaModFix/>
          </a:blip>
          <a:srcRect b="0" l="31429" r="31050" t="9942"/>
          <a:stretch/>
        </p:blipFill>
        <p:spPr>
          <a:xfrm>
            <a:off x="4878451" y="985038"/>
            <a:ext cx="934206" cy="1681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"/>
          <p:cNvPicPr preferRelativeResize="0"/>
          <p:nvPr/>
        </p:nvPicPr>
        <p:blipFill rotWithShape="1">
          <a:blip r:embed="rId6">
            <a:alphaModFix/>
          </a:blip>
          <a:srcRect b="0" l="25048" r="23060" t="0"/>
          <a:stretch/>
        </p:blipFill>
        <p:spPr>
          <a:xfrm>
            <a:off x="6310375" y="1038225"/>
            <a:ext cx="561071" cy="7208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73725" y="1839063"/>
            <a:ext cx="834393" cy="7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"/>
          <p:cNvSpPr txBox="1"/>
          <p:nvPr>
            <p:ph idx="1" type="body"/>
          </p:nvPr>
        </p:nvSpPr>
        <p:spPr>
          <a:xfrm>
            <a:off x="311700" y="937975"/>
            <a:ext cx="8520600" cy="38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Accomplishments. </a:t>
            </a:r>
            <a:endParaRPr b="1"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Completed half of Locomotion and Robotics Course on EDX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Research outlined doc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Path forward.</a:t>
            </a:r>
            <a:endParaRPr b="1"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Cover underactuated robotic more in depth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Defined mechanical design of robot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Assess software tools and packages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●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Discuss further research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Footnotes.</a:t>
            </a:r>
            <a:endParaRPr b="1"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-"/>
            </a:pPr>
            <a:r>
              <a:rPr lang="en" sz="1000">
                <a:latin typeface="Lato"/>
                <a:ea typeface="Lato"/>
                <a:cs typeface="Lato"/>
                <a:sym typeface="Lato"/>
              </a:rPr>
              <a:t>Boston Dynamics has publicly proven that their humanoids can robustly achieve the tasks of the DRC. But they’ve yet publish or disclose any academic material on their technology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Irvin’s Video of the Week.</a:t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" sz="1000">
                <a:latin typeface="Lato"/>
                <a:ea typeface="Lato"/>
                <a:cs typeface="Lato"/>
                <a:sym typeface="Lato"/>
              </a:rPr>
              <a:t>Comments</a:t>
            </a:r>
            <a:r>
              <a:rPr lang="en" sz="1000">
                <a:latin typeface="Lato"/>
                <a:ea typeface="Lato"/>
                <a:cs typeface="Lato"/>
                <a:sym typeface="Lato"/>
              </a:rPr>
              <a:t>: Didn’t we build this before??? We need to discuss PR strategy. See other videos in YouTube Channel</a:t>
            </a:r>
            <a:endParaRPr sz="1000">
              <a:latin typeface="Lato"/>
              <a:ea typeface="Lato"/>
              <a:cs typeface="Lato"/>
              <a:sym typeface="Lato"/>
            </a:endParaRPr>
          </a:p>
          <a:p>
            <a:pPr indent="-2921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Lato"/>
              <a:buChar char="-"/>
            </a:pPr>
            <a:r>
              <a:rPr lang="en" sz="10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3"/>
              </a:rPr>
              <a:t>https://www.youtube.com/watch?time_continue=64&amp;v=ux10tNwYtqk</a:t>
            </a:r>
            <a:endParaRPr sz="10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78" name="Google Shape;78;p2"/>
          <p:cNvSpPr txBox="1"/>
          <p:nvPr>
            <p:ph idx="1" type="body"/>
          </p:nvPr>
        </p:nvSpPr>
        <p:spPr>
          <a:xfrm>
            <a:off x="311700" y="4855075"/>
            <a:ext cx="8520600" cy="22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1000"/>
              <a:t>2018-04-02			                                                                                                                                                                       		2</a:t>
            </a:r>
            <a:endParaRPr sz="1000"/>
          </a:p>
        </p:txBody>
      </p:sp>
      <p:sp>
        <p:nvSpPr>
          <p:cNvPr id="79" name="Google Shape;79;p2"/>
          <p:cNvSpPr txBox="1"/>
          <p:nvPr>
            <p:ph type="title"/>
          </p:nvPr>
        </p:nvSpPr>
        <p:spPr>
          <a:xfrm>
            <a:off x="1601700" y="234475"/>
            <a:ext cx="723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 sz="2000"/>
              <a:t>Summary</a:t>
            </a:r>
            <a:endParaRPr b="1" sz="2000"/>
          </a:p>
        </p:txBody>
      </p:sp>
      <p:cxnSp>
        <p:nvCxnSpPr>
          <p:cNvPr id="80" name="Google Shape;80;p2"/>
          <p:cNvCxnSpPr/>
          <p:nvPr/>
        </p:nvCxnSpPr>
        <p:spPr>
          <a:xfrm>
            <a:off x="134250" y="4815025"/>
            <a:ext cx="8875500" cy="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2"/>
          <p:cNvCxnSpPr/>
          <p:nvPr/>
        </p:nvCxnSpPr>
        <p:spPr>
          <a:xfrm>
            <a:off x="1573300" y="176325"/>
            <a:ext cx="7436400" cy="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2"/>
          <p:cNvCxnSpPr/>
          <p:nvPr/>
        </p:nvCxnSpPr>
        <p:spPr>
          <a:xfrm>
            <a:off x="134250" y="865325"/>
            <a:ext cx="8875500" cy="0"/>
          </a:xfrm>
          <a:prstGeom prst="straightConnector1">
            <a:avLst/>
          </a:prstGeom>
          <a:noFill/>
          <a:ln cap="flat" cmpd="sng" w="38100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3" name="Google Shape;83;p2"/>
          <p:cNvPicPr preferRelativeResize="0"/>
          <p:nvPr/>
        </p:nvPicPr>
        <p:blipFill rotWithShape="1">
          <a:blip r:embed="rId4">
            <a:alphaModFix/>
          </a:blip>
          <a:srcRect b="0" l="1380" r="0" t="0"/>
          <a:stretch/>
        </p:blipFill>
        <p:spPr>
          <a:xfrm>
            <a:off x="217150" y="176325"/>
            <a:ext cx="1204671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